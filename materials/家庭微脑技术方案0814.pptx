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2.xml" ContentType="application/vnd.openxmlformats-officedocument.presentationml.notesSlid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2"/>
  </p:sldMasterIdLst>
  <p:notesMasterIdLst>
    <p:notesMasterId r:id="rId12"/>
  </p:notesMasterIdLst>
  <p:sldIdLst>
    <p:sldId id="268" r:id="rId3"/>
    <p:sldId id="280" r:id="rId4"/>
    <p:sldId id="281" r:id="rId5"/>
    <p:sldId id="286" r:id="rId6"/>
    <p:sldId id="289" r:id="rId7"/>
    <p:sldId id="292" r:id="rId8"/>
    <p:sldId id="263" r:id="rId9"/>
    <p:sldId id="265" r:id="rId10"/>
    <p:sldId id="267" r:id="rId11"/>
  </p:sldIdLst>
  <p:sldSz cx="12192000" cy="6858000"/>
  <p:notesSz cx="6858000" cy="12192000"/>
  <p:custDataLst>
    <p:tags r:id="rId13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F6FF"/>
    <a:srgbClr val="0E4CBA"/>
    <a:srgbClr val="08A1A7"/>
    <a:srgbClr val="EB8F00"/>
    <a:srgbClr val="93979B"/>
    <a:srgbClr val="F1F5FD"/>
    <a:srgbClr val="0635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33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gs" Target="tags/tag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/>
          </p:nvPr>
        </p:nvSpPr>
        <p:spPr>
          <a:xfrm>
            <a:off x="662016" y="5242000"/>
            <a:ext cx="5296132" cy="4288909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/>
          </p:nvPr>
        </p:nvSpPr>
        <p:spPr>
          <a:xfrm>
            <a:off x="662016" y="5242000"/>
            <a:ext cx="5296132" cy="4288909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06400" y="4767263"/>
            <a:ext cx="1896533" cy="273844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777067" y="4767263"/>
            <a:ext cx="2573867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825067" y="4767263"/>
            <a:ext cx="1896533" cy="273844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06400" y="4767263"/>
            <a:ext cx="1896533" cy="273844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777067" y="4767263"/>
            <a:ext cx="2573867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825067" y="4767263"/>
            <a:ext cx="1896533" cy="273844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21" Type="http://schemas.openxmlformats.org/officeDocument/2006/relationships/image" Target="../media/image19.sv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slideLayout" Target="../slideLayouts/slideLayout4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tags" Target="../tags/tag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tags" Target="../tags/tag15.xml"/><Relationship Id="rId18" Type="http://schemas.openxmlformats.org/officeDocument/2006/relationships/tags" Target="../tags/tag20.xml"/><Relationship Id="rId26" Type="http://schemas.openxmlformats.org/officeDocument/2006/relationships/image" Target="../media/image24.png"/><Relationship Id="rId3" Type="http://schemas.openxmlformats.org/officeDocument/2006/relationships/tags" Target="../tags/tag5.xml"/><Relationship Id="rId21" Type="http://schemas.openxmlformats.org/officeDocument/2006/relationships/tags" Target="../tags/tag23.xml"/><Relationship Id="rId7" Type="http://schemas.openxmlformats.org/officeDocument/2006/relationships/tags" Target="../tags/tag9.xml"/><Relationship Id="rId12" Type="http://schemas.openxmlformats.org/officeDocument/2006/relationships/tags" Target="../tags/tag14.xml"/><Relationship Id="rId17" Type="http://schemas.openxmlformats.org/officeDocument/2006/relationships/tags" Target="../tags/tag19.xml"/><Relationship Id="rId25" Type="http://schemas.openxmlformats.org/officeDocument/2006/relationships/notesSlide" Target="../notesSlides/notesSlide2.xml"/><Relationship Id="rId2" Type="http://schemas.openxmlformats.org/officeDocument/2006/relationships/tags" Target="../tags/tag4.xml"/><Relationship Id="rId16" Type="http://schemas.openxmlformats.org/officeDocument/2006/relationships/tags" Target="../tags/tag18.xml"/><Relationship Id="rId20" Type="http://schemas.openxmlformats.org/officeDocument/2006/relationships/tags" Target="../tags/tag22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24" Type="http://schemas.openxmlformats.org/officeDocument/2006/relationships/slideLayout" Target="../slideLayouts/slideLayout2.xml"/><Relationship Id="rId5" Type="http://schemas.openxmlformats.org/officeDocument/2006/relationships/tags" Target="../tags/tag7.xml"/><Relationship Id="rId15" Type="http://schemas.openxmlformats.org/officeDocument/2006/relationships/tags" Target="../tags/tag17.xml"/><Relationship Id="rId23" Type="http://schemas.openxmlformats.org/officeDocument/2006/relationships/tags" Target="../tags/tag25.xml"/><Relationship Id="rId10" Type="http://schemas.openxmlformats.org/officeDocument/2006/relationships/tags" Target="../tags/tag12.xml"/><Relationship Id="rId19" Type="http://schemas.openxmlformats.org/officeDocument/2006/relationships/tags" Target="../tags/tag21.xml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tags" Target="../tags/tag16.xml"/><Relationship Id="rId22" Type="http://schemas.openxmlformats.org/officeDocument/2006/relationships/tags" Target="../tags/tag24.xml"/><Relationship Id="rId27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33.xml"/><Relationship Id="rId3" Type="http://schemas.openxmlformats.org/officeDocument/2006/relationships/tags" Target="../tags/tag28.xml"/><Relationship Id="rId7" Type="http://schemas.openxmlformats.org/officeDocument/2006/relationships/tags" Target="../tags/tag32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10" Type="http://schemas.openxmlformats.org/officeDocument/2006/relationships/slideLayout" Target="../slideLayouts/slideLayout1.xml"/><Relationship Id="rId4" Type="http://schemas.openxmlformats.org/officeDocument/2006/relationships/tags" Target="../tags/tag29.xml"/><Relationship Id="rId9" Type="http://schemas.openxmlformats.org/officeDocument/2006/relationships/tags" Target="../tags/tag3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2.svg"/><Relationship Id="rId18" Type="http://schemas.openxmlformats.org/officeDocument/2006/relationships/image" Target="../media/image31.png"/><Relationship Id="rId3" Type="http://schemas.openxmlformats.org/officeDocument/2006/relationships/tags" Target="../tags/tag37.xml"/><Relationship Id="rId7" Type="http://schemas.openxmlformats.org/officeDocument/2006/relationships/slideLayout" Target="../slideLayouts/slideLayout1.xml"/><Relationship Id="rId12" Type="http://schemas.openxmlformats.org/officeDocument/2006/relationships/image" Target="../media/image28.png"/><Relationship Id="rId17" Type="http://schemas.openxmlformats.org/officeDocument/2006/relationships/image" Target="../media/image36.svg"/><Relationship Id="rId2" Type="http://schemas.openxmlformats.org/officeDocument/2006/relationships/tags" Target="../tags/tag36.xml"/><Relationship Id="rId16" Type="http://schemas.openxmlformats.org/officeDocument/2006/relationships/image" Target="../media/image30.png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image" Target="../media/image30.svg"/><Relationship Id="rId5" Type="http://schemas.openxmlformats.org/officeDocument/2006/relationships/tags" Target="../tags/tag39.xml"/><Relationship Id="rId15" Type="http://schemas.openxmlformats.org/officeDocument/2006/relationships/image" Target="../media/image34.svg"/><Relationship Id="rId10" Type="http://schemas.openxmlformats.org/officeDocument/2006/relationships/image" Target="../media/image27.png"/><Relationship Id="rId19" Type="http://schemas.openxmlformats.org/officeDocument/2006/relationships/image" Target="../media/image38.svg"/><Relationship Id="rId4" Type="http://schemas.openxmlformats.org/officeDocument/2006/relationships/tags" Target="../tags/tag38.xml"/><Relationship Id="rId9" Type="http://schemas.openxmlformats.org/officeDocument/2006/relationships/image" Target="../media/image28.svg"/><Relationship Id="rId14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48.xml"/><Relationship Id="rId13" Type="http://schemas.openxmlformats.org/officeDocument/2006/relationships/tags" Target="../tags/tag53.xml"/><Relationship Id="rId18" Type="http://schemas.openxmlformats.org/officeDocument/2006/relationships/tags" Target="../tags/tag58.xml"/><Relationship Id="rId26" Type="http://schemas.openxmlformats.org/officeDocument/2006/relationships/tags" Target="../tags/tag66.xml"/><Relationship Id="rId3" Type="http://schemas.openxmlformats.org/officeDocument/2006/relationships/tags" Target="../tags/tag43.xml"/><Relationship Id="rId21" Type="http://schemas.openxmlformats.org/officeDocument/2006/relationships/tags" Target="../tags/tag61.xml"/><Relationship Id="rId7" Type="http://schemas.openxmlformats.org/officeDocument/2006/relationships/tags" Target="../tags/tag47.xml"/><Relationship Id="rId12" Type="http://schemas.openxmlformats.org/officeDocument/2006/relationships/tags" Target="../tags/tag52.xml"/><Relationship Id="rId17" Type="http://schemas.openxmlformats.org/officeDocument/2006/relationships/tags" Target="../tags/tag57.xml"/><Relationship Id="rId25" Type="http://schemas.openxmlformats.org/officeDocument/2006/relationships/tags" Target="../tags/tag65.xml"/><Relationship Id="rId2" Type="http://schemas.openxmlformats.org/officeDocument/2006/relationships/tags" Target="../tags/tag42.xml"/><Relationship Id="rId16" Type="http://schemas.openxmlformats.org/officeDocument/2006/relationships/tags" Target="../tags/tag56.xml"/><Relationship Id="rId20" Type="http://schemas.openxmlformats.org/officeDocument/2006/relationships/tags" Target="../tags/tag60.xml"/><Relationship Id="rId1" Type="http://schemas.openxmlformats.org/officeDocument/2006/relationships/tags" Target="../tags/tag41.xml"/><Relationship Id="rId6" Type="http://schemas.openxmlformats.org/officeDocument/2006/relationships/tags" Target="../tags/tag46.xml"/><Relationship Id="rId11" Type="http://schemas.openxmlformats.org/officeDocument/2006/relationships/tags" Target="../tags/tag51.xml"/><Relationship Id="rId24" Type="http://schemas.openxmlformats.org/officeDocument/2006/relationships/tags" Target="../tags/tag64.xml"/><Relationship Id="rId5" Type="http://schemas.openxmlformats.org/officeDocument/2006/relationships/tags" Target="../tags/tag45.xml"/><Relationship Id="rId15" Type="http://schemas.openxmlformats.org/officeDocument/2006/relationships/tags" Target="../tags/tag55.xml"/><Relationship Id="rId23" Type="http://schemas.openxmlformats.org/officeDocument/2006/relationships/tags" Target="../tags/tag63.xml"/><Relationship Id="rId28" Type="http://schemas.openxmlformats.org/officeDocument/2006/relationships/slideLayout" Target="../slideLayouts/slideLayout1.xml"/><Relationship Id="rId10" Type="http://schemas.openxmlformats.org/officeDocument/2006/relationships/tags" Target="../tags/tag50.xml"/><Relationship Id="rId19" Type="http://schemas.openxmlformats.org/officeDocument/2006/relationships/tags" Target="../tags/tag59.xml"/><Relationship Id="rId4" Type="http://schemas.openxmlformats.org/officeDocument/2006/relationships/tags" Target="../tags/tag44.xml"/><Relationship Id="rId9" Type="http://schemas.openxmlformats.org/officeDocument/2006/relationships/tags" Target="../tags/tag49.xml"/><Relationship Id="rId14" Type="http://schemas.openxmlformats.org/officeDocument/2006/relationships/tags" Target="../tags/tag54.xml"/><Relationship Id="rId22" Type="http://schemas.openxmlformats.org/officeDocument/2006/relationships/tags" Target="../tags/tag62.xml"/><Relationship Id="rId27" Type="http://schemas.openxmlformats.org/officeDocument/2006/relationships/tags" Target="../tags/tag6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linear-gradient(160deg, #1E3A8A 0%, #0F172A 100%)', padding: '20px 60px 20px 60px', flexDirection: 'column' }}&gt;&#10;    {/* Top spacer */}&#10;    &lt;Box style={{ height: 40 }} /&gt;&#10;    {/* Center content */}&#10;    &lt;Box style={{ flex: 1, alignItems: 'center', justifyContent: 'center', gap: 24 }}&gt;&#10;        {/* Giant number */}&#10;        &lt;Box style={{ flexDirection: 'row', alignItems: 'baseline', gap: 8 }}&gt;&#10;            &lt;Text style={{ fontSize: 96, fontWeight: 'bold', color: '#F59E0B', fontFamily: 'Space Grotesk' }}&gt;6&lt;/Text&gt;&#10;            &lt;Text style={{ fontSize: 36, fontWeight: 'bold', color: '#FFFFFF' }}&gt;大技术方向&lt;/Text&gt;&#10;        &lt;/Box&gt;&#10;        {/* Subtitle */}&#10;        &lt;Text style={{ fontSize: 22, color: 'rgba(255,255,255,0.8)', textAlign: 'center', marginTop: 8 }}&gt;&#10;            家庭微脑 — 人工智能+数字家庭基础设施层能力&#10;        &lt;/Text&gt;&#10;        {/* Six direction tags */}&#10;        &lt;Box style={{ flexDirection: 'row', gap: 10, marginTop: 12, flexWrap: 'wrap', justifyContent: 'center' }}&gt;&#10;            &lt;Box style={{ background: 'rgba(6,182,212,0.15)', borderRadius: 8, padding: '8px 16px', border: '1px solid rgba(6,182,212,0.4)' }}&gt;&#10;                &lt;Text style={{ fontSize: 13, color: '#06B6D4', fontWeight: 'bold' }}&gt;云边端协同算力&lt;/Text&gt;&#10;            &lt;/Box&gt;&#10;            &lt;Box style={{ background: 'rgba(6,182,212,0.15)', borderRadius: 8, padding: '8px 16px', border: '1px solid rgba(6,182,212,0.4)' }}&gt;&#10;                &lt;Text style={{ fontSize: 13, color: '#06B6D4', fontWeight: 'bold' }}&gt;软路由+AI+智控&lt;/Text&gt;&#10;            &lt;/Box&gt;&#10;            &lt;Box style={{ background: 'rgba(6,182,212,0.15)', borderRadius: 8, padding: '8px 16px', border: '1px solid rgba(6,182,212,0.4)' }}&gt;&#10;                &lt;Text style={{ fontSize: 13, color: '#06B6D4', fontWeight: 'bold' }}&gt;多Agent协作&lt;/Text&gt;&#10;            &lt;/Box&gt;&#10;            &lt;Box style={{ background: 'rgba(245,158,11,0.15)', borderRadius: 8, padding: '8px 16px', border: '1px solid rgba(245,158,11,0.4)' }}&gt;&#10;                &lt;Text style={{ fontSize: 13, color: '#F59E0B', fontWeight: 'bold' }}&gt;信创全栈国产化&lt;/Text&gt;&#10;            &lt;/Box&gt;&#10;            &lt;Box style={{ background: 'rgba(245,158,11,0.15)', borderRadius: 8, padding: '8px 16px', border: '1px solid rgba(245,158,11,0.4)' }}&gt;&#10;                &lt;Text style={{ fontSize: 13, color: '#F59E0B', fontWeight: 'bold' }}&gt;可信数据体系&lt;/Text&gt;&#10;            &lt;/Box&gt;&#10;            &lt;Box style={{ background: 'rgba(16,185,129,0.15)', borderRadius: 8, padding: '8px 16px', border: '1px solid rgba(16,185,129,0.4)' }}&gt;&#10;                &lt;Text style={{ fontSize: 13, color: '#10B981', fontWeight: 'bold' }}&gt;本地离线语音&lt;/Text&gt;&#10;            &lt;/Box&gt;&#10;        &lt;/Box&gt;&#10;        {/* Core value statement */}&#10;        &lt;Box style={{ marginTop: 20, alignItems: 'center' }}&gt;&#10;            &lt;Text style={{ fontSize: 18, color: 'rgba(255,255,255,0.7)', textAlign: 'center', lineHeight: 1.6 }}&gt;&#10;                以嵌入式软路由为网络底座，本地大模型为智能引擎，全屋智能为控制终端&#10;            &lt;/Text&gt;&#10;            &lt;Text style={{ fontSize: 18, color: 'rgba(255,255,255,0.7)', textAlign: 'center', lineHeight: 1.6, marginTop: 4 }}&gt;&#10;                数据不出域 · 断网全功能 · 国密合规 · 全栈自主可控&#10;            &lt;/Text&gt;&#10;        &lt;/Box&gt;&#10;        {/* Key metrics row */}&#10;        &lt;Box style={{ flexDirection: 'row', gap: 32, marginTop: 24 }}&gt;&#10;            &lt;Box style={{ alignItems: 'center' }}&gt;&#10;                &lt;Text style={{ fontSize: 36, fontWeight: 'bold', color: '#F59E0B', fontFamily: 'Space Grotesk' }}&gt;&amp;lt;50ms&lt;/Text&gt;&#10;                &lt;Text style={{ fontSize: 13, color: 'rgba(255,255,255,0.5)', marginTop: 4 }}&gt;边缘响应延迟&lt;/Text&gt;&#10;            &lt;/Box&gt;&#10;            &lt;Box style={{ alignItems: 'center' }}&gt;&#10;                &lt;Text style={{ fontSize: 36, fontWeight: 'bold', color: '#06B6D4', fontFamily: 'Space Grotesk' }}&gt;100%&lt;/Text&gt;&#10;                &lt;Text style={{ fontSize: 13, color: 'rgba(255,255,255,0.5)', marginTop: 4 }}&gt;本地数据不出域&lt;/Text&gt;&#10;            &lt;/Box&gt;&#10;            &lt;Box style={{ alignItems: 'center' }}&gt;&#10;                &lt;Text style={{ fontSize: 36, fontWeight: 'bold', color: '#10B981', fontFamily: 'Space Grotesk' }}&gt;0&lt;/Text&gt;&#10;                &lt;Text style={{ fontSize: 13, color: 'rgba(255,255,255,0.5)', marginTop: 4 }}&gt;软件授权费用&lt;/Text&gt;&#10;            &lt;/Box&gt;&#10;        &lt;/Box&gt;&#10;    &lt;/Box&gt;&#10;    {/* Footer */}&#10;    &lt;Box style={{ height: 40, flexDirection: 'row', justifyContent: 'space-between', alignItems: 'center', borderTop: '1px solid rgba(255,255,255,0.1)', paddingTop: 8 }}&gt;&#10;        &lt;Text style={{ fontSize: 14, color: 'rgba(255,255,255,0.4)' }}&gt;家庭微脑技术方案 · V2026.07&lt;/Text&gt;&#10;        &lt;Text style={{ fontSize: 14, color: 'rgba(255,255,255,0.4)' }}&gt;13 / 13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矩形 19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E3A8A"/>
              </a:gs>
              <a:gs pos="100000">
                <a:srgbClr val="0F172A"/>
              </a:gs>
            </a:gsLst>
            <a:lin ang="4200000" scaled="1"/>
          </a:gradFill>
        </p:spPr>
        <p:txBody>
          <a:bodyPr/>
          <a:lstStyle/>
          <a:p>
            <a:endParaRPr/>
          </a:p>
        </p:txBody>
      </p:sp>
      <p:sp>
        <p:nvSpPr>
          <p:cNvPr id="199" name="文本框 198" descr="{&quot;isTemplate&quot;:true,&quot;type&quot;:&quot;text&quot;}"/>
          <p:cNvSpPr txBox="1"/>
          <p:nvPr/>
        </p:nvSpPr>
        <p:spPr>
          <a:xfrm>
            <a:off x="2376805" y="1906905"/>
            <a:ext cx="7438390" cy="7874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altLang="en-US" sz="4400" b="1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一套底座，统一承载六项能力</a:t>
            </a:r>
          </a:p>
        </p:txBody>
      </p:sp>
      <p:sp>
        <p:nvSpPr>
          <p:cNvPr id="213" name="文本框 212" descr="{&quot;isTemplate&quot;:true,&quot;type&quot;:&quot;text&quot;}"/>
          <p:cNvSpPr txBox="1"/>
          <p:nvPr/>
        </p:nvSpPr>
        <p:spPr>
          <a:xfrm>
            <a:off x="2777490" y="4274820"/>
            <a:ext cx="6564630" cy="232144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60000"/>
              </a:lnSpc>
            </a:pPr>
            <a:r>
              <a:rPr lang="zh-CN" sz="2000" b="1" dirty="0" smtClean="0">
                <a:solidFill>
                  <a:srgbClr val="FFFFFF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以软</a:t>
            </a:r>
            <a:r>
              <a:rPr lang="zh-CN" sz="2000" b="1" dirty="0">
                <a:solidFill>
                  <a:srgbClr val="FFFFFF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路由为网络底座，本地大模型为智能引擎，全屋智能为控制终端</a:t>
            </a:r>
            <a:endParaRPr sz="3200" b="1" dirty="0"/>
          </a:p>
        </p:txBody>
      </p:sp>
      <p:sp>
        <p:nvSpPr>
          <p:cNvPr id="214" name="文本框 213" descr="{&quot;isTemplate&quot;:true,&quot;type&quot;:&quot;text&quot;}"/>
          <p:cNvSpPr txBox="1"/>
          <p:nvPr/>
        </p:nvSpPr>
        <p:spPr>
          <a:xfrm>
            <a:off x="3049270" y="5120005"/>
            <a:ext cx="6093460" cy="58102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60000"/>
              </a:lnSpc>
            </a:pPr>
            <a:r>
              <a:rPr lang="zh-CN" sz="2000" b="1" dirty="0">
                <a:solidFill>
                  <a:srgbClr val="FFFFFF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数据不出域</a:t>
            </a:r>
            <a:r>
              <a:rPr lang="en-US" sz="2000" b="1" dirty="0">
                <a:solidFill>
                  <a:srgbClr val="FFFFFF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2000" b="1" dirty="0">
                <a:solidFill>
                  <a:srgbClr val="FFFFFF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断网全功能</a:t>
            </a:r>
            <a:r>
              <a:rPr lang="en-US" sz="2000" b="1" dirty="0">
                <a:solidFill>
                  <a:srgbClr val="FFFFFF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2000" b="1" dirty="0">
                <a:solidFill>
                  <a:srgbClr val="FFFFFF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国密合规</a:t>
            </a:r>
            <a:r>
              <a:rPr lang="en-US" sz="2000" b="1" dirty="0">
                <a:solidFill>
                  <a:srgbClr val="FFFFFF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2000" b="1" dirty="0" smtClean="0">
                <a:solidFill>
                  <a:srgbClr val="FFFFFF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·</a:t>
            </a:r>
            <a:r>
              <a:rPr lang="zh-CN" altLang="en-US" sz="2000" b="1" dirty="0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全栈自主可控</a:t>
            </a:r>
            <a:endParaRPr lang="zh-CN" altLang="en-US" sz="3200" b="1" dirty="0"/>
          </a:p>
        </p:txBody>
      </p:sp>
      <p:sp>
        <p:nvSpPr>
          <p:cNvPr id="29" name="文本框 28" descr="{&quot;isTemplate&quot;:true,&quot;type&quot;:&quot;text&quot;}"/>
          <p:cNvSpPr txBox="1"/>
          <p:nvPr/>
        </p:nvSpPr>
        <p:spPr>
          <a:xfrm>
            <a:off x="250825" y="172720"/>
            <a:ext cx="1944370" cy="756285"/>
          </a:xfrm>
          <a:prstGeom prst="rect">
            <a:avLst/>
          </a:prstGeom>
        </p:spPr>
        <p:txBody>
          <a:bodyPr wrap="none" lIns="0" tIns="0" rIns="0" bIns="0"/>
          <a:lstStyle/>
          <a:p>
            <a:pPr algn="l">
              <a:lnSpc>
                <a:spcPct val="120000"/>
              </a:lnSpc>
            </a:pPr>
            <a:r>
              <a:rPr lang="zh-CN" altLang="zh-CN" sz="3600" b="1" dirty="0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</a:rPr>
              <a:t>家庭微</a:t>
            </a:r>
            <a:r>
              <a:rPr lang="zh-CN" altLang="zh-CN" sz="3600" b="1" dirty="0" smtClean="0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</a:rPr>
              <a:t>脑</a:t>
            </a:r>
            <a:endParaRPr sz="1200" dirty="0"/>
          </a:p>
        </p:txBody>
      </p:sp>
      <p:sp>
        <p:nvSpPr>
          <p:cNvPr id="3" name="文本框 2"/>
          <p:cNvSpPr txBox="1"/>
          <p:nvPr/>
        </p:nvSpPr>
        <p:spPr>
          <a:xfrm>
            <a:off x="180340" y="852170"/>
            <a:ext cx="887603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algn="l">
              <a:lnSpc>
                <a:spcPct val="120000"/>
              </a:lnSpc>
              <a:buClrTx/>
              <a:buSzTx/>
              <a:buFontTx/>
            </a:pPr>
            <a:r>
              <a:rPr lang="zh-CN" sz="2000" b="1" i="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让家庭具备“本地感知、本地决策、本地执行、云端增强”的智能基础能力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295593" y="3154045"/>
            <a:ext cx="11600815" cy="539750"/>
            <a:chOff x="589" y="3962"/>
            <a:chExt cx="17066" cy="794"/>
          </a:xfrm>
        </p:grpSpPr>
        <p:sp>
          <p:nvSpPr>
            <p:cNvPr id="22" name="圆角矩形 21"/>
            <p:cNvSpPr/>
            <p:nvPr/>
          </p:nvSpPr>
          <p:spPr>
            <a:xfrm>
              <a:off x="589" y="3962"/>
              <a:ext cx="2625" cy="794"/>
            </a:xfrm>
            <a:prstGeom prst="roundRect">
              <a:avLst>
                <a:gd name="adj" fmla="val 8571"/>
              </a:avLst>
            </a:prstGeom>
            <a:solidFill>
              <a:srgbClr val="EFF6FF"/>
            </a:solidFill>
            <a:ln w="25400">
              <a:solidFill>
                <a:srgbClr val="1E3A8A"/>
              </a:solidFill>
              <a:prstDash val="solid"/>
            </a:ln>
          </p:spPr>
          <p:txBody>
            <a:bodyPr/>
            <a:lstStyle/>
            <a:p>
              <a:endParaRPr sz="1600"/>
            </a:p>
          </p:txBody>
        </p:sp>
        <p:sp>
          <p:nvSpPr>
            <p:cNvPr id="25" name="文本框 24" descr="{&quot;isTemplate&quot;:true,&quot;type&quot;:&quot;text&quot;}"/>
            <p:cNvSpPr txBox="1"/>
            <p:nvPr/>
          </p:nvSpPr>
          <p:spPr>
            <a:xfrm>
              <a:off x="824" y="4160"/>
              <a:ext cx="2154" cy="397"/>
            </a:xfrm>
            <a:prstGeom prst="rect">
              <a:avLst/>
            </a:prstGeom>
          </p:spPr>
          <p:txBody>
            <a:bodyPr wrap="none" lIns="0" tIns="0" rIns="0" bIns="0"/>
            <a:lstStyle/>
            <a:p>
              <a:pPr algn="ctr">
                <a:lnSpc>
                  <a:spcPct val="100000"/>
                </a:lnSpc>
              </a:pPr>
              <a:r>
                <a:rPr lang="zh-CN" altLang="en-US" sz="1600" b="1">
                  <a:solidFill>
                    <a:srgbClr val="1E3A8A"/>
                  </a:solidFill>
                  <a:latin typeface="微软雅黑" panose="020B0503020204020204" charset="-122"/>
                  <a:ea typeface="微软雅黑" panose="020B0503020204020204" charset="-122"/>
                </a:rPr>
                <a:t>云边端协同算力</a:t>
              </a:r>
            </a:p>
            <a:p>
              <a:pPr algn="ctr">
                <a:lnSpc>
                  <a:spcPct val="100000"/>
                </a:lnSpc>
              </a:pPr>
              <a:endParaRPr lang="zh-CN" altLang="en-US" sz="16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0" name="圆角矩形 29"/>
            <p:cNvSpPr/>
            <p:nvPr/>
          </p:nvSpPr>
          <p:spPr>
            <a:xfrm>
              <a:off x="3544" y="3962"/>
              <a:ext cx="2655" cy="794"/>
            </a:xfrm>
            <a:prstGeom prst="roundRect">
              <a:avLst>
                <a:gd name="adj" fmla="val 8571"/>
              </a:avLst>
            </a:prstGeom>
            <a:solidFill>
              <a:srgbClr val="ECFEFF"/>
            </a:solidFill>
            <a:ln w="25400">
              <a:solidFill>
                <a:srgbClr val="06B6D4"/>
              </a:solidFill>
              <a:prstDash val="solid"/>
            </a:ln>
          </p:spPr>
          <p:txBody>
            <a:bodyPr/>
            <a:lstStyle/>
            <a:p>
              <a:endParaRPr sz="1600"/>
            </a:p>
          </p:txBody>
        </p:sp>
        <p:sp>
          <p:nvSpPr>
            <p:cNvPr id="33" name="文本框 32" descr="{&quot;isTemplate&quot;:true,&quot;type&quot;:&quot;text&quot;}"/>
            <p:cNvSpPr txBox="1"/>
            <p:nvPr/>
          </p:nvSpPr>
          <p:spPr>
            <a:xfrm>
              <a:off x="3794" y="4160"/>
              <a:ext cx="2154" cy="397"/>
            </a:xfrm>
            <a:prstGeom prst="rect">
              <a:avLst/>
            </a:prstGeom>
          </p:spPr>
          <p:txBody>
            <a:bodyPr wrap="none" lIns="0" tIns="0" rIns="0" bIns="0"/>
            <a:lstStyle/>
            <a:p>
              <a:pPr algn="ctr">
                <a:lnSpc>
                  <a:spcPct val="100000"/>
                </a:lnSpc>
              </a:pPr>
              <a:r>
                <a:rPr lang="zh-CN" altLang="en-US" sz="1600" b="1">
                  <a:solidFill>
                    <a:srgbClr val="0891B2"/>
                  </a:solidFill>
                  <a:latin typeface="微软雅黑" panose="020B0503020204020204" charset="-122"/>
                  <a:ea typeface="微软雅黑" panose="020B0503020204020204" charset="-122"/>
                </a:rPr>
                <a:t>软路由+</a:t>
              </a:r>
              <a:r>
                <a:rPr lang="en-US" altLang="zh-CN" sz="1600" b="1">
                  <a:solidFill>
                    <a:srgbClr val="0891B2"/>
                  </a:solidFill>
                  <a:latin typeface="微软雅黑" panose="020B0503020204020204" charset="-122"/>
                  <a:ea typeface="微软雅黑" panose="020B0503020204020204" charset="-122"/>
                </a:rPr>
                <a:t>AI</a:t>
              </a:r>
              <a:r>
                <a:rPr lang="zh-CN" altLang="en-US" sz="1600" b="1">
                  <a:solidFill>
                    <a:srgbClr val="0891B2"/>
                  </a:solidFill>
                  <a:latin typeface="微软雅黑" panose="020B0503020204020204" charset="-122"/>
                  <a:ea typeface="微软雅黑" panose="020B0503020204020204" charset="-122"/>
                </a:rPr>
                <a:t>智控</a:t>
              </a:r>
            </a:p>
            <a:p>
              <a:pPr algn="ctr">
                <a:lnSpc>
                  <a:spcPct val="100000"/>
                </a:lnSpc>
              </a:pPr>
              <a:endParaRPr lang="zh-CN" altLang="en-US" sz="1600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8" name="圆角矩形 37"/>
            <p:cNvSpPr/>
            <p:nvPr/>
          </p:nvSpPr>
          <p:spPr>
            <a:xfrm>
              <a:off x="6559" y="3962"/>
              <a:ext cx="2515" cy="794"/>
            </a:xfrm>
            <a:prstGeom prst="roundRect">
              <a:avLst>
                <a:gd name="adj" fmla="val 8571"/>
              </a:avLst>
            </a:prstGeom>
            <a:solidFill>
              <a:srgbClr val="FFFBEB"/>
            </a:solidFill>
            <a:ln w="25400">
              <a:solidFill>
                <a:srgbClr val="F59E0B"/>
              </a:solidFill>
              <a:prstDash val="solid"/>
            </a:ln>
          </p:spPr>
          <p:txBody>
            <a:bodyPr/>
            <a:lstStyle/>
            <a:p>
              <a:endParaRPr sz="1600"/>
            </a:p>
          </p:txBody>
        </p:sp>
        <p:sp>
          <p:nvSpPr>
            <p:cNvPr id="41" name="文本框 40" descr="{&quot;isTemplate&quot;:true,&quot;type&quot;:&quot;text&quot;}"/>
            <p:cNvSpPr txBox="1"/>
            <p:nvPr/>
          </p:nvSpPr>
          <p:spPr>
            <a:xfrm>
              <a:off x="6739" y="4160"/>
              <a:ext cx="2154" cy="397"/>
            </a:xfrm>
            <a:prstGeom prst="rect">
              <a:avLst/>
            </a:prstGeom>
          </p:spPr>
          <p:txBody>
            <a:bodyPr wrap="none" lIns="0" tIns="0" rIns="0" bIns="0"/>
            <a:lstStyle/>
            <a:p>
              <a:pPr algn="ctr">
                <a:lnSpc>
                  <a:spcPct val="100000"/>
                </a:lnSpc>
              </a:pPr>
              <a:r>
                <a:rPr lang="zh-CN" altLang="en-US" sz="1600" b="1">
                  <a:solidFill>
                    <a:srgbClr val="B45309"/>
                  </a:solidFill>
                  <a:latin typeface="微软雅黑" panose="020B0503020204020204" charset="-122"/>
                  <a:ea typeface="微软雅黑" panose="020B0503020204020204" charset="-122"/>
                </a:rPr>
                <a:t>多</a:t>
              </a:r>
              <a:r>
                <a:rPr lang="en-US" altLang="zh-CN" sz="1600" b="1">
                  <a:solidFill>
                    <a:srgbClr val="B45309"/>
                  </a:solidFill>
                  <a:latin typeface="微软雅黑" panose="020B0503020204020204" charset="-122"/>
                  <a:ea typeface="微软雅黑" panose="020B0503020204020204" charset="-122"/>
                </a:rPr>
                <a:t>Agent</a:t>
              </a:r>
              <a:r>
                <a:rPr lang="zh-CN" altLang="en-US" sz="1600" b="1">
                  <a:solidFill>
                    <a:srgbClr val="B45309"/>
                  </a:solidFill>
                  <a:latin typeface="微软雅黑" panose="020B0503020204020204" charset="-122"/>
                  <a:ea typeface="微软雅黑" panose="020B0503020204020204" charset="-122"/>
                </a:rPr>
                <a:t>智能编排</a:t>
              </a:r>
            </a:p>
          </p:txBody>
        </p:sp>
        <p:sp>
          <p:nvSpPr>
            <p:cNvPr id="47" name="圆角矩形 46"/>
            <p:cNvSpPr/>
            <p:nvPr/>
          </p:nvSpPr>
          <p:spPr>
            <a:xfrm>
              <a:off x="9364" y="3962"/>
              <a:ext cx="2625" cy="794"/>
            </a:xfrm>
            <a:prstGeom prst="roundRect">
              <a:avLst>
                <a:gd name="adj" fmla="val 8571"/>
              </a:avLst>
            </a:prstGeom>
            <a:solidFill>
              <a:srgbClr val="F0FDF4"/>
            </a:solidFill>
            <a:ln w="25400">
              <a:solidFill>
                <a:srgbClr val="10B981"/>
              </a:solidFill>
              <a:prstDash val="solid"/>
            </a:ln>
          </p:spPr>
          <p:txBody>
            <a:bodyPr/>
            <a:lstStyle/>
            <a:p>
              <a:endParaRPr sz="1600"/>
            </a:p>
          </p:txBody>
        </p:sp>
        <p:sp>
          <p:nvSpPr>
            <p:cNvPr id="50" name="文本框 49" descr="{&quot;isTemplate&quot;:true,&quot;type&quot;:&quot;text&quot;}"/>
            <p:cNvSpPr txBox="1"/>
            <p:nvPr/>
          </p:nvSpPr>
          <p:spPr>
            <a:xfrm>
              <a:off x="9599" y="4160"/>
              <a:ext cx="2154" cy="397"/>
            </a:xfrm>
            <a:prstGeom prst="rect">
              <a:avLst/>
            </a:prstGeom>
          </p:spPr>
          <p:txBody>
            <a:bodyPr wrap="none" lIns="0" tIns="0" rIns="0" bIns="0"/>
            <a:lstStyle/>
            <a:p>
              <a:pPr algn="ctr">
                <a:lnSpc>
                  <a:spcPct val="100000"/>
                </a:lnSpc>
              </a:pPr>
              <a:r>
                <a:rPr lang="zh-CN" sz="1600" b="1">
                  <a:solidFill>
                    <a:srgbClr val="059669"/>
                  </a:solidFill>
                  <a:latin typeface="微软雅黑" panose="020B0503020204020204" charset="-122"/>
                  <a:ea typeface="微软雅黑" panose="020B0503020204020204" charset="-122"/>
                </a:rPr>
                <a:t>全栈</a:t>
              </a:r>
              <a:r>
                <a:rPr lang="zh-CN" altLang="en-US" sz="1600" b="1">
                  <a:solidFill>
                    <a:srgbClr val="059669"/>
                  </a:solidFill>
                  <a:latin typeface="微软雅黑" panose="020B0503020204020204" charset="-122"/>
                  <a:ea typeface="微软雅黑" panose="020B0503020204020204" charset="-122"/>
                </a:rPr>
                <a:t>自主可控</a:t>
              </a:r>
            </a:p>
          </p:txBody>
        </p:sp>
        <p:sp>
          <p:nvSpPr>
            <p:cNvPr id="55" name="圆角矩形 54"/>
            <p:cNvSpPr/>
            <p:nvPr/>
          </p:nvSpPr>
          <p:spPr>
            <a:xfrm>
              <a:off x="12329" y="3962"/>
              <a:ext cx="2525" cy="794"/>
            </a:xfrm>
            <a:prstGeom prst="roundRect">
              <a:avLst>
                <a:gd name="adj" fmla="val 8571"/>
              </a:avLst>
            </a:prstGeom>
            <a:solidFill>
              <a:srgbClr val="EFF6FF"/>
            </a:solidFill>
            <a:ln w="25400">
              <a:solidFill>
                <a:srgbClr val="3B82F6"/>
              </a:solidFill>
              <a:prstDash val="solid"/>
            </a:ln>
          </p:spPr>
          <p:txBody>
            <a:bodyPr/>
            <a:lstStyle/>
            <a:p>
              <a:endParaRPr sz="1600"/>
            </a:p>
          </p:txBody>
        </p:sp>
        <p:sp>
          <p:nvSpPr>
            <p:cNvPr id="58" name="文本框 57" descr="{&quot;isTemplate&quot;:true,&quot;type&quot;:&quot;text&quot;}"/>
            <p:cNvSpPr txBox="1"/>
            <p:nvPr/>
          </p:nvSpPr>
          <p:spPr>
            <a:xfrm>
              <a:off x="12514" y="4160"/>
              <a:ext cx="2154" cy="397"/>
            </a:xfrm>
            <a:prstGeom prst="rect">
              <a:avLst/>
            </a:prstGeom>
          </p:spPr>
          <p:txBody>
            <a:bodyPr wrap="none" lIns="0" tIns="0" rIns="0" bIns="0"/>
            <a:lstStyle/>
            <a:p>
              <a:pPr algn="ctr">
                <a:lnSpc>
                  <a:spcPct val="100000"/>
                </a:lnSpc>
              </a:pPr>
              <a:r>
                <a:rPr lang="zh-CN" altLang="en-US" sz="1600" b="1">
                  <a:solidFill>
                    <a:srgbClr val="2563EB"/>
                  </a:solidFill>
                  <a:latin typeface="微软雅黑" panose="020B0503020204020204" charset="-122"/>
                  <a:ea typeface="微软雅黑" panose="020B0503020204020204" charset="-122"/>
                </a:rPr>
                <a:t>可信数据治理</a:t>
              </a:r>
            </a:p>
          </p:txBody>
        </p:sp>
        <p:sp>
          <p:nvSpPr>
            <p:cNvPr id="63" name="圆角矩形 62"/>
            <p:cNvSpPr/>
            <p:nvPr/>
          </p:nvSpPr>
          <p:spPr>
            <a:xfrm>
              <a:off x="15201" y="3962"/>
              <a:ext cx="2455" cy="794"/>
            </a:xfrm>
            <a:prstGeom prst="roundRect">
              <a:avLst>
                <a:gd name="adj" fmla="val 8571"/>
              </a:avLst>
            </a:prstGeom>
            <a:solidFill>
              <a:srgbClr val="F8FAFC"/>
            </a:solidFill>
            <a:ln w="25400">
              <a:solidFill>
                <a:srgbClr val="64748B"/>
              </a:solidFill>
              <a:prstDash val="solid"/>
            </a:ln>
          </p:spPr>
          <p:txBody>
            <a:bodyPr/>
            <a:lstStyle/>
            <a:p>
              <a:endParaRPr sz="1600"/>
            </a:p>
          </p:txBody>
        </p:sp>
        <p:sp>
          <p:nvSpPr>
            <p:cNvPr id="66" name="文本框 65" descr="{&quot;isTemplate&quot;:true,&quot;type&quot;:&quot;text&quot;}"/>
            <p:cNvSpPr txBox="1"/>
            <p:nvPr/>
          </p:nvSpPr>
          <p:spPr>
            <a:xfrm>
              <a:off x="15351" y="4160"/>
              <a:ext cx="2154" cy="397"/>
            </a:xfrm>
            <a:prstGeom prst="rect">
              <a:avLst/>
            </a:prstGeom>
          </p:spPr>
          <p:txBody>
            <a:bodyPr wrap="none" lIns="0" tIns="0" rIns="0" bIns="0"/>
            <a:lstStyle/>
            <a:p>
              <a:pPr algn="ctr">
                <a:lnSpc>
                  <a:spcPct val="100000"/>
                </a:lnSpc>
              </a:pPr>
              <a:r>
                <a:rPr lang="zh-CN" altLang="en-US" sz="1600" b="1">
                  <a:solidFill>
                    <a:srgbClr val="475569"/>
                  </a:solidFill>
                  <a:latin typeface="微软雅黑" panose="020B0503020204020204" charset="-122"/>
                  <a:ea typeface="微软雅黑" panose="020B0503020204020204" charset="-122"/>
                </a:rPr>
                <a:t>离线可交互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Box 1"/>
          <p:cNvSpPr txBox="1"/>
          <p:nvPr/>
        </p:nvSpPr>
        <p:spPr>
          <a:xfrm>
            <a:off x="172720" y="140970"/>
            <a:ext cx="2969895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 err="1" smtClean="0">
                <a:solidFill>
                  <a:srgbClr val="063591"/>
                </a:solidFill>
                <a:latin typeface="Times New Roman" panose="02020603050405020304" charset="0"/>
                <a:ea typeface="微软雅黑" panose="020B0503020204020204" charset="-122"/>
              </a:rPr>
              <a:t>云边端协同</a:t>
            </a:r>
            <a:r>
              <a:rPr lang="zh-CN" altLang="en-US" sz="2400" b="1" dirty="0">
                <a:solidFill>
                  <a:srgbClr val="063591"/>
                </a:solidFill>
                <a:latin typeface="Times New Roman" panose="02020603050405020304" charset="0"/>
                <a:ea typeface="微软雅黑" panose="020B0503020204020204" charset="-122"/>
              </a:rPr>
              <a:t>技术</a:t>
            </a:r>
            <a:r>
              <a:rPr sz="2400" b="1" dirty="0" err="1" smtClean="0">
                <a:solidFill>
                  <a:srgbClr val="063591"/>
                </a:solidFill>
                <a:latin typeface="Times New Roman" panose="02020603050405020304" charset="0"/>
                <a:ea typeface="微软雅黑" panose="020B0503020204020204" charset="-122"/>
              </a:rPr>
              <a:t>体系</a:t>
            </a:r>
            <a:endParaRPr sz="2400" b="1" dirty="0">
              <a:solidFill>
                <a:srgbClr val="063591"/>
              </a:solidFill>
              <a:latin typeface="Times New Roman" panose="02020603050405020304" charset="0"/>
              <a:ea typeface="微软雅黑" panose="020B0503020204020204" charset="-122"/>
            </a:endParaRPr>
          </a:p>
        </p:txBody>
      </p:sp>
      <p:sp>
        <p:nvSpPr>
          <p:cNvPr id="104" name="TextBox 2"/>
          <p:cNvSpPr txBox="1"/>
          <p:nvPr/>
        </p:nvSpPr>
        <p:spPr>
          <a:xfrm>
            <a:off x="172720" y="601345"/>
            <a:ext cx="3688080" cy="3067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6359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云训练 + 边推理 + 端执行，打造AI闭环能力</a:t>
            </a:r>
          </a:p>
        </p:txBody>
      </p:sp>
      <p:sp>
        <p:nvSpPr>
          <p:cNvPr id="130" name="Rounded Rectangle 21"/>
          <p:cNvSpPr/>
          <p:nvPr/>
        </p:nvSpPr>
        <p:spPr>
          <a:xfrm>
            <a:off x="3049905" y="1156335"/>
            <a:ext cx="6093460" cy="1333500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0E4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grpSp>
        <p:nvGrpSpPr>
          <p:cNvPr id="243" name="组合 242"/>
          <p:cNvGrpSpPr/>
          <p:nvPr/>
        </p:nvGrpSpPr>
        <p:grpSpPr>
          <a:xfrm>
            <a:off x="4668520" y="967105"/>
            <a:ext cx="2856230" cy="424180"/>
            <a:chOff x="11025" y="1280"/>
            <a:chExt cx="4641" cy="689"/>
          </a:xfrm>
        </p:grpSpPr>
        <p:sp>
          <p:nvSpPr>
            <p:cNvPr id="131" name="Rounded Rectangle 22"/>
            <p:cNvSpPr/>
            <p:nvPr/>
          </p:nvSpPr>
          <p:spPr>
            <a:xfrm>
              <a:off x="11025" y="1280"/>
              <a:ext cx="4641" cy="689"/>
            </a:xfrm>
            <a:prstGeom prst="roundRect">
              <a:avLst/>
            </a:prstGeom>
            <a:solidFill>
              <a:srgbClr val="0E4CB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</p:txBody>
        </p:sp>
        <p:sp>
          <p:nvSpPr>
            <p:cNvPr id="132" name="TextBox 23"/>
            <p:cNvSpPr txBox="1"/>
            <p:nvPr/>
          </p:nvSpPr>
          <p:spPr>
            <a:xfrm>
              <a:off x="11025" y="1334"/>
              <a:ext cx="4641" cy="598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lang="zh-CN" altLang="en-US" b="1">
                  <a:solidFill>
                    <a:srgbClr val="FFFFFF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云侧</a:t>
              </a:r>
              <a:r>
                <a:rPr lang="en-US" altLang="zh-CN" b="1">
                  <a:solidFill>
                    <a:srgbClr val="FFFFFF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Cloud · </a:t>
              </a:r>
              <a:r>
                <a:rPr lang="zh-CN" altLang="en-US" b="1">
                  <a:solidFill>
                    <a:srgbClr val="FFFFFF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全局智能中枢</a:t>
              </a:r>
            </a:p>
          </p:txBody>
        </p:sp>
      </p:grpSp>
      <p:grpSp>
        <p:nvGrpSpPr>
          <p:cNvPr id="242" name="组合 241"/>
          <p:cNvGrpSpPr/>
          <p:nvPr/>
        </p:nvGrpSpPr>
        <p:grpSpPr>
          <a:xfrm>
            <a:off x="3278505" y="1564640"/>
            <a:ext cx="5635625" cy="749935"/>
            <a:chOff x="9000" y="2211"/>
            <a:chExt cx="9156" cy="1218"/>
          </a:xfrm>
        </p:grpSpPr>
        <p:grpSp>
          <p:nvGrpSpPr>
            <p:cNvPr id="238" name="组合 237"/>
            <p:cNvGrpSpPr/>
            <p:nvPr/>
          </p:nvGrpSpPr>
          <p:grpSpPr>
            <a:xfrm>
              <a:off x="9000" y="2211"/>
              <a:ext cx="1638" cy="1179"/>
              <a:chOff x="9000" y="2211"/>
              <a:chExt cx="1638" cy="1179"/>
            </a:xfrm>
          </p:grpSpPr>
          <p:pic>
            <p:nvPicPr>
              <p:cNvPr id="133" name="Picture 24" descr="cloud1.png"/>
              <p:cNvPicPr>
                <a:picLocks noChangeAspect="1"/>
              </p:cNvPicPr>
              <p:nvPr/>
            </p:nvPicPr>
            <p:blipFill>
              <a:blip r:embed="rId3"/>
              <a:srcRect l="10408" r="35386" b="45607"/>
              <a:stretch>
                <a:fillRect/>
              </a:stretch>
            </p:blipFill>
            <p:spPr>
              <a:xfrm>
                <a:off x="9431" y="2211"/>
                <a:ext cx="669" cy="794"/>
              </a:xfrm>
              <a:prstGeom prst="rect">
                <a:avLst/>
              </a:prstGeom>
            </p:spPr>
          </p:pic>
          <p:sp>
            <p:nvSpPr>
              <p:cNvPr id="134" name="TextBox 25"/>
              <p:cNvSpPr txBox="1"/>
              <p:nvPr/>
            </p:nvSpPr>
            <p:spPr>
              <a:xfrm>
                <a:off x="9000" y="2981"/>
                <a:ext cx="1638" cy="409"/>
              </a:xfrm>
              <a:prstGeom prst="rect">
                <a:avLst/>
              </a:prstGeom>
              <a:noFill/>
            </p:spPr>
            <p:txBody>
              <a:bodyPr wrap="square" anchor="t">
                <a:noAutofit/>
              </a:bodyPr>
              <a:lstStyle/>
              <a:p>
                <a:pPr algn="ctr"/>
                <a:r>
                  <a:rPr sz="1200" b="0">
                    <a:solidFill>
                      <a:srgbClr val="1E1E1E"/>
                    </a:solidFill>
                    <a:latin typeface="Times New Roman" panose="02020603050405020304" charset="0"/>
                    <a:ea typeface="微软雅黑" panose="020B0503020204020204" charset="-122"/>
                  </a:rPr>
                  <a:t>大模型训练</a:t>
                </a:r>
              </a:p>
            </p:txBody>
          </p:sp>
        </p:grpSp>
        <p:grpSp>
          <p:nvGrpSpPr>
            <p:cNvPr id="241" name="组合 240"/>
            <p:cNvGrpSpPr/>
            <p:nvPr/>
          </p:nvGrpSpPr>
          <p:grpSpPr>
            <a:xfrm>
              <a:off x="10934" y="2211"/>
              <a:ext cx="1638" cy="1179"/>
              <a:chOff x="10828" y="2211"/>
              <a:chExt cx="1638" cy="1179"/>
            </a:xfrm>
          </p:grpSpPr>
          <p:pic>
            <p:nvPicPr>
              <p:cNvPr id="135" name="Picture 26" descr="cloud2.png"/>
              <p:cNvPicPr>
                <a:picLocks noChangeAspect="1"/>
              </p:cNvPicPr>
              <p:nvPr/>
            </p:nvPicPr>
            <p:blipFill>
              <a:blip r:embed="rId4"/>
              <a:srcRect l="12142" r="18300" b="45607"/>
              <a:stretch>
                <a:fillRect/>
              </a:stretch>
            </p:blipFill>
            <p:spPr>
              <a:xfrm>
                <a:off x="11259" y="2211"/>
                <a:ext cx="668" cy="794"/>
              </a:xfrm>
              <a:prstGeom prst="rect">
                <a:avLst/>
              </a:prstGeom>
            </p:spPr>
          </p:pic>
          <p:sp>
            <p:nvSpPr>
              <p:cNvPr id="136" name="TextBox 27"/>
              <p:cNvSpPr txBox="1"/>
              <p:nvPr/>
            </p:nvSpPr>
            <p:spPr>
              <a:xfrm>
                <a:off x="10828" y="2981"/>
                <a:ext cx="1638" cy="409"/>
              </a:xfrm>
              <a:prstGeom prst="rect">
                <a:avLst/>
              </a:prstGeom>
              <a:noFill/>
            </p:spPr>
            <p:txBody>
              <a:bodyPr wrap="square" anchor="t">
                <a:noAutofit/>
              </a:bodyPr>
              <a:lstStyle/>
              <a:p>
                <a:pPr algn="ctr"/>
                <a:r>
                  <a:rPr sz="1200" b="0">
                    <a:solidFill>
                      <a:srgbClr val="1E1E1E"/>
                    </a:solidFill>
                    <a:latin typeface="Times New Roman" panose="02020603050405020304" charset="0"/>
                    <a:ea typeface="微软雅黑" panose="020B0503020204020204" charset="-122"/>
                  </a:rPr>
                  <a:t>知识库管理</a:t>
                </a:r>
              </a:p>
            </p:txBody>
          </p:sp>
        </p:grpSp>
        <p:grpSp>
          <p:nvGrpSpPr>
            <p:cNvPr id="240" name="组合 239"/>
            <p:cNvGrpSpPr/>
            <p:nvPr/>
          </p:nvGrpSpPr>
          <p:grpSpPr>
            <a:xfrm>
              <a:off x="12868" y="2211"/>
              <a:ext cx="1304" cy="1218"/>
              <a:chOff x="12642" y="2211"/>
              <a:chExt cx="1304" cy="1218"/>
            </a:xfrm>
          </p:grpSpPr>
          <p:pic>
            <p:nvPicPr>
              <p:cNvPr id="137" name="Picture 28" descr="cloud3.png"/>
              <p:cNvPicPr>
                <a:picLocks noChangeAspect="1"/>
              </p:cNvPicPr>
              <p:nvPr/>
            </p:nvPicPr>
            <p:blipFill>
              <a:blip r:embed="rId5"/>
              <a:srcRect l="22897" r="17086" b="45607"/>
              <a:stretch>
                <a:fillRect/>
              </a:stretch>
            </p:blipFill>
            <p:spPr>
              <a:xfrm>
                <a:off x="12960" y="2211"/>
                <a:ext cx="668" cy="794"/>
              </a:xfrm>
              <a:prstGeom prst="rect">
                <a:avLst/>
              </a:prstGeom>
            </p:spPr>
          </p:pic>
          <p:sp>
            <p:nvSpPr>
              <p:cNvPr id="138" name="TextBox 29"/>
              <p:cNvSpPr txBox="1"/>
              <p:nvPr/>
            </p:nvSpPr>
            <p:spPr>
              <a:xfrm>
                <a:off x="12642" y="2981"/>
                <a:ext cx="1304" cy="448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ctr"/>
                <a:r>
                  <a:rPr sz="1200" b="0">
                    <a:solidFill>
                      <a:srgbClr val="1E1E1E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AI Agent</a:t>
                </a:r>
              </a:p>
            </p:txBody>
          </p:sp>
        </p:grpSp>
        <p:grpSp>
          <p:nvGrpSpPr>
            <p:cNvPr id="239" name="组合 238"/>
            <p:cNvGrpSpPr/>
            <p:nvPr/>
          </p:nvGrpSpPr>
          <p:grpSpPr>
            <a:xfrm>
              <a:off x="14576" y="2211"/>
              <a:ext cx="1304" cy="1218"/>
              <a:chOff x="14456" y="2211"/>
              <a:chExt cx="1304" cy="1218"/>
            </a:xfrm>
          </p:grpSpPr>
          <p:pic>
            <p:nvPicPr>
              <p:cNvPr id="139" name="Picture 30" descr="cloud4.png"/>
              <p:cNvPicPr>
                <a:picLocks noChangeAspect="1"/>
              </p:cNvPicPr>
              <p:nvPr/>
            </p:nvPicPr>
            <p:blipFill>
              <a:blip r:embed="rId6"/>
              <a:srcRect l="19514" r="15872" b="44409"/>
              <a:stretch>
                <a:fillRect/>
              </a:stretch>
            </p:blipFill>
            <p:spPr>
              <a:xfrm>
                <a:off x="14774" y="2211"/>
                <a:ext cx="668" cy="794"/>
              </a:xfrm>
              <a:prstGeom prst="rect">
                <a:avLst/>
              </a:prstGeom>
            </p:spPr>
          </p:pic>
          <p:sp>
            <p:nvSpPr>
              <p:cNvPr id="140" name="TextBox 31"/>
              <p:cNvSpPr txBox="1"/>
              <p:nvPr/>
            </p:nvSpPr>
            <p:spPr>
              <a:xfrm>
                <a:off x="14456" y="2981"/>
                <a:ext cx="1304" cy="448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ctr"/>
                <a:r>
                  <a:rPr sz="1200" b="0">
                    <a:solidFill>
                      <a:srgbClr val="1E1E1E"/>
                    </a:solidFill>
                    <a:latin typeface="Times New Roman" panose="02020603050405020304" charset="0"/>
                    <a:ea typeface="微软雅黑" panose="020B0503020204020204" charset="-122"/>
                  </a:rPr>
                  <a:t>数据分析</a:t>
                </a:r>
              </a:p>
            </p:txBody>
          </p:sp>
        </p:grpSp>
        <p:grpSp>
          <p:nvGrpSpPr>
            <p:cNvPr id="231" name="组合 230"/>
            <p:cNvGrpSpPr/>
            <p:nvPr/>
          </p:nvGrpSpPr>
          <p:grpSpPr>
            <a:xfrm>
              <a:off x="16284" y="2211"/>
              <a:ext cx="1872" cy="1204"/>
              <a:chOff x="16284" y="2211"/>
              <a:chExt cx="1872" cy="1204"/>
            </a:xfrm>
          </p:grpSpPr>
          <p:pic>
            <p:nvPicPr>
              <p:cNvPr id="141" name="Picture 32" descr="cloud5.png"/>
              <p:cNvPicPr>
                <a:picLocks noChangeAspect="1"/>
              </p:cNvPicPr>
              <p:nvPr/>
            </p:nvPicPr>
            <p:blipFill>
              <a:blip r:embed="rId7"/>
              <a:srcRect l="34345" r="15872" b="45607"/>
              <a:stretch>
                <a:fillRect/>
              </a:stretch>
            </p:blipFill>
            <p:spPr>
              <a:xfrm>
                <a:off x="16829" y="2211"/>
                <a:ext cx="668" cy="794"/>
              </a:xfrm>
              <a:prstGeom prst="rect">
                <a:avLst/>
              </a:prstGeom>
            </p:spPr>
          </p:pic>
          <p:sp>
            <p:nvSpPr>
              <p:cNvPr id="142" name="TextBox 33"/>
              <p:cNvSpPr txBox="1"/>
              <p:nvPr/>
            </p:nvSpPr>
            <p:spPr>
              <a:xfrm>
                <a:off x="16284" y="2981"/>
                <a:ext cx="1872" cy="434"/>
              </a:xfrm>
              <a:prstGeom prst="rect">
                <a:avLst/>
              </a:prstGeom>
              <a:noFill/>
            </p:spPr>
            <p:txBody>
              <a:bodyPr wrap="square" anchor="t">
                <a:noAutofit/>
              </a:bodyPr>
              <a:lstStyle/>
              <a:p>
                <a:pPr algn="ctr"/>
                <a:r>
                  <a:rPr sz="1200" b="0">
                    <a:solidFill>
                      <a:srgbClr val="1E1E1E"/>
                    </a:solidFill>
                    <a:latin typeface="Times New Roman" panose="02020603050405020304" charset="0"/>
                    <a:ea typeface="微软雅黑" panose="020B0503020204020204" charset="-122"/>
                  </a:rPr>
                  <a:t>模型统一管理</a:t>
                </a:r>
              </a:p>
            </p:txBody>
          </p:sp>
        </p:grpSp>
        <p:sp>
          <p:nvSpPr>
            <p:cNvPr id="143" name="Rectangle 34"/>
            <p:cNvSpPr/>
            <p:nvPr/>
          </p:nvSpPr>
          <p:spPr>
            <a:xfrm>
              <a:off x="10718" y="2377"/>
              <a:ext cx="28" cy="872"/>
            </a:xfrm>
            <a:prstGeom prst="rect">
              <a:avLst/>
            </a:prstGeom>
            <a:solidFill>
              <a:srgbClr val="E1E4E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</p:txBody>
        </p:sp>
        <p:sp>
          <p:nvSpPr>
            <p:cNvPr id="144" name="Rectangle 35"/>
            <p:cNvSpPr/>
            <p:nvPr/>
          </p:nvSpPr>
          <p:spPr>
            <a:xfrm>
              <a:off x="12652" y="2377"/>
              <a:ext cx="28" cy="872"/>
            </a:xfrm>
            <a:prstGeom prst="rect">
              <a:avLst/>
            </a:prstGeom>
            <a:solidFill>
              <a:srgbClr val="E1E4E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</p:txBody>
        </p:sp>
        <p:sp>
          <p:nvSpPr>
            <p:cNvPr id="145" name="Rectangle 36"/>
            <p:cNvSpPr/>
            <p:nvPr/>
          </p:nvSpPr>
          <p:spPr>
            <a:xfrm>
              <a:off x="14360" y="2377"/>
              <a:ext cx="28" cy="872"/>
            </a:xfrm>
            <a:prstGeom prst="rect">
              <a:avLst/>
            </a:prstGeom>
            <a:solidFill>
              <a:srgbClr val="E1E4E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</p:txBody>
        </p:sp>
        <p:sp>
          <p:nvSpPr>
            <p:cNvPr id="146" name="Rectangle 37"/>
            <p:cNvSpPr/>
            <p:nvPr/>
          </p:nvSpPr>
          <p:spPr>
            <a:xfrm>
              <a:off x="16068" y="2377"/>
              <a:ext cx="28" cy="872"/>
            </a:xfrm>
            <a:prstGeom prst="rect">
              <a:avLst/>
            </a:prstGeom>
            <a:solidFill>
              <a:srgbClr val="E1E4E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</p:txBody>
        </p:sp>
      </p:grpSp>
      <p:sp>
        <p:nvSpPr>
          <p:cNvPr id="147" name="Rounded Rectangle 40"/>
          <p:cNvSpPr/>
          <p:nvPr/>
        </p:nvSpPr>
        <p:spPr>
          <a:xfrm>
            <a:off x="3041015" y="3032760"/>
            <a:ext cx="6110605" cy="1272540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08A1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65" name="Rounded Rectangle 59"/>
          <p:cNvSpPr/>
          <p:nvPr/>
        </p:nvSpPr>
        <p:spPr>
          <a:xfrm>
            <a:off x="3041015" y="4848860"/>
            <a:ext cx="6110605" cy="1540510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EB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grpSp>
        <p:nvGrpSpPr>
          <p:cNvPr id="245" name="组合 244"/>
          <p:cNvGrpSpPr/>
          <p:nvPr/>
        </p:nvGrpSpPr>
        <p:grpSpPr>
          <a:xfrm>
            <a:off x="4668520" y="4710430"/>
            <a:ext cx="2856230" cy="368300"/>
            <a:chOff x="11025" y="7481"/>
            <a:chExt cx="4641" cy="598"/>
          </a:xfrm>
        </p:grpSpPr>
        <p:sp>
          <p:nvSpPr>
            <p:cNvPr id="166" name="Rounded Rectangle 60"/>
            <p:cNvSpPr/>
            <p:nvPr/>
          </p:nvSpPr>
          <p:spPr>
            <a:xfrm>
              <a:off x="11025" y="7490"/>
              <a:ext cx="4641" cy="562"/>
            </a:xfrm>
            <a:prstGeom prst="roundRect">
              <a:avLst/>
            </a:prstGeom>
            <a:solidFill>
              <a:srgbClr val="EB8F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</p:txBody>
        </p:sp>
        <p:sp>
          <p:nvSpPr>
            <p:cNvPr id="167" name="TextBox 61"/>
            <p:cNvSpPr txBox="1"/>
            <p:nvPr/>
          </p:nvSpPr>
          <p:spPr>
            <a:xfrm>
              <a:off x="11025" y="7481"/>
              <a:ext cx="4641" cy="598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lang="zh-CN" b="1">
                  <a:solidFill>
                    <a:srgbClr val="FFFFFF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端侧</a:t>
              </a:r>
              <a:r>
                <a:rPr b="1">
                  <a:solidFill>
                    <a:srgbClr val="FFFFFF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Device · 感知执行</a:t>
              </a:r>
            </a:p>
          </p:txBody>
        </p:sp>
      </p:grpSp>
      <p:grpSp>
        <p:nvGrpSpPr>
          <p:cNvPr id="208" name="组合 207"/>
          <p:cNvGrpSpPr/>
          <p:nvPr/>
        </p:nvGrpSpPr>
        <p:grpSpPr>
          <a:xfrm>
            <a:off x="3637915" y="6000115"/>
            <a:ext cx="4916805" cy="294005"/>
            <a:chOff x="9112" y="9417"/>
            <a:chExt cx="7988" cy="478"/>
          </a:xfrm>
        </p:grpSpPr>
        <p:grpSp>
          <p:nvGrpSpPr>
            <p:cNvPr id="205" name="组合 204"/>
            <p:cNvGrpSpPr/>
            <p:nvPr/>
          </p:nvGrpSpPr>
          <p:grpSpPr>
            <a:xfrm>
              <a:off x="9112" y="9417"/>
              <a:ext cx="1856" cy="478"/>
              <a:chOff x="9112" y="9417"/>
              <a:chExt cx="1856" cy="478"/>
            </a:xfrm>
          </p:grpSpPr>
          <p:sp>
            <p:nvSpPr>
              <p:cNvPr id="183" name="Rounded Rectangle 79"/>
              <p:cNvSpPr/>
              <p:nvPr/>
            </p:nvSpPr>
            <p:spPr>
              <a:xfrm>
                <a:off x="9112" y="9417"/>
                <a:ext cx="1856" cy="478"/>
              </a:xfrm>
              <a:prstGeom prst="roundRect">
                <a:avLst/>
              </a:prstGeom>
              <a:solidFill>
                <a:srgbClr val="F7E8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200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endParaRPr>
              </a:p>
            </p:txBody>
          </p:sp>
          <p:sp>
            <p:nvSpPr>
              <p:cNvPr id="184" name="TextBox 80"/>
              <p:cNvSpPr txBox="1"/>
              <p:nvPr/>
            </p:nvSpPr>
            <p:spPr>
              <a:xfrm>
                <a:off x="9112" y="9429"/>
                <a:ext cx="1856" cy="454"/>
              </a:xfrm>
              <a:prstGeom prst="rect">
                <a:avLst/>
              </a:prstGeom>
              <a:noFill/>
            </p:spPr>
            <p:txBody>
              <a:bodyPr wrap="square" anchor="t">
                <a:noAutofit/>
              </a:bodyPr>
              <a:lstStyle/>
              <a:p>
                <a:pPr algn="ctr"/>
                <a:r>
                  <a:rPr sz="1200" b="1">
                    <a:solidFill>
                      <a:srgbClr val="EB8F00"/>
                    </a:solidFill>
                    <a:latin typeface="Times New Roman" panose="02020603050405020304" charset="0"/>
                    <a:ea typeface="微软雅黑" panose="020B0503020204020204" charset="-122"/>
                  </a:rPr>
                  <a:t>感知</a:t>
                </a:r>
              </a:p>
            </p:txBody>
          </p:sp>
        </p:grpSp>
        <p:grpSp>
          <p:nvGrpSpPr>
            <p:cNvPr id="206" name="组合 205"/>
            <p:cNvGrpSpPr/>
            <p:nvPr/>
          </p:nvGrpSpPr>
          <p:grpSpPr>
            <a:xfrm>
              <a:off x="12178" y="9417"/>
              <a:ext cx="1856" cy="478"/>
              <a:chOff x="12178" y="9417"/>
              <a:chExt cx="1856" cy="478"/>
            </a:xfrm>
          </p:grpSpPr>
          <p:sp>
            <p:nvSpPr>
              <p:cNvPr id="185" name="Rounded Rectangle 81"/>
              <p:cNvSpPr/>
              <p:nvPr/>
            </p:nvSpPr>
            <p:spPr>
              <a:xfrm>
                <a:off x="12178" y="9417"/>
                <a:ext cx="1856" cy="478"/>
              </a:xfrm>
              <a:prstGeom prst="roundRect">
                <a:avLst/>
              </a:prstGeom>
              <a:solidFill>
                <a:srgbClr val="F7E8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200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endParaRPr>
              </a:p>
            </p:txBody>
          </p:sp>
          <p:sp>
            <p:nvSpPr>
              <p:cNvPr id="186" name="TextBox 82"/>
              <p:cNvSpPr txBox="1"/>
              <p:nvPr/>
            </p:nvSpPr>
            <p:spPr>
              <a:xfrm>
                <a:off x="12178" y="9439"/>
                <a:ext cx="1856" cy="448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ctr"/>
                <a:r>
                  <a:rPr sz="1200" b="1">
                    <a:solidFill>
                      <a:srgbClr val="EB8F00"/>
                    </a:solidFill>
                    <a:latin typeface="Times New Roman" panose="02020603050405020304" charset="0"/>
                    <a:ea typeface="微软雅黑" panose="020B0503020204020204" charset="-122"/>
                  </a:rPr>
                  <a:t>决策</a:t>
                </a:r>
              </a:p>
            </p:txBody>
          </p:sp>
        </p:grpSp>
        <p:grpSp>
          <p:nvGrpSpPr>
            <p:cNvPr id="207" name="组合 206"/>
            <p:cNvGrpSpPr/>
            <p:nvPr/>
          </p:nvGrpSpPr>
          <p:grpSpPr>
            <a:xfrm>
              <a:off x="15244" y="9417"/>
              <a:ext cx="1856" cy="478"/>
              <a:chOff x="15244" y="9417"/>
              <a:chExt cx="1856" cy="478"/>
            </a:xfrm>
          </p:grpSpPr>
          <p:sp>
            <p:nvSpPr>
              <p:cNvPr id="187" name="Rounded Rectangle 83"/>
              <p:cNvSpPr/>
              <p:nvPr/>
            </p:nvSpPr>
            <p:spPr>
              <a:xfrm>
                <a:off x="15244" y="9417"/>
                <a:ext cx="1856" cy="478"/>
              </a:xfrm>
              <a:prstGeom prst="roundRect">
                <a:avLst/>
              </a:prstGeom>
              <a:solidFill>
                <a:srgbClr val="F7E8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200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endParaRPr>
              </a:p>
            </p:txBody>
          </p:sp>
          <p:sp>
            <p:nvSpPr>
              <p:cNvPr id="188" name="TextBox 84"/>
              <p:cNvSpPr txBox="1"/>
              <p:nvPr/>
            </p:nvSpPr>
            <p:spPr>
              <a:xfrm>
                <a:off x="15244" y="9439"/>
                <a:ext cx="1856" cy="448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ctr"/>
                <a:r>
                  <a:rPr sz="1200" b="1">
                    <a:solidFill>
                      <a:srgbClr val="EB8F00"/>
                    </a:solidFill>
                    <a:latin typeface="Times New Roman" panose="02020603050405020304" charset="0"/>
                    <a:ea typeface="微软雅黑" panose="020B0503020204020204" charset="-122"/>
                  </a:rPr>
                  <a:t>执行</a:t>
                </a:r>
              </a:p>
            </p:txBody>
          </p:sp>
        </p:grpSp>
        <p:sp>
          <p:nvSpPr>
            <p:cNvPr id="189" name="Chevron 85"/>
            <p:cNvSpPr/>
            <p:nvPr/>
          </p:nvSpPr>
          <p:spPr>
            <a:xfrm>
              <a:off x="11306" y="9544"/>
              <a:ext cx="534" cy="225"/>
            </a:xfrm>
            <a:prstGeom prst="chevron">
              <a:avLst/>
            </a:prstGeom>
            <a:solidFill>
              <a:srgbClr val="EB8F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2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</p:txBody>
        </p:sp>
        <p:sp>
          <p:nvSpPr>
            <p:cNvPr id="190" name="Chevron 86"/>
            <p:cNvSpPr/>
            <p:nvPr/>
          </p:nvSpPr>
          <p:spPr>
            <a:xfrm>
              <a:off x="14372" y="9544"/>
              <a:ext cx="534" cy="225"/>
            </a:xfrm>
            <a:prstGeom prst="chevron">
              <a:avLst/>
            </a:prstGeom>
            <a:solidFill>
              <a:srgbClr val="EB8F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2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</p:txBody>
        </p:sp>
      </p:grpSp>
      <p:grpSp>
        <p:nvGrpSpPr>
          <p:cNvPr id="264" name="组合 263"/>
          <p:cNvGrpSpPr/>
          <p:nvPr/>
        </p:nvGrpSpPr>
        <p:grpSpPr>
          <a:xfrm>
            <a:off x="4126865" y="2506980"/>
            <a:ext cx="3938905" cy="361315"/>
            <a:chOff x="7129" y="3946"/>
            <a:chExt cx="6400" cy="587"/>
          </a:xfrm>
        </p:grpSpPr>
        <p:sp>
          <p:nvSpPr>
            <p:cNvPr id="191" name="Down Arrow 89"/>
            <p:cNvSpPr/>
            <p:nvPr/>
          </p:nvSpPr>
          <p:spPr>
            <a:xfrm>
              <a:off x="8945" y="3946"/>
              <a:ext cx="450" cy="556"/>
            </a:xfrm>
            <a:prstGeom prst="downArrow">
              <a:avLst/>
            </a:prstGeom>
            <a:solidFill>
              <a:srgbClr val="96969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</p:txBody>
        </p:sp>
        <p:sp>
          <p:nvSpPr>
            <p:cNvPr id="192" name="Up Arrow 90"/>
            <p:cNvSpPr/>
            <p:nvPr/>
          </p:nvSpPr>
          <p:spPr>
            <a:xfrm>
              <a:off x="11353" y="3946"/>
              <a:ext cx="450" cy="556"/>
            </a:xfrm>
            <a:prstGeom prst="upArrow">
              <a:avLst/>
            </a:prstGeom>
            <a:solidFill>
              <a:srgbClr val="96969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</p:txBody>
        </p:sp>
        <p:sp>
          <p:nvSpPr>
            <p:cNvPr id="195" name="TextBox 93"/>
            <p:cNvSpPr txBox="1"/>
            <p:nvPr/>
          </p:nvSpPr>
          <p:spPr>
            <a:xfrm>
              <a:off x="7129" y="3969"/>
              <a:ext cx="1644" cy="548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600" b="0">
                  <a:solidFill>
                    <a:srgbClr val="1E1E1E"/>
                  </a:solidFill>
                  <a:latin typeface="Times New Roman" panose="02020603050405020304" charset="0"/>
                  <a:ea typeface="微软雅黑" panose="020B0503020204020204" charset="-122"/>
                </a:rPr>
                <a:t>模型下发</a:t>
              </a:r>
            </a:p>
          </p:txBody>
        </p:sp>
        <p:sp>
          <p:nvSpPr>
            <p:cNvPr id="196" name="TextBox 94"/>
            <p:cNvSpPr txBox="1"/>
            <p:nvPr/>
          </p:nvSpPr>
          <p:spPr>
            <a:xfrm>
              <a:off x="11885" y="3970"/>
              <a:ext cx="1644" cy="563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600" b="0">
                  <a:solidFill>
                    <a:srgbClr val="1E1E1E"/>
                  </a:solidFill>
                  <a:latin typeface="Times New Roman" panose="02020603050405020304" charset="0"/>
                  <a:ea typeface="微软雅黑" panose="020B0503020204020204" charset="-122"/>
                </a:rPr>
                <a:t>数据汇聚</a:t>
              </a:r>
            </a:p>
          </p:txBody>
        </p:sp>
      </p:grpSp>
      <p:grpSp>
        <p:nvGrpSpPr>
          <p:cNvPr id="265" name="组合 264"/>
          <p:cNvGrpSpPr/>
          <p:nvPr/>
        </p:nvGrpSpPr>
        <p:grpSpPr>
          <a:xfrm>
            <a:off x="4126865" y="4357370"/>
            <a:ext cx="3938905" cy="351155"/>
            <a:chOff x="7129" y="6916"/>
            <a:chExt cx="6400" cy="571"/>
          </a:xfrm>
        </p:grpSpPr>
        <p:sp>
          <p:nvSpPr>
            <p:cNvPr id="193" name="Down Arrow 91"/>
            <p:cNvSpPr/>
            <p:nvPr/>
          </p:nvSpPr>
          <p:spPr>
            <a:xfrm>
              <a:off x="8945" y="6916"/>
              <a:ext cx="450" cy="556"/>
            </a:xfrm>
            <a:prstGeom prst="downArrow">
              <a:avLst/>
            </a:prstGeom>
            <a:solidFill>
              <a:srgbClr val="96969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</p:txBody>
        </p:sp>
        <p:sp>
          <p:nvSpPr>
            <p:cNvPr id="194" name="Up Arrow 92"/>
            <p:cNvSpPr/>
            <p:nvPr/>
          </p:nvSpPr>
          <p:spPr>
            <a:xfrm>
              <a:off x="11353" y="6916"/>
              <a:ext cx="450" cy="556"/>
            </a:xfrm>
            <a:prstGeom prst="upArrow">
              <a:avLst/>
            </a:prstGeom>
            <a:solidFill>
              <a:srgbClr val="96969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</p:txBody>
        </p:sp>
        <p:sp>
          <p:nvSpPr>
            <p:cNvPr id="197" name="TextBox 95"/>
            <p:cNvSpPr txBox="1"/>
            <p:nvPr/>
          </p:nvSpPr>
          <p:spPr>
            <a:xfrm>
              <a:off x="7129" y="6939"/>
              <a:ext cx="1644" cy="510"/>
            </a:xfrm>
            <a:prstGeom prst="rect">
              <a:avLst/>
            </a:prstGeom>
            <a:noFill/>
          </p:spPr>
          <p:txBody>
            <a:bodyPr wrap="square" anchor="t">
              <a:noAutofit/>
            </a:bodyPr>
            <a:lstStyle/>
            <a:p>
              <a:pPr algn="l"/>
              <a:r>
                <a:rPr sz="1600" b="0">
                  <a:solidFill>
                    <a:srgbClr val="1E1E1E"/>
                  </a:solidFill>
                  <a:latin typeface="Times New Roman" panose="02020603050405020304" charset="0"/>
                  <a:ea typeface="微软雅黑" panose="020B0503020204020204" charset="-122"/>
                </a:rPr>
                <a:t>控制指令</a:t>
              </a:r>
            </a:p>
          </p:txBody>
        </p:sp>
        <p:sp>
          <p:nvSpPr>
            <p:cNvPr id="198" name="TextBox 96"/>
            <p:cNvSpPr txBox="1"/>
            <p:nvPr/>
          </p:nvSpPr>
          <p:spPr>
            <a:xfrm>
              <a:off x="11885" y="6939"/>
              <a:ext cx="1644" cy="548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600" b="0">
                  <a:solidFill>
                    <a:srgbClr val="1E1E1E"/>
                  </a:solidFill>
                  <a:latin typeface="Times New Roman" panose="02020603050405020304" charset="0"/>
                  <a:ea typeface="微软雅黑" panose="020B0503020204020204" charset="-122"/>
                </a:rPr>
                <a:t>状态反馈</a:t>
              </a:r>
            </a:p>
          </p:txBody>
        </p:sp>
      </p:grpSp>
      <p:grpSp>
        <p:nvGrpSpPr>
          <p:cNvPr id="225" name="组合 224"/>
          <p:cNvGrpSpPr/>
          <p:nvPr/>
        </p:nvGrpSpPr>
        <p:grpSpPr>
          <a:xfrm>
            <a:off x="3157220" y="5207000"/>
            <a:ext cx="5878830" cy="659765"/>
            <a:chOff x="8634" y="8088"/>
            <a:chExt cx="9551" cy="1072"/>
          </a:xfrm>
        </p:grpSpPr>
        <p:grpSp>
          <p:nvGrpSpPr>
            <p:cNvPr id="219" name="组合 218"/>
            <p:cNvGrpSpPr/>
            <p:nvPr/>
          </p:nvGrpSpPr>
          <p:grpSpPr>
            <a:xfrm>
              <a:off x="8634" y="8088"/>
              <a:ext cx="1111" cy="1033"/>
              <a:chOff x="8634" y="8088"/>
              <a:chExt cx="1111" cy="1033"/>
            </a:xfrm>
          </p:grpSpPr>
          <p:pic>
            <p:nvPicPr>
              <p:cNvPr id="168" name="Picture 62" descr="device1.png"/>
              <p:cNvPicPr>
                <a:picLocks noChangeAspect="1"/>
              </p:cNvPicPr>
              <p:nvPr/>
            </p:nvPicPr>
            <p:blipFill>
              <a:blip r:embed="rId8"/>
              <a:srcRect t="20000" r="37231" b="27364"/>
              <a:stretch>
                <a:fillRect/>
              </a:stretch>
            </p:blipFill>
            <p:spPr>
              <a:xfrm>
                <a:off x="8804" y="8088"/>
                <a:ext cx="680" cy="573"/>
              </a:xfrm>
              <a:prstGeom prst="rect">
                <a:avLst/>
              </a:prstGeom>
            </p:spPr>
          </p:pic>
          <p:sp>
            <p:nvSpPr>
              <p:cNvPr id="169" name="TextBox 63"/>
              <p:cNvSpPr txBox="1"/>
              <p:nvPr/>
            </p:nvSpPr>
            <p:spPr>
              <a:xfrm>
                <a:off x="8634" y="8712"/>
                <a:ext cx="1111" cy="409"/>
              </a:xfrm>
              <a:prstGeom prst="rect">
                <a:avLst/>
              </a:prstGeom>
              <a:noFill/>
            </p:spPr>
            <p:txBody>
              <a:bodyPr wrap="square" anchor="t">
                <a:noAutofit/>
              </a:bodyPr>
              <a:lstStyle/>
              <a:p>
                <a:pPr algn="ctr"/>
                <a:r>
                  <a:rPr sz="1200" b="0">
                    <a:solidFill>
                      <a:srgbClr val="1E1E1E"/>
                    </a:solidFill>
                    <a:latin typeface="Times New Roman" panose="02020603050405020304" charset="0"/>
                    <a:ea typeface="微软雅黑" panose="020B0503020204020204" charset="-122"/>
                  </a:rPr>
                  <a:t>摄像头</a:t>
                </a:r>
              </a:p>
            </p:txBody>
          </p:sp>
        </p:grpSp>
        <p:sp>
          <p:nvSpPr>
            <p:cNvPr id="178" name="Rectangle 74"/>
            <p:cNvSpPr/>
            <p:nvPr/>
          </p:nvSpPr>
          <p:spPr>
            <a:xfrm>
              <a:off x="9974" y="8237"/>
              <a:ext cx="28" cy="759"/>
            </a:xfrm>
            <a:prstGeom prst="rect">
              <a:avLst/>
            </a:prstGeom>
            <a:solidFill>
              <a:srgbClr val="E1E4E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</p:txBody>
        </p:sp>
        <p:sp>
          <p:nvSpPr>
            <p:cNvPr id="179" name="Rectangle 75"/>
            <p:cNvSpPr/>
            <p:nvPr/>
          </p:nvSpPr>
          <p:spPr>
            <a:xfrm>
              <a:off x="11662" y="8237"/>
              <a:ext cx="28" cy="759"/>
            </a:xfrm>
            <a:prstGeom prst="rect">
              <a:avLst/>
            </a:prstGeom>
            <a:solidFill>
              <a:srgbClr val="E1E4E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</p:txBody>
        </p:sp>
        <p:sp>
          <p:nvSpPr>
            <p:cNvPr id="180" name="Rectangle 76"/>
            <p:cNvSpPr/>
            <p:nvPr/>
          </p:nvSpPr>
          <p:spPr>
            <a:xfrm>
              <a:off x="13350" y="8237"/>
              <a:ext cx="28" cy="759"/>
            </a:xfrm>
            <a:prstGeom prst="rect">
              <a:avLst/>
            </a:prstGeom>
            <a:solidFill>
              <a:srgbClr val="E1E4E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</p:txBody>
        </p:sp>
        <p:sp>
          <p:nvSpPr>
            <p:cNvPr id="181" name="Rectangle 77"/>
            <p:cNvSpPr/>
            <p:nvPr/>
          </p:nvSpPr>
          <p:spPr>
            <a:xfrm>
              <a:off x="15038" y="8237"/>
              <a:ext cx="28" cy="759"/>
            </a:xfrm>
            <a:prstGeom prst="rect">
              <a:avLst/>
            </a:prstGeom>
            <a:solidFill>
              <a:srgbClr val="E1E4E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</p:txBody>
        </p:sp>
        <p:sp>
          <p:nvSpPr>
            <p:cNvPr id="182" name="Rectangle 78"/>
            <p:cNvSpPr/>
            <p:nvPr/>
          </p:nvSpPr>
          <p:spPr>
            <a:xfrm>
              <a:off x="16726" y="8237"/>
              <a:ext cx="28" cy="759"/>
            </a:xfrm>
            <a:prstGeom prst="rect">
              <a:avLst/>
            </a:prstGeom>
            <a:solidFill>
              <a:srgbClr val="E1E4E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</p:txBody>
        </p:sp>
        <p:grpSp>
          <p:nvGrpSpPr>
            <p:cNvPr id="220" name="组合 219"/>
            <p:cNvGrpSpPr/>
            <p:nvPr/>
          </p:nvGrpSpPr>
          <p:grpSpPr>
            <a:xfrm>
              <a:off x="10322" y="8088"/>
              <a:ext cx="1111" cy="1033"/>
              <a:chOff x="10323" y="8088"/>
              <a:chExt cx="1111" cy="1033"/>
            </a:xfrm>
          </p:grpSpPr>
          <p:sp>
            <p:nvSpPr>
              <p:cNvPr id="171" name="TextBox 65"/>
              <p:cNvSpPr txBox="1"/>
              <p:nvPr/>
            </p:nvSpPr>
            <p:spPr>
              <a:xfrm>
                <a:off x="10323" y="8712"/>
                <a:ext cx="1111" cy="409"/>
              </a:xfrm>
              <a:prstGeom prst="rect">
                <a:avLst/>
              </a:prstGeom>
              <a:noFill/>
            </p:spPr>
            <p:txBody>
              <a:bodyPr wrap="square" anchor="t">
                <a:noAutofit/>
              </a:bodyPr>
              <a:lstStyle/>
              <a:p>
                <a:pPr algn="ctr"/>
                <a:r>
                  <a:rPr sz="1200" b="0">
                    <a:solidFill>
                      <a:srgbClr val="1E1E1E"/>
                    </a:solidFill>
                    <a:latin typeface="Times New Roman" panose="02020603050405020304" charset="0"/>
                    <a:ea typeface="微软雅黑" panose="020B0503020204020204" charset="-122"/>
                  </a:rPr>
                  <a:t>麦克风</a:t>
                </a:r>
              </a:p>
            </p:txBody>
          </p:sp>
          <p:pic>
            <p:nvPicPr>
              <p:cNvPr id="200" name="Picture 1" descr="3515df28-a515-595d-92b4-cae66fd01fd3.png"/>
              <p:cNvPicPr>
                <a:picLocks noChangeAspect="1"/>
              </p:cNvPicPr>
              <p:nvPr/>
            </p:nvPicPr>
            <p:blipFill>
              <a:blip r:embed="rId9"/>
              <a:srcRect l="46917" t="56083" r="50000" b="38556"/>
              <a:stretch>
                <a:fillRect/>
              </a:stretch>
            </p:blipFill>
            <p:spPr>
              <a:xfrm>
                <a:off x="10493" y="8088"/>
                <a:ext cx="680" cy="573"/>
              </a:xfrm>
              <a:prstGeom prst="rect">
                <a:avLst/>
              </a:prstGeom>
            </p:spPr>
          </p:pic>
        </p:grpSp>
        <p:grpSp>
          <p:nvGrpSpPr>
            <p:cNvPr id="222" name="组合 221"/>
            <p:cNvGrpSpPr/>
            <p:nvPr/>
          </p:nvGrpSpPr>
          <p:grpSpPr>
            <a:xfrm>
              <a:off x="13698" y="8088"/>
              <a:ext cx="1053" cy="1033"/>
              <a:chOff x="13699" y="8088"/>
              <a:chExt cx="1053" cy="1033"/>
            </a:xfrm>
          </p:grpSpPr>
          <p:sp>
            <p:nvSpPr>
              <p:cNvPr id="175" name="TextBox 69"/>
              <p:cNvSpPr txBox="1"/>
              <p:nvPr/>
            </p:nvSpPr>
            <p:spPr>
              <a:xfrm>
                <a:off x="13699" y="8712"/>
                <a:ext cx="1053" cy="409"/>
              </a:xfrm>
              <a:prstGeom prst="rect">
                <a:avLst/>
              </a:prstGeom>
              <a:noFill/>
            </p:spPr>
            <p:txBody>
              <a:bodyPr wrap="square" anchor="t">
                <a:noAutofit/>
              </a:bodyPr>
              <a:lstStyle/>
              <a:p>
                <a:pPr algn="ctr"/>
                <a:r>
                  <a:rPr sz="1200" b="0">
                    <a:solidFill>
                      <a:srgbClr val="1E1E1E"/>
                    </a:solidFill>
                    <a:latin typeface="Times New Roman" panose="02020603050405020304" charset="0"/>
                    <a:ea typeface="微软雅黑" panose="020B0503020204020204" charset="-122"/>
                  </a:rPr>
                  <a:t>智能屏</a:t>
                </a:r>
              </a:p>
            </p:txBody>
          </p:sp>
          <p:pic>
            <p:nvPicPr>
              <p:cNvPr id="201" name="Picture 1" descr="3515df28-a515-595d-92b4-cae66fd01fd3.png"/>
              <p:cNvPicPr>
                <a:picLocks noChangeAspect="1"/>
              </p:cNvPicPr>
              <p:nvPr/>
            </p:nvPicPr>
            <p:blipFill>
              <a:blip r:embed="rId9"/>
              <a:srcRect l="61939" t="56639" r="34724" b="38688"/>
              <a:stretch>
                <a:fillRect/>
              </a:stretch>
            </p:blipFill>
            <p:spPr>
              <a:xfrm>
                <a:off x="13869" y="8088"/>
                <a:ext cx="680" cy="573"/>
              </a:xfrm>
              <a:prstGeom prst="rect">
                <a:avLst/>
              </a:prstGeom>
            </p:spPr>
          </p:pic>
        </p:grpSp>
        <p:grpSp>
          <p:nvGrpSpPr>
            <p:cNvPr id="221" name="组合 220"/>
            <p:cNvGrpSpPr/>
            <p:nvPr/>
          </p:nvGrpSpPr>
          <p:grpSpPr>
            <a:xfrm>
              <a:off x="12010" y="8088"/>
              <a:ext cx="1111" cy="1033"/>
              <a:chOff x="12011" y="8088"/>
              <a:chExt cx="1111" cy="1033"/>
            </a:xfrm>
          </p:grpSpPr>
          <p:sp>
            <p:nvSpPr>
              <p:cNvPr id="173" name="TextBox 67"/>
              <p:cNvSpPr txBox="1"/>
              <p:nvPr/>
            </p:nvSpPr>
            <p:spPr>
              <a:xfrm>
                <a:off x="12011" y="8712"/>
                <a:ext cx="1111" cy="409"/>
              </a:xfrm>
              <a:prstGeom prst="rect">
                <a:avLst/>
              </a:prstGeom>
              <a:noFill/>
            </p:spPr>
            <p:txBody>
              <a:bodyPr wrap="square" anchor="t">
                <a:noAutofit/>
              </a:bodyPr>
              <a:lstStyle/>
              <a:p>
                <a:pPr algn="ctr"/>
                <a:r>
                  <a:rPr sz="1200" b="0">
                    <a:solidFill>
                      <a:srgbClr val="1E1E1E"/>
                    </a:solidFill>
                    <a:latin typeface="Times New Roman" panose="02020603050405020304" charset="0"/>
                    <a:ea typeface="微软雅黑" panose="020B0503020204020204" charset="-122"/>
                  </a:rPr>
                  <a:t>机器人</a:t>
                </a:r>
              </a:p>
            </p:txBody>
          </p:sp>
          <p:pic>
            <p:nvPicPr>
              <p:cNvPr id="202" name="Picture 1" descr="3515df28-a515-595d-92b4-cae66fd01fd3.png"/>
              <p:cNvPicPr>
                <a:picLocks noChangeAspect="1"/>
              </p:cNvPicPr>
              <p:nvPr/>
            </p:nvPicPr>
            <p:blipFill>
              <a:blip r:embed="rId9"/>
              <a:srcRect l="54402" t="56347" r="42515" b="38292"/>
              <a:stretch>
                <a:fillRect/>
              </a:stretch>
            </p:blipFill>
            <p:spPr>
              <a:xfrm>
                <a:off x="12181" y="8088"/>
                <a:ext cx="680" cy="573"/>
              </a:xfrm>
              <a:prstGeom prst="rect">
                <a:avLst/>
              </a:prstGeom>
            </p:spPr>
          </p:pic>
        </p:grpSp>
        <p:grpSp>
          <p:nvGrpSpPr>
            <p:cNvPr id="223" name="组合 222"/>
            <p:cNvGrpSpPr/>
            <p:nvPr/>
          </p:nvGrpSpPr>
          <p:grpSpPr>
            <a:xfrm>
              <a:off x="15386" y="8088"/>
              <a:ext cx="1020" cy="1072"/>
              <a:chOff x="15387" y="8088"/>
              <a:chExt cx="1020" cy="1072"/>
            </a:xfrm>
          </p:grpSpPr>
          <p:sp>
            <p:nvSpPr>
              <p:cNvPr id="177" name="TextBox 71"/>
              <p:cNvSpPr txBox="1"/>
              <p:nvPr/>
            </p:nvSpPr>
            <p:spPr>
              <a:xfrm>
                <a:off x="15387" y="8712"/>
                <a:ext cx="1020" cy="448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ctr"/>
                <a:r>
                  <a:rPr sz="1200" b="0">
                    <a:solidFill>
                      <a:srgbClr val="1E1E1E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PLC</a:t>
                </a:r>
              </a:p>
            </p:txBody>
          </p:sp>
          <p:pic>
            <p:nvPicPr>
              <p:cNvPr id="204" name="Picture 1" descr="3515df28-a515-595d-92b4-cae66fd01fd3.png"/>
              <p:cNvPicPr>
                <a:picLocks noChangeAspect="1"/>
              </p:cNvPicPr>
              <p:nvPr/>
            </p:nvPicPr>
            <p:blipFill>
              <a:blip r:embed="rId9"/>
              <a:srcRect l="69835" t="56511" r="26972" b="38816"/>
              <a:stretch>
                <a:fillRect/>
              </a:stretch>
            </p:blipFill>
            <p:spPr>
              <a:xfrm>
                <a:off x="15557" y="8088"/>
                <a:ext cx="680" cy="573"/>
              </a:xfrm>
              <a:prstGeom prst="rect">
                <a:avLst/>
              </a:prstGeom>
            </p:spPr>
          </p:pic>
        </p:grpSp>
        <p:grpSp>
          <p:nvGrpSpPr>
            <p:cNvPr id="224" name="组合 223"/>
            <p:cNvGrpSpPr/>
            <p:nvPr/>
          </p:nvGrpSpPr>
          <p:grpSpPr>
            <a:xfrm>
              <a:off x="17074" y="8105"/>
              <a:ext cx="1111" cy="999"/>
              <a:chOff x="17075" y="8122"/>
              <a:chExt cx="1111" cy="999"/>
            </a:xfrm>
          </p:grpSpPr>
          <p:pic>
            <p:nvPicPr>
              <p:cNvPr id="203" name="Picture 1" descr="3515df28-a515-595d-92b4-cae66fd01fd3.png"/>
              <p:cNvPicPr>
                <a:picLocks noChangeAspect="1"/>
              </p:cNvPicPr>
              <p:nvPr/>
            </p:nvPicPr>
            <p:blipFill>
              <a:blip r:embed="rId9"/>
              <a:srcRect l="77622" t="56458" r="18874" b="39112"/>
              <a:stretch>
                <a:fillRect/>
              </a:stretch>
            </p:blipFill>
            <p:spPr>
              <a:xfrm>
                <a:off x="17247" y="8122"/>
                <a:ext cx="680" cy="573"/>
              </a:xfrm>
              <a:prstGeom prst="rect">
                <a:avLst/>
              </a:prstGeom>
            </p:spPr>
          </p:pic>
          <p:sp>
            <p:nvSpPr>
              <p:cNvPr id="209" name="TextBox 71"/>
              <p:cNvSpPr txBox="1"/>
              <p:nvPr/>
            </p:nvSpPr>
            <p:spPr>
              <a:xfrm>
                <a:off x="17075" y="8712"/>
                <a:ext cx="1111" cy="409"/>
              </a:xfrm>
              <a:prstGeom prst="rect">
                <a:avLst/>
              </a:prstGeom>
              <a:noFill/>
            </p:spPr>
            <p:txBody>
              <a:bodyPr wrap="square" anchor="t">
                <a:noAutofit/>
              </a:bodyPr>
              <a:lstStyle/>
              <a:p>
                <a:pPr algn="ctr"/>
                <a:r>
                  <a:rPr lang="zh-CN" sz="1200" b="0">
                    <a:solidFill>
                      <a:srgbClr val="1E1E1E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传感器</a:t>
                </a:r>
              </a:p>
            </p:txBody>
          </p:sp>
        </p:grpSp>
      </p:grpSp>
      <p:grpSp>
        <p:nvGrpSpPr>
          <p:cNvPr id="249" name="组合 248"/>
          <p:cNvGrpSpPr/>
          <p:nvPr/>
        </p:nvGrpSpPr>
        <p:grpSpPr>
          <a:xfrm>
            <a:off x="3377565" y="3415665"/>
            <a:ext cx="5437505" cy="727075"/>
            <a:chOff x="8986" y="5062"/>
            <a:chExt cx="8834" cy="1181"/>
          </a:xfrm>
        </p:grpSpPr>
        <p:sp>
          <p:nvSpPr>
            <p:cNvPr id="161" name="Rectangle 53"/>
            <p:cNvSpPr/>
            <p:nvPr/>
          </p:nvSpPr>
          <p:spPr>
            <a:xfrm>
              <a:off x="10650" y="5224"/>
              <a:ext cx="28" cy="844"/>
            </a:xfrm>
            <a:prstGeom prst="rect">
              <a:avLst/>
            </a:prstGeom>
            <a:solidFill>
              <a:srgbClr val="E1E4E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</p:txBody>
        </p:sp>
        <p:sp>
          <p:nvSpPr>
            <p:cNvPr id="162" name="Rectangle 54"/>
            <p:cNvSpPr/>
            <p:nvPr/>
          </p:nvSpPr>
          <p:spPr>
            <a:xfrm>
              <a:off x="12476" y="5224"/>
              <a:ext cx="28" cy="844"/>
            </a:xfrm>
            <a:prstGeom prst="rect">
              <a:avLst/>
            </a:prstGeom>
            <a:solidFill>
              <a:srgbClr val="E1E4E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</p:txBody>
        </p:sp>
        <p:sp>
          <p:nvSpPr>
            <p:cNvPr id="163" name="Rectangle 55"/>
            <p:cNvSpPr/>
            <p:nvPr/>
          </p:nvSpPr>
          <p:spPr>
            <a:xfrm>
              <a:off x="14302" y="5224"/>
              <a:ext cx="28" cy="844"/>
            </a:xfrm>
            <a:prstGeom prst="rect">
              <a:avLst/>
            </a:prstGeom>
            <a:solidFill>
              <a:srgbClr val="E1E4E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</p:txBody>
        </p:sp>
        <p:sp>
          <p:nvSpPr>
            <p:cNvPr id="164" name="Rectangle 56"/>
            <p:cNvSpPr/>
            <p:nvPr/>
          </p:nvSpPr>
          <p:spPr>
            <a:xfrm>
              <a:off x="16128" y="5224"/>
              <a:ext cx="28" cy="844"/>
            </a:xfrm>
            <a:prstGeom prst="rect">
              <a:avLst/>
            </a:prstGeom>
            <a:solidFill>
              <a:srgbClr val="E1E4E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</p:txBody>
        </p:sp>
        <p:grpSp>
          <p:nvGrpSpPr>
            <p:cNvPr id="230" name="组合 229"/>
            <p:cNvGrpSpPr/>
            <p:nvPr/>
          </p:nvGrpSpPr>
          <p:grpSpPr>
            <a:xfrm>
              <a:off x="8986" y="5062"/>
              <a:ext cx="1531" cy="1181"/>
              <a:chOff x="8986" y="5062"/>
              <a:chExt cx="1531" cy="1181"/>
            </a:xfrm>
          </p:grpSpPr>
          <p:sp>
            <p:nvSpPr>
              <p:cNvPr id="151" name="TextBox 44"/>
              <p:cNvSpPr txBox="1"/>
              <p:nvPr/>
            </p:nvSpPr>
            <p:spPr>
              <a:xfrm>
                <a:off x="8986" y="5795"/>
                <a:ext cx="1531" cy="448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ctr"/>
                <a:r>
                  <a:rPr sz="1200" b="0">
                    <a:solidFill>
                      <a:srgbClr val="1E1E1E"/>
                    </a:solidFill>
                    <a:latin typeface="Times New Roman" panose="02020603050405020304" charset="0"/>
                    <a:ea typeface="微软雅黑" panose="020B0503020204020204" charset="-122"/>
                  </a:rPr>
                  <a:t>实时推理</a:t>
                </a:r>
              </a:p>
            </p:txBody>
          </p:sp>
          <p:pic>
            <p:nvPicPr>
              <p:cNvPr id="150" name="Picture 43" descr="edge1.png"/>
              <p:cNvPicPr>
                <a:picLocks noChangeAspect="1"/>
              </p:cNvPicPr>
              <p:nvPr/>
            </p:nvPicPr>
            <p:blipFill>
              <a:blip r:embed="rId10"/>
              <a:srcRect l="12218" t="17889" r="32134" b="26048"/>
              <a:stretch>
                <a:fillRect/>
              </a:stretch>
            </p:blipFill>
            <p:spPr>
              <a:xfrm>
                <a:off x="9392" y="5062"/>
                <a:ext cx="719" cy="749"/>
              </a:xfrm>
              <a:prstGeom prst="rect">
                <a:avLst/>
              </a:prstGeom>
            </p:spPr>
          </p:pic>
        </p:grpSp>
        <p:grpSp>
          <p:nvGrpSpPr>
            <p:cNvPr id="229" name="组合 228"/>
            <p:cNvGrpSpPr/>
            <p:nvPr/>
          </p:nvGrpSpPr>
          <p:grpSpPr>
            <a:xfrm>
              <a:off x="10812" y="5062"/>
              <a:ext cx="1638" cy="1142"/>
              <a:chOff x="10812" y="5062"/>
              <a:chExt cx="1638" cy="1142"/>
            </a:xfrm>
          </p:grpSpPr>
          <p:sp>
            <p:nvSpPr>
              <p:cNvPr id="154" name="TextBox 46"/>
              <p:cNvSpPr txBox="1"/>
              <p:nvPr/>
            </p:nvSpPr>
            <p:spPr>
              <a:xfrm>
                <a:off x="10812" y="5795"/>
                <a:ext cx="1638" cy="409"/>
              </a:xfrm>
              <a:prstGeom prst="rect">
                <a:avLst/>
              </a:prstGeom>
              <a:noFill/>
            </p:spPr>
            <p:txBody>
              <a:bodyPr wrap="square" anchor="t">
                <a:noAutofit/>
              </a:bodyPr>
              <a:lstStyle/>
              <a:p>
                <a:pPr algn="ctr"/>
                <a:r>
                  <a:rPr sz="1200" b="0">
                    <a:solidFill>
                      <a:srgbClr val="1E1E1E"/>
                    </a:solidFill>
                    <a:latin typeface="Times New Roman" panose="02020603050405020304" charset="0"/>
                    <a:ea typeface="微软雅黑" panose="020B0503020204020204" charset="-122"/>
                  </a:rPr>
                  <a:t>多设备协同</a:t>
                </a:r>
              </a:p>
            </p:txBody>
          </p:sp>
          <p:pic>
            <p:nvPicPr>
              <p:cNvPr id="152" name="Picture 45" descr="edge2.png"/>
              <p:cNvPicPr>
                <a:picLocks noChangeAspect="1"/>
              </p:cNvPicPr>
              <p:nvPr/>
            </p:nvPicPr>
            <p:blipFill>
              <a:blip r:embed="rId11"/>
              <a:srcRect l="10628" t="17889" r="28201" b="26048"/>
              <a:stretch>
                <a:fillRect/>
              </a:stretch>
            </p:blipFill>
            <p:spPr>
              <a:xfrm>
                <a:off x="11217" y="5062"/>
                <a:ext cx="719" cy="749"/>
              </a:xfrm>
              <a:prstGeom prst="rect">
                <a:avLst/>
              </a:prstGeom>
            </p:spPr>
          </p:pic>
        </p:grpSp>
        <p:grpSp>
          <p:nvGrpSpPr>
            <p:cNvPr id="228" name="组合 227"/>
            <p:cNvGrpSpPr/>
            <p:nvPr/>
          </p:nvGrpSpPr>
          <p:grpSpPr>
            <a:xfrm>
              <a:off x="12638" y="5062"/>
              <a:ext cx="1638" cy="1142"/>
              <a:chOff x="12637" y="5062"/>
              <a:chExt cx="1638" cy="1142"/>
            </a:xfrm>
          </p:grpSpPr>
          <p:sp>
            <p:nvSpPr>
              <p:cNvPr id="156" name="TextBox 48"/>
              <p:cNvSpPr txBox="1"/>
              <p:nvPr/>
            </p:nvSpPr>
            <p:spPr>
              <a:xfrm>
                <a:off x="12637" y="5795"/>
                <a:ext cx="1638" cy="409"/>
              </a:xfrm>
              <a:prstGeom prst="rect">
                <a:avLst/>
              </a:prstGeom>
              <a:noFill/>
            </p:spPr>
            <p:txBody>
              <a:bodyPr wrap="square" anchor="t">
                <a:noAutofit/>
              </a:bodyPr>
              <a:lstStyle/>
              <a:p>
                <a:pPr algn="ctr"/>
                <a:r>
                  <a:rPr sz="1200" b="0">
                    <a:solidFill>
                      <a:srgbClr val="1E1E1E"/>
                    </a:solidFill>
                    <a:latin typeface="Times New Roman" panose="02020603050405020304" charset="0"/>
                    <a:ea typeface="微软雅黑" panose="020B0503020204020204" charset="-122"/>
                  </a:rPr>
                  <a:t>本地知识库</a:t>
                </a:r>
              </a:p>
            </p:txBody>
          </p:sp>
          <p:pic>
            <p:nvPicPr>
              <p:cNvPr id="155" name="Picture 47" descr="edge3.png"/>
              <p:cNvPicPr>
                <a:picLocks noChangeAspect="1"/>
              </p:cNvPicPr>
              <p:nvPr/>
            </p:nvPicPr>
            <p:blipFill>
              <a:blip r:embed="rId12"/>
              <a:srcRect l="17573" t="17889" r="28285" b="26048"/>
              <a:stretch>
                <a:fillRect/>
              </a:stretch>
            </p:blipFill>
            <p:spPr>
              <a:xfrm>
                <a:off x="13042" y="5062"/>
                <a:ext cx="719" cy="749"/>
              </a:xfrm>
              <a:prstGeom prst="rect">
                <a:avLst/>
              </a:prstGeom>
            </p:spPr>
          </p:pic>
        </p:grpSp>
        <p:grpSp>
          <p:nvGrpSpPr>
            <p:cNvPr id="227" name="组合 226"/>
            <p:cNvGrpSpPr/>
            <p:nvPr/>
          </p:nvGrpSpPr>
          <p:grpSpPr>
            <a:xfrm>
              <a:off x="14464" y="5062"/>
              <a:ext cx="1530" cy="1181"/>
              <a:chOff x="14462" y="5062"/>
              <a:chExt cx="1530" cy="1181"/>
            </a:xfrm>
          </p:grpSpPr>
          <p:sp>
            <p:nvSpPr>
              <p:cNvPr id="158" name="TextBox 50"/>
              <p:cNvSpPr txBox="1"/>
              <p:nvPr/>
            </p:nvSpPr>
            <p:spPr>
              <a:xfrm>
                <a:off x="14462" y="5795"/>
                <a:ext cx="1530" cy="448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ctr"/>
                <a:r>
                  <a:rPr sz="1200" b="0">
                    <a:solidFill>
                      <a:srgbClr val="1E1E1E"/>
                    </a:solidFill>
                    <a:latin typeface="Times New Roman" panose="02020603050405020304" charset="0"/>
                    <a:ea typeface="微软雅黑" panose="020B0503020204020204" charset="-122"/>
                  </a:rPr>
                  <a:t>智能调度</a:t>
                </a:r>
              </a:p>
            </p:txBody>
          </p:sp>
          <p:pic>
            <p:nvPicPr>
              <p:cNvPr id="157" name="Picture 49" descr="edge4.png"/>
              <p:cNvPicPr>
                <a:picLocks noChangeAspect="1"/>
              </p:cNvPicPr>
              <p:nvPr/>
            </p:nvPicPr>
            <p:blipFill>
              <a:blip r:embed="rId13"/>
              <a:srcRect l="21172" t="17889" r="18828" b="26048"/>
              <a:stretch>
                <a:fillRect/>
              </a:stretch>
            </p:blipFill>
            <p:spPr>
              <a:xfrm>
                <a:off x="14867" y="5062"/>
                <a:ext cx="719" cy="749"/>
              </a:xfrm>
              <a:prstGeom prst="rect">
                <a:avLst/>
              </a:prstGeom>
            </p:spPr>
          </p:pic>
        </p:grpSp>
        <p:grpSp>
          <p:nvGrpSpPr>
            <p:cNvPr id="226" name="组合 225"/>
            <p:cNvGrpSpPr/>
            <p:nvPr/>
          </p:nvGrpSpPr>
          <p:grpSpPr>
            <a:xfrm>
              <a:off x="16290" y="5062"/>
              <a:ext cx="1530" cy="1181"/>
              <a:chOff x="16287" y="5062"/>
              <a:chExt cx="1530" cy="1181"/>
            </a:xfrm>
          </p:grpSpPr>
          <p:sp>
            <p:nvSpPr>
              <p:cNvPr id="160" name="TextBox 52"/>
              <p:cNvSpPr txBox="1"/>
              <p:nvPr/>
            </p:nvSpPr>
            <p:spPr>
              <a:xfrm>
                <a:off x="16287" y="5795"/>
                <a:ext cx="1530" cy="448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ctr"/>
                <a:r>
                  <a:rPr sz="1200" b="0">
                    <a:solidFill>
                      <a:srgbClr val="1E1E1E"/>
                    </a:solidFill>
                    <a:latin typeface="Times New Roman" panose="02020603050405020304" charset="0"/>
                    <a:ea typeface="微软雅黑" panose="020B0503020204020204" charset="-122"/>
                  </a:rPr>
                  <a:t>缓存加速</a:t>
                </a:r>
              </a:p>
            </p:txBody>
          </p:sp>
          <p:pic>
            <p:nvPicPr>
              <p:cNvPr id="159" name="Picture 51" descr="edge5.png"/>
              <p:cNvPicPr>
                <a:picLocks noChangeAspect="1"/>
              </p:cNvPicPr>
              <p:nvPr/>
            </p:nvPicPr>
            <p:blipFill>
              <a:blip r:embed="rId14"/>
              <a:srcRect l="25690" t="17889" r="14142" b="26048"/>
              <a:stretch>
                <a:fillRect/>
              </a:stretch>
            </p:blipFill>
            <p:spPr>
              <a:xfrm>
                <a:off x="16690" y="5062"/>
                <a:ext cx="719" cy="749"/>
              </a:xfrm>
              <a:prstGeom prst="rect">
                <a:avLst/>
              </a:prstGeom>
            </p:spPr>
          </p:pic>
        </p:grpSp>
      </p:grpSp>
      <p:grpSp>
        <p:nvGrpSpPr>
          <p:cNvPr id="212" name="组合 211"/>
          <p:cNvGrpSpPr/>
          <p:nvPr/>
        </p:nvGrpSpPr>
        <p:grpSpPr>
          <a:xfrm>
            <a:off x="4602480" y="2854325"/>
            <a:ext cx="2988310" cy="424180"/>
            <a:chOff x="7722" y="4495"/>
            <a:chExt cx="4706" cy="668"/>
          </a:xfrm>
        </p:grpSpPr>
        <p:sp>
          <p:nvSpPr>
            <p:cNvPr id="148" name="Rounded Rectangle 41"/>
            <p:cNvSpPr/>
            <p:nvPr/>
          </p:nvSpPr>
          <p:spPr>
            <a:xfrm>
              <a:off x="7826" y="4495"/>
              <a:ext cx="4499" cy="668"/>
            </a:xfrm>
            <a:prstGeom prst="roundRect">
              <a:avLst/>
            </a:prstGeom>
            <a:solidFill>
              <a:srgbClr val="08A1A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</p:txBody>
        </p:sp>
        <p:sp>
          <p:nvSpPr>
            <p:cNvPr id="149" name="TextBox 42"/>
            <p:cNvSpPr txBox="1"/>
            <p:nvPr/>
          </p:nvSpPr>
          <p:spPr>
            <a:xfrm>
              <a:off x="7722" y="4546"/>
              <a:ext cx="4706" cy="567"/>
            </a:xfrm>
            <a:prstGeom prst="rect">
              <a:avLst/>
            </a:prstGeom>
            <a:noFill/>
          </p:spPr>
          <p:txBody>
            <a:bodyPr wrap="square" anchor="t">
              <a:noAutofit/>
            </a:bodyPr>
            <a:lstStyle/>
            <a:p>
              <a:pPr algn="ctr"/>
              <a:r>
                <a:rPr b="1">
                  <a:solidFill>
                    <a:srgbClr val="FFFFFF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边</a:t>
              </a:r>
              <a:r>
                <a:rPr lang="zh-CN" b="1">
                  <a:solidFill>
                    <a:srgbClr val="FFFFFF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缘侧</a:t>
              </a:r>
              <a:r>
                <a:rPr b="1">
                  <a:solidFill>
                    <a:srgbClr val="FFFFFF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Edge · 本地智能</a:t>
              </a:r>
              <a:r>
                <a:rPr lang="zh-CN" altLang="en-US" b="1">
                  <a:solidFill>
                    <a:srgbClr val="FFFFFF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网关</a:t>
              </a:r>
            </a:p>
          </p:txBody>
        </p:sp>
      </p:grpSp>
      <p:grpSp>
        <p:nvGrpSpPr>
          <p:cNvPr id="413" name="组合 412"/>
          <p:cNvGrpSpPr/>
          <p:nvPr/>
        </p:nvGrpSpPr>
        <p:grpSpPr>
          <a:xfrm>
            <a:off x="172720" y="967105"/>
            <a:ext cx="2675890" cy="4961255"/>
            <a:chOff x="272" y="1523"/>
            <a:chExt cx="4214" cy="7813"/>
          </a:xfrm>
        </p:grpSpPr>
        <p:sp>
          <p:nvSpPr>
            <p:cNvPr id="108" name="Shape 8"/>
            <p:cNvSpPr/>
            <p:nvPr/>
          </p:nvSpPr>
          <p:spPr>
            <a:xfrm>
              <a:off x="272" y="1714"/>
              <a:ext cx="4214" cy="7622"/>
            </a:xfrm>
            <a:prstGeom prst="roundRect">
              <a:avLst>
                <a:gd name="adj" fmla="val 3896"/>
              </a:avLst>
            </a:prstGeom>
            <a:solidFill>
              <a:srgbClr val="F6FBFF">
                <a:alpha val="95000"/>
              </a:srgbClr>
            </a:solidFill>
            <a:ln w="12700">
              <a:solidFill>
                <a:srgbClr val="A8D2FF"/>
              </a:solidFill>
              <a:prstDash val="solid"/>
            </a:ln>
            <a:effectLst>
              <a:outerShdw blurRad="15240" dist="5080" dir="2700000" algn="bl" rotWithShape="0">
                <a:srgbClr val="6B88B5">
                  <a:alpha val="18000"/>
                </a:srgbClr>
              </a:outerShdw>
            </a:effectLst>
          </p:spPr>
        </p:sp>
        <p:sp>
          <p:nvSpPr>
            <p:cNvPr id="105" name="Shape 9"/>
            <p:cNvSpPr/>
            <p:nvPr/>
          </p:nvSpPr>
          <p:spPr>
            <a:xfrm>
              <a:off x="820" y="1523"/>
              <a:ext cx="3119" cy="657"/>
            </a:xfrm>
            <a:prstGeom prst="roundRect">
              <a:avLst>
                <a:gd name="adj" fmla="val 25000"/>
              </a:avLst>
            </a:prstGeom>
            <a:solidFill>
              <a:srgbClr val="0E4CBA"/>
            </a:solidFill>
            <a:ln w="12700">
              <a:noFill/>
              <a:prstDash val="solid"/>
            </a:ln>
            <a:effectLst>
              <a:outerShdw blurRad="12700" dist="6350" dir="2700000" algn="bl" rotWithShape="0">
                <a:srgbClr val="2C6CCB">
                  <a:alpha val="20000"/>
                </a:srgbClr>
              </a:outerShdw>
            </a:effectLst>
          </p:spPr>
        </p:sp>
        <p:sp>
          <p:nvSpPr>
            <p:cNvPr id="106" name="Text 10"/>
            <p:cNvSpPr txBox="1"/>
            <p:nvPr/>
          </p:nvSpPr>
          <p:spPr>
            <a:xfrm>
              <a:off x="820" y="1536"/>
              <a:ext cx="3119" cy="62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Times New Roman" panose="02020603050405020304" charset="0"/>
                  <a:ea typeface="微软雅黑" panose="020B0503020204020204" charset="-122"/>
                  <a:cs typeface="Noto Sans CJK SC" pitchFamily="34" charset="-120"/>
                </a:rPr>
                <a:t>建设</a:t>
              </a:r>
              <a:r>
                <a:rPr lang="zh-CN" altLang="en-US" sz="1800" b="1" dirty="0">
                  <a:solidFill>
                    <a:srgbClr val="FFFFFF"/>
                  </a:solidFill>
                  <a:latin typeface="Times New Roman" panose="02020603050405020304" charset="0"/>
                  <a:ea typeface="微软雅黑" panose="020B0503020204020204" charset="-122"/>
                  <a:cs typeface="Noto Sans CJK SC" pitchFamily="34" charset="-120"/>
                </a:rPr>
                <a:t>目标</a:t>
              </a:r>
            </a:p>
          </p:txBody>
        </p:sp>
        <p:grpSp>
          <p:nvGrpSpPr>
            <p:cNvPr id="412" name="组合 411"/>
            <p:cNvGrpSpPr/>
            <p:nvPr/>
          </p:nvGrpSpPr>
          <p:grpSpPr>
            <a:xfrm>
              <a:off x="653" y="2636"/>
              <a:ext cx="3452" cy="6231"/>
              <a:chOff x="510" y="2636"/>
              <a:chExt cx="3452" cy="6231"/>
            </a:xfrm>
          </p:grpSpPr>
          <p:grpSp>
            <p:nvGrpSpPr>
              <p:cNvPr id="408" name="组合 407"/>
              <p:cNvGrpSpPr/>
              <p:nvPr/>
            </p:nvGrpSpPr>
            <p:grpSpPr>
              <a:xfrm>
                <a:off x="510" y="2636"/>
                <a:ext cx="3453" cy="1080"/>
                <a:chOff x="510" y="2636"/>
                <a:chExt cx="3453" cy="1080"/>
              </a:xfrm>
            </p:grpSpPr>
            <p:pic>
              <p:nvPicPr>
                <p:cNvPr id="116" name="Image 0" descr="/mnt/data/ppt_assets_cloud_edge/left1.png"/>
                <p:cNvPicPr>
                  <a:picLocks noChangeAspect="1"/>
                </p:cNvPicPr>
                <p:nvPr/>
              </p:nvPicPr>
              <p:blipFill>
                <a:blip r:embed="rId15"/>
                <a:srcRect l="935" r="934"/>
                <a:stretch>
                  <a:fillRect/>
                </a:stretch>
              </p:blipFill>
              <p:spPr>
                <a:xfrm>
                  <a:off x="510" y="2636"/>
                  <a:ext cx="737" cy="737"/>
                </a:xfrm>
                <a:prstGeom prst="rect">
                  <a:avLst/>
                </a:prstGeom>
              </p:spPr>
            </p:pic>
            <p:grpSp>
              <p:nvGrpSpPr>
                <p:cNvPr id="252" name="组合 251"/>
                <p:cNvGrpSpPr/>
                <p:nvPr/>
              </p:nvGrpSpPr>
              <p:grpSpPr>
                <a:xfrm>
                  <a:off x="1415" y="2636"/>
                  <a:ext cx="2548" cy="1080"/>
                  <a:chOff x="1843" y="2563"/>
                  <a:chExt cx="2682" cy="1137"/>
                </a:xfrm>
              </p:grpSpPr>
              <p:sp>
                <p:nvSpPr>
                  <p:cNvPr id="120" name="Text 12"/>
                  <p:cNvSpPr txBox="1"/>
                  <p:nvPr/>
                </p:nvSpPr>
                <p:spPr>
                  <a:xfrm>
                    <a:off x="1843" y="2563"/>
                    <a:ext cx="2131" cy="40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/>
                  <a:lstStyle/>
                  <a:p>
                    <a:pPr marL="0" indent="0" algn="l">
                      <a:buNone/>
                    </a:pPr>
                    <a:r>
                      <a:rPr lang="en-US" sz="1600" b="1" dirty="0">
                        <a:solidFill>
                          <a:srgbClr val="0B2B75"/>
                        </a:solidFill>
                        <a:latin typeface="Times New Roman" panose="02020603050405020304" charset="0"/>
                        <a:ea typeface="微软雅黑" panose="020B0503020204020204" charset="-122"/>
                        <a:cs typeface="Noto Sans CJK SC" pitchFamily="34" charset="-120"/>
                      </a:rPr>
                      <a:t>实时响应</a:t>
                    </a:r>
                  </a:p>
                </p:txBody>
              </p:sp>
              <p:sp>
                <p:nvSpPr>
                  <p:cNvPr id="121" name="Text 13"/>
                  <p:cNvSpPr txBox="1"/>
                  <p:nvPr/>
                </p:nvSpPr>
                <p:spPr>
                  <a:xfrm>
                    <a:off x="1843" y="3038"/>
                    <a:ext cx="2682" cy="662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t"/>
                  <a:lstStyle/>
                  <a:p>
                    <a:pPr marL="0" indent="0" algn="l">
                      <a:buNone/>
                    </a:pPr>
                    <a:r>
                      <a:rPr lang="en-US" sz="1200" dirty="0">
                        <a:solidFill>
                          <a:srgbClr val="18366A"/>
                        </a:solidFill>
                        <a:latin typeface="Times New Roman" panose="02020603050405020304" charset="0"/>
                        <a:ea typeface="微软雅黑" panose="020B0503020204020204" charset="-122"/>
                        <a:cs typeface="Noto Sans CJK SC" pitchFamily="34" charset="-120"/>
                      </a:rPr>
                      <a:t>关键任务本地完成</a:t>
                    </a:r>
                    <a:r>
                      <a:rPr lang="zh-CN" altLang="en-US" sz="1200" dirty="0">
                        <a:solidFill>
                          <a:srgbClr val="18366A"/>
                        </a:solidFill>
                        <a:latin typeface="Times New Roman" panose="02020603050405020304" charset="0"/>
                        <a:ea typeface="微软雅黑" panose="020B0503020204020204" charset="-122"/>
                        <a:cs typeface="Noto Sans CJK SC" pitchFamily="34" charset="-120"/>
                      </a:rPr>
                      <a:t>，</a:t>
                    </a:r>
                    <a:r>
                      <a:rPr lang="en-US" sz="1200" dirty="0">
                        <a:solidFill>
                          <a:srgbClr val="18366A"/>
                        </a:solidFill>
                        <a:latin typeface="Times New Roman" panose="02020603050405020304" charset="0"/>
                        <a:ea typeface="微软雅黑" panose="020B0503020204020204" charset="-122"/>
                        <a:cs typeface="Noto Sans CJK SC" pitchFamily="34" charset="-120"/>
                      </a:rPr>
                      <a:t>毫秒级响应，体验更流畅</a:t>
                    </a:r>
                  </a:p>
                </p:txBody>
              </p:sp>
            </p:grpSp>
          </p:grpSp>
          <p:grpSp>
            <p:nvGrpSpPr>
              <p:cNvPr id="409" name="组合 408"/>
              <p:cNvGrpSpPr/>
              <p:nvPr/>
            </p:nvGrpSpPr>
            <p:grpSpPr>
              <a:xfrm>
                <a:off x="510" y="4353"/>
                <a:ext cx="3453" cy="1080"/>
                <a:chOff x="510" y="4378"/>
                <a:chExt cx="3453" cy="1080"/>
              </a:xfrm>
            </p:grpSpPr>
            <p:grpSp>
              <p:nvGrpSpPr>
                <p:cNvPr id="259" name="组合 258"/>
                <p:cNvGrpSpPr/>
                <p:nvPr/>
              </p:nvGrpSpPr>
              <p:grpSpPr>
                <a:xfrm>
                  <a:off x="1415" y="4378"/>
                  <a:ext cx="2548" cy="1080"/>
                  <a:chOff x="1843" y="4378"/>
                  <a:chExt cx="2682" cy="1137"/>
                </a:xfrm>
              </p:grpSpPr>
              <p:sp>
                <p:nvSpPr>
                  <p:cNvPr id="122" name="Text 15"/>
                  <p:cNvSpPr txBox="1"/>
                  <p:nvPr/>
                </p:nvSpPr>
                <p:spPr>
                  <a:xfrm>
                    <a:off x="1843" y="4378"/>
                    <a:ext cx="2131" cy="40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/>
                  <a:lstStyle/>
                  <a:p>
                    <a:pPr marL="0" indent="0" algn="l">
                      <a:buNone/>
                    </a:pPr>
                    <a:r>
                      <a:rPr lang="en-US" sz="1600" b="1" dirty="0">
                        <a:solidFill>
                          <a:srgbClr val="0B2B75"/>
                        </a:solidFill>
                        <a:latin typeface="Times New Roman" panose="02020603050405020304" charset="0"/>
                        <a:ea typeface="微软雅黑" panose="020B0503020204020204" charset="-122"/>
                        <a:cs typeface="Noto Sans CJK SC" pitchFamily="34" charset="-120"/>
                      </a:rPr>
                      <a:t>数据安全</a:t>
                    </a:r>
                  </a:p>
                </p:txBody>
              </p:sp>
              <p:sp>
                <p:nvSpPr>
                  <p:cNvPr id="123" name="Text 16"/>
                  <p:cNvSpPr txBox="1"/>
                  <p:nvPr/>
                </p:nvSpPr>
                <p:spPr>
                  <a:xfrm>
                    <a:off x="1843" y="4853"/>
                    <a:ext cx="2682" cy="662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t"/>
                  <a:lstStyle/>
                  <a:p>
                    <a:pPr marL="0" indent="0" algn="l">
                      <a:buNone/>
                    </a:pPr>
                    <a:r>
                      <a:rPr lang="en-US" sz="1200" dirty="0">
                        <a:solidFill>
                          <a:srgbClr val="18366A"/>
                        </a:solidFill>
                        <a:latin typeface="Times New Roman" panose="02020603050405020304" charset="0"/>
                        <a:ea typeface="微软雅黑" panose="020B0503020204020204" charset="-122"/>
                        <a:cs typeface="Noto Sans CJK SC" pitchFamily="34" charset="-120"/>
                      </a:rPr>
                      <a:t>敏感数据本地处理，减少云端传输，安全可控</a:t>
                    </a:r>
                  </a:p>
                </p:txBody>
              </p:sp>
            </p:grpSp>
            <p:pic>
              <p:nvPicPr>
                <p:cNvPr id="256" name="Image 0" descr="/mnt/data/ppt_assets_cloud_edge/reference_2x.png"/>
                <p:cNvPicPr>
                  <a:picLocks noChangeAspect="1"/>
                </p:cNvPicPr>
                <p:nvPr/>
              </p:nvPicPr>
              <p:blipFill>
                <a:blip r:embed="rId16"/>
                <a:srcRect l="2431" t="40807" r="91319" b="48082"/>
                <a:stretch>
                  <a:fillRect/>
                </a:stretch>
              </p:blipFill>
              <p:spPr>
                <a:xfrm>
                  <a:off x="510" y="4378"/>
                  <a:ext cx="737" cy="737"/>
                </a:xfrm>
                <a:prstGeom prst="ellipse">
                  <a:avLst/>
                </a:prstGeom>
              </p:spPr>
            </p:pic>
          </p:grpSp>
          <p:grpSp>
            <p:nvGrpSpPr>
              <p:cNvPr id="410" name="组合 409"/>
              <p:cNvGrpSpPr/>
              <p:nvPr/>
            </p:nvGrpSpPr>
            <p:grpSpPr>
              <a:xfrm>
                <a:off x="510" y="6070"/>
                <a:ext cx="3453" cy="1080"/>
                <a:chOff x="510" y="6130"/>
                <a:chExt cx="3453" cy="1080"/>
              </a:xfrm>
            </p:grpSpPr>
            <p:grpSp>
              <p:nvGrpSpPr>
                <p:cNvPr id="254" name="组合 253"/>
                <p:cNvGrpSpPr/>
                <p:nvPr/>
              </p:nvGrpSpPr>
              <p:grpSpPr>
                <a:xfrm>
                  <a:off x="1415" y="6130"/>
                  <a:ext cx="2548" cy="1081"/>
                  <a:chOff x="1843" y="6206"/>
                  <a:chExt cx="2682" cy="1138"/>
                </a:xfrm>
              </p:grpSpPr>
              <p:sp>
                <p:nvSpPr>
                  <p:cNvPr id="124" name="Text 18"/>
                  <p:cNvSpPr txBox="1"/>
                  <p:nvPr/>
                </p:nvSpPr>
                <p:spPr>
                  <a:xfrm>
                    <a:off x="1843" y="6206"/>
                    <a:ext cx="2131" cy="40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/>
                  <a:lstStyle/>
                  <a:p>
                    <a:pPr marL="0" indent="0" algn="l">
                      <a:buNone/>
                    </a:pPr>
                    <a:r>
                      <a:rPr lang="en-US" sz="1600" b="1" dirty="0">
                        <a:solidFill>
                          <a:srgbClr val="0B2B75"/>
                        </a:solidFill>
                        <a:latin typeface="Times New Roman" panose="02020603050405020304" charset="0"/>
                        <a:ea typeface="微软雅黑" panose="020B0503020204020204" charset="-122"/>
                        <a:cs typeface="Noto Sans CJK SC" pitchFamily="34" charset="-120"/>
                      </a:rPr>
                      <a:t>持续进化</a:t>
                    </a:r>
                  </a:p>
                </p:txBody>
              </p:sp>
              <p:sp>
                <p:nvSpPr>
                  <p:cNvPr id="125" name="Text 19"/>
                  <p:cNvSpPr txBox="1"/>
                  <p:nvPr/>
                </p:nvSpPr>
                <p:spPr>
                  <a:xfrm>
                    <a:off x="1843" y="6682"/>
                    <a:ext cx="2682" cy="662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t"/>
                  <a:lstStyle/>
                  <a:p>
                    <a:pPr marL="0" indent="0" algn="l">
                      <a:buNone/>
                    </a:pPr>
                    <a:r>
                      <a:rPr lang="en-US" sz="1200" dirty="0">
                        <a:solidFill>
                          <a:srgbClr val="18366A"/>
                        </a:solidFill>
                        <a:latin typeface="Times New Roman" panose="02020603050405020304" charset="0"/>
                        <a:ea typeface="微软雅黑" panose="020B0503020204020204" charset="-122"/>
                        <a:cs typeface="Noto Sans CJK SC" pitchFamily="34" charset="-120"/>
                      </a:rPr>
                      <a:t>云端持续训练与能力升级，智能水平不断提升</a:t>
                    </a:r>
                  </a:p>
                </p:txBody>
              </p:sp>
            </p:grpSp>
            <p:pic>
              <p:nvPicPr>
                <p:cNvPr id="257" name="Image 0" descr="/mnt/data/ppt_assets_cloud_edge/reference_2x.png"/>
                <p:cNvPicPr>
                  <a:picLocks noChangeAspect="1"/>
                </p:cNvPicPr>
                <p:nvPr/>
              </p:nvPicPr>
              <p:blipFill>
                <a:blip r:embed="rId16"/>
                <a:srcRect l="2431" t="57720" r="91319" b="31169"/>
                <a:stretch>
                  <a:fillRect/>
                </a:stretch>
              </p:blipFill>
              <p:spPr>
                <a:xfrm>
                  <a:off x="510" y="6130"/>
                  <a:ext cx="737" cy="737"/>
                </a:xfrm>
                <a:prstGeom prst="ellipse">
                  <a:avLst/>
                </a:prstGeom>
              </p:spPr>
            </p:pic>
          </p:grpSp>
          <p:grpSp>
            <p:nvGrpSpPr>
              <p:cNvPr id="411" name="组合 410"/>
              <p:cNvGrpSpPr/>
              <p:nvPr/>
            </p:nvGrpSpPr>
            <p:grpSpPr>
              <a:xfrm>
                <a:off x="510" y="7787"/>
                <a:ext cx="3453" cy="1080"/>
                <a:chOff x="510" y="7786"/>
                <a:chExt cx="3453" cy="1080"/>
              </a:xfrm>
            </p:grpSpPr>
            <p:grpSp>
              <p:nvGrpSpPr>
                <p:cNvPr id="255" name="组合 254"/>
                <p:cNvGrpSpPr/>
                <p:nvPr/>
              </p:nvGrpSpPr>
              <p:grpSpPr>
                <a:xfrm>
                  <a:off x="1415" y="7786"/>
                  <a:ext cx="2548" cy="1080"/>
                  <a:chOff x="1843" y="8021"/>
                  <a:chExt cx="2682" cy="1137"/>
                </a:xfrm>
              </p:grpSpPr>
              <p:sp>
                <p:nvSpPr>
                  <p:cNvPr id="126" name="Text 21"/>
                  <p:cNvSpPr txBox="1"/>
                  <p:nvPr/>
                </p:nvSpPr>
                <p:spPr>
                  <a:xfrm>
                    <a:off x="1843" y="8021"/>
                    <a:ext cx="2131" cy="40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/>
                  <a:lstStyle/>
                  <a:p>
                    <a:pPr marL="0" indent="0" algn="l">
                      <a:buNone/>
                    </a:pPr>
                    <a:r>
                      <a:rPr lang="en-US" sz="1600" b="1" dirty="0">
                        <a:solidFill>
                          <a:srgbClr val="0B2B75"/>
                        </a:solidFill>
                        <a:latin typeface="Times New Roman" panose="02020603050405020304" charset="0"/>
                        <a:ea typeface="微软雅黑" panose="020B0503020204020204" charset="-122"/>
                        <a:cs typeface="Noto Sans CJK SC" pitchFamily="34" charset="-120"/>
                      </a:rPr>
                      <a:t>全域协同</a:t>
                    </a:r>
                  </a:p>
                </p:txBody>
              </p:sp>
              <p:sp>
                <p:nvSpPr>
                  <p:cNvPr id="127" name="Text 22"/>
                  <p:cNvSpPr txBox="1"/>
                  <p:nvPr/>
                </p:nvSpPr>
                <p:spPr>
                  <a:xfrm>
                    <a:off x="1843" y="8496"/>
                    <a:ext cx="2682" cy="662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t">
                    <a:noAutofit/>
                  </a:bodyPr>
                  <a:lstStyle/>
                  <a:p>
                    <a:pPr marL="0" indent="0" algn="l">
                      <a:buNone/>
                    </a:pPr>
                    <a:r>
                      <a:rPr lang="en-US" sz="1200" dirty="0">
                        <a:solidFill>
                          <a:srgbClr val="18366A"/>
                        </a:solidFill>
                        <a:latin typeface="Times New Roman" panose="02020603050405020304" charset="0"/>
                        <a:ea typeface="微软雅黑" panose="020B0503020204020204" charset="-122"/>
                        <a:cs typeface="Noto Sans CJK SC" pitchFamily="34" charset="-120"/>
                      </a:rPr>
                      <a:t>云、边、端统一调度，多设备多场景高效协同</a:t>
                    </a:r>
                  </a:p>
                </p:txBody>
              </p:sp>
            </p:grpSp>
            <p:pic>
              <p:nvPicPr>
                <p:cNvPr id="258" name="Image 0" descr="/mnt/data/ppt_assets_cloud_edge/reference_2x.png"/>
                <p:cNvPicPr>
                  <a:picLocks noChangeAspect="1"/>
                </p:cNvPicPr>
                <p:nvPr/>
              </p:nvPicPr>
              <p:blipFill>
                <a:blip r:embed="rId16"/>
                <a:srcRect l="2417" t="74675" r="91333" b="14214"/>
                <a:stretch>
                  <a:fillRect/>
                </a:stretch>
              </p:blipFill>
              <p:spPr>
                <a:xfrm>
                  <a:off x="510" y="7786"/>
                  <a:ext cx="737" cy="737"/>
                </a:xfrm>
                <a:prstGeom prst="ellipse">
                  <a:avLst/>
                </a:prstGeom>
              </p:spPr>
            </p:pic>
          </p:grpSp>
        </p:grpSp>
      </p:grpSp>
      <p:sp>
        <p:nvSpPr>
          <p:cNvPr id="356" name="Shape 8"/>
          <p:cNvSpPr/>
          <p:nvPr/>
        </p:nvSpPr>
        <p:spPr>
          <a:xfrm>
            <a:off x="9344025" y="1088390"/>
            <a:ext cx="2675890" cy="4839970"/>
          </a:xfrm>
          <a:prstGeom prst="roundRect">
            <a:avLst>
              <a:gd name="adj" fmla="val 3896"/>
            </a:avLst>
          </a:prstGeom>
          <a:solidFill>
            <a:srgbClr val="F6FBFF">
              <a:alpha val="95000"/>
            </a:srgbClr>
          </a:solidFill>
          <a:ln w="12700">
            <a:solidFill>
              <a:srgbClr val="A8D2FF"/>
            </a:solidFill>
            <a:prstDash val="solid"/>
          </a:ln>
          <a:effectLst>
            <a:outerShdw blurRad="15240" dist="5080" dir="2700000" algn="bl" rotWithShape="0">
              <a:srgbClr val="6B88B5">
                <a:alpha val="18000"/>
              </a:srgbClr>
            </a:outerShdw>
          </a:effectLst>
        </p:spPr>
      </p:sp>
      <p:sp>
        <p:nvSpPr>
          <p:cNvPr id="357" name="Shape 9"/>
          <p:cNvSpPr/>
          <p:nvPr/>
        </p:nvSpPr>
        <p:spPr>
          <a:xfrm>
            <a:off x="9692005" y="967105"/>
            <a:ext cx="1980565" cy="417195"/>
          </a:xfrm>
          <a:prstGeom prst="roundRect">
            <a:avLst>
              <a:gd name="adj" fmla="val 25000"/>
            </a:avLst>
          </a:prstGeom>
          <a:solidFill>
            <a:srgbClr val="0E4CBA"/>
          </a:solidFill>
          <a:ln w="12700">
            <a:noFill/>
            <a:prstDash val="solid"/>
          </a:ln>
          <a:effectLst>
            <a:outerShdw blurRad="12700" dist="6350" dir="2700000" algn="bl" rotWithShape="0">
              <a:srgbClr val="2C6CCB">
                <a:alpha val="20000"/>
              </a:srgbClr>
            </a:outerShdw>
          </a:effectLst>
        </p:spPr>
      </p:sp>
      <p:sp>
        <p:nvSpPr>
          <p:cNvPr id="358" name="Text 10"/>
          <p:cNvSpPr txBox="1"/>
          <p:nvPr/>
        </p:nvSpPr>
        <p:spPr>
          <a:xfrm>
            <a:off x="9692005" y="975360"/>
            <a:ext cx="1980565" cy="39941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Times New Roman" panose="02020603050405020304" charset="0"/>
                <a:ea typeface="微软雅黑" panose="020B0503020204020204" charset="-122"/>
                <a:cs typeface="Noto Sans CJK SC" pitchFamily="34" charset="-120"/>
              </a:rPr>
              <a:t>三层职责</a:t>
            </a:r>
          </a:p>
        </p:txBody>
      </p:sp>
      <p:grpSp>
        <p:nvGrpSpPr>
          <p:cNvPr id="360" name="组合 359"/>
          <p:cNvGrpSpPr/>
          <p:nvPr/>
        </p:nvGrpSpPr>
        <p:grpSpPr>
          <a:xfrm>
            <a:off x="9412605" y="1480820"/>
            <a:ext cx="2538730" cy="1287145"/>
            <a:chOff x="10954" y="2507"/>
            <a:chExt cx="3998" cy="2027"/>
          </a:xfrm>
        </p:grpSpPr>
        <p:pic>
          <p:nvPicPr>
            <p:cNvPr id="361" name="Image 4" descr="/mnt/data/ppt_assets_cloud_edge/right1.png"/>
            <p:cNvPicPr>
              <a:picLocks noChangeAspect="1"/>
            </p:cNvPicPr>
            <p:nvPr/>
          </p:nvPicPr>
          <p:blipFill>
            <a:blip r:embed="rId17"/>
            <a:srcRect l="23827" r="641" b="17676"/>
            <a:stretch>
              <a:fillRect/>
            </a:stretch>
          </p:blipFill>
          <p:spPr>
            <a:xfrm>
              <a:off x="10954" y="2507"/>
              <a:ext cx="632" cy="680"/>
            </a:xfrm>
            <a:prstGeom prst="rect">
              <a:avLst/>
            </a:prstGeom>
          </p:spPr>
        </p:pic>
        <p:sp>
          <p:nvSpPr>
            <p:cNvPr id="362" name="Text 27"/>
            <p:cNvSpPr txBox="1"/>
            <p:nvPr/>
          </p:nvSpPr>
          <p:spPr>
            <a:xfrm>
              <a:off x="11838" y="2588"/>
              <a:ext cx="3114" cy="51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algn="l">
                <a:buClrTx/>
                <a:buSzTx/>
                <a:buFontTx/>
                <a:buNone/>
              </a:pPr>
              <a:r>
                <a:rPr lang="en-US" sz="1400" b="1" dirty="0">
                  <a:solidFill>
                    <a:srgbClr val="0B2B75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云端 · 全场景70B+ LLM</a:t>
              </a:r>
            </a:p>
          </p:txBody>
        </p:sp>
        <p:grpSp>
          <p:nvGrpSpPr>
            <p:cNvPr id="363" name="组合 362"/>
            <p:cNvGrpSpPr/>
            <p:nvPr/>
          </p:nvGrpSpPr>
          <p:grpSpPr>
            <a:xfrm>
              <a:off x="11600" y="3092"/>
              <a:ext cx="3127" cy="1443"/>
              <a:chOff x="7958" y="2826"/>
              <a:chExt cx="3127" cy="1443"/>
            </a:xfrm>
          </p:grpSpPr>
          <p:sp>
            <p:nvSpPr>
              <p:cNvPr id="364" name="Text 28"/>
              <p:cNvSpPr txBox="1"/>
              <p:nvPr/>
            </p:nvSpPr>
            <p:spPr>
              <a:xfrm>
                <a:off x="7958" y="2859"/>
                <a:ext cx="292" cy="29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200" dirty="0">
                    <a:solidFill>
                      <a:srgbClr val="1267EA"/>
                    </a:solidFill>
                    <a:latin typeface="Times New Roman" panose="02020603050405020304" charset="0"/>
                    <a:ea typeface="微软雅黑" panose="020B0503020204020204" charset="-122"/>
                    <a:cs typeface="Noto Sans CJK SC" pitchFamily="34" charset="-120"/>
                  </a:rPr>
                  <a:t>✓</a:t>
                </a:r>
              </a:p>
            </p:txBody>
          </p:sp>
          <p:sp>
            <p:nvSpPr>
              <p:cNvPr id="365" name="Text 29"/>
              <p:cNvSpPr txBox="1"/>
              <p:nvPr/>
            </p:nvSpPr>
            <p:spPr>
              <a:xfrm>
                <a:off x="8331" y="2826"/>
                <a:ext cx="2754" cy="32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l">
                  <a:buNone/>
                </a:pPr>
                <a:r>
                  <a:rPr lang="en-US" sz="1200" dirty="0">
                    <a:solidFill>
                      <a:srgbClr val="1C315A"/>
                    </a:solidFill>
                    <a:latin typeface="Times New Roman" panose="02020603050405020304" charset="0"/>
                    <a:ea typeface="微软雅黑" panose="020B0503020204020204" charset="-122"/>
                    <a:cs typeface="Noto Sans CJK SC" pitchFamily="34" charset="-120"/>
                  </a:rPr>
                  <a:t>大模型训练与能力提升</a:t>
                </a:r>
              </a:p>
            </p:txBody>
          </p:sp>
          <p:sp>
            <p:nvSpPr>
              <p:cNvPr id="366" name="Text 30"/>
              <p:cNvSpPr txBox="1"/>
              <p:nvPr/>
            </p:nvSpPr>
            <p:spPr>
              <a:xfrm>
                <a:off x="7958" y="3231"/>
                <a:ext cx="292" cy="29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200" dirty="0">
                    <a:solidFill>
                      <a:srgbClr val="1267EA"/>
                    </a:solidFill>
                    <a:latin typeface="Times New Roman" panose="02020603050405020304" charset="0"/>
                    <a:ea typeface="微软雅黑" panose="020B0503020204020204" charset="-122"/>
                    <a:cs typeface="Noto Sans CJK SC" pitchFamily="34" charset="-120"/>
                  </a:rPr>
                  <a:t>✓</a:t>
                </a:r>
              </a:p>
            </p:txBody>
          </p:sp>
          <p:sp>
            <p:nvSpPr>
              <p:cNvPr id="367" name="Text 31"/>
              <p:cNvSpPr txBox="1"/>
              <p:nvPr/>
            </p:nvSpPr>
            <p:spPr>
              <a:xfrm>
                <a:off x="8331" y="3199"/>
                <a:ext cx="2754" cy="32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l">
                  <a:buNone/>
                </a:pPr>
                <a:r>
                  <a:rPr lang="en-US" sz="1200" dirty="0">
                    <a:solidFill>
                      <a:srgbClr val="1C315A"/>
                    </a:solidFill>
                    <a:latin typeface="Times New Roman" panose="02020603050405020304" charset="0"/>
                    <a:ea typeface="微软雅黑" panose="020B0503020204020204" charset="-122"/>
                    <a:cs typeface="Noto Sans CJK SC" pitchFamily="34" charset="-120"/>
                  </a:rPr>
                  <a:t>行业知识库与智能服务</a:t>
                </a:r>
              </a:p>
            </p:txBody>
          </p:sp>
          <p:sp>
            <p:nvSpPr>
              <p:cNvPr id="368" name="Text 32"/>
              <p:cNvSpPr txBox="1"/>
              <p:nvPr/>
            </p:nvSpPr>
            <p:spPr>
              <a:xfrm>
                <a:off x="7958" y="3604"/>
                <a:ext cx="292" cy="29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200" dirty="0">
                    <a:solidFill>
                      <a:srgbClr val="1267EA"/>
                    </a:solidFill>
                    <a:latin typeface="Times New Roman" panose="02020603050405020304" charset="0"/>
                    <a:ea typeface="微软雅黑" panose="020B0503020204020204" charset="-122"/>
                    <a:cs typeface="Noto Sans CJK SC" pitchFamily="34" charset="-120"/>
                  </a:rPr>
                  <a:t>✓</a:t>
                </a:r>
              </a:p>
            </p:txBody>
          </p:sp>
          <p:sp>
            <p:nvSpPr>
              <p:cNvPr id="369" name="Text 33"/>
              <p:cNvSpPr txBox="1"/>
              <p:nvPr/>
            </p:nvSpPr>
            <p:spPr>
              <a:xfrm>
                <a:off x="8331" y="3572"/>
                <a:ext cx="2754" cy="32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l">
                  <a:buNone/>
                </a:pPr>
                <a:r>
                  <a:rPr lang="en-US" sz="1200" dirty="0">
                    <a:solidFill>
                      <a:srgbClr val="1C315A"/>
                    </a:solidFill>
                    <a:latin typeface="微软雅黑" panose="020B0503020204020204" charset="-122"/>
                    <a:ea typeface="微软雅黑" panose="020B0503020204020204" charset="-122"/>
                    <a:cs typeface="Noto Sans CJK SC" pitchFamily="34" charset="-120"/>
                  </a:rPr>
                  <a:t>全局数据分析与策略优化</a:t>
                </a:r>
              </a:p>
            </p:txBody>
          </p:sp>
          <p:sp>
            <p:nvSpPr>
              <p:cNvPr id="370" name="Text 34"/>
              <p:cNvSpPr txBox="1"/>
              <p:nvPr/>
            </p:nvSpPr>
            <p:spPr>
              <a:xfrm>
                <a:off x="7958" y="3977"/>
                <a:ext cx="292" cy="29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200" dirty="0">
                    <a:solidFill>
                      <a:srgbClr val="1267EA"/>
                    </a:solidFill>
                    <a:latin typeface="Times New Roman" panose="02020603050405020304" charset="0"/>
                    <a:ea typeface="微软雅黑" panose="020B0503020204020204" charset="-122"/>
                    <a:cs typeface="Noto Sans CJK SC" pitchFamily="34" charset="-120"/>
                  </a:rPr>
                  <a:t>✓</a:t>
                </a:r>
              </a:p>
            </p:txBody>
          </p:sp>
          <p:sp>
            <p:nvSpPr>
              <p:cNvPr id="371" name="Text 35"/>
              <p:cNvSpPr txBox="1"/>
              <p:nvPr/>
            </p:nvSpPr>
            <p:spPr>
              <a:xfrm>
                <a:off x="8331" y="3944"/>
                <a:ext cx="2754" cy="32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l">
                  <a:buNone/>
                </a:pPr>
                <a:r>
                  <a:rPr lang="en-US" sz="1200" dirty="0">
                    <a:solidFill>
                      <a:srgbClr val="1C315A"/>
                    </a:solidFill>
                    <a:latin typeface="Times New Roman" panose="02020603050405020304" charset="0"/>
                    <a:ea typeface="微软雅黑" panose="020B0503020204020204" charset="-122"/>
                    <a:cs typeface="Noto Sans CJK SC" pitchFamily="34" charset="-120"/>
                  </a:rPr>
                  <a:t>统一模型管理与调度</a:t>
                </a:r>
              </a:p>
            </p:txBody>
          </p:sp>
        </p:grpSp>
      </p:grpSp>
      <p:grpSp>
        <p:nvGrpSpPr>
          <p:cNvPr id="372" name="组合 371"/>
          <p:cNvGrpSpPr/>
          <p:nvPr/>
        </p:nvGrpSpPr>
        <p:grpSpPr>
          <a:xfrm>
            <a:off x="9412605" y="2959100"/>
            <a:ext cx="2538730" cy="1287145"/>
            <a:chOff x="10954" y="4835"/>
            <a:chExt cx="3998" cy="2027"/>
          </a:xfrm>
        </p:grpSpPr>
        <p:pic>
          <p:nvPicPr>
            <p:cNvPr id="373" name="Image 5" descr="/mnt/data/ppt_assets_cloud_edge/right2.png"/>
            <p:cNvPicPr>
              <a:picLocks noChangeAspect="1"/>
            </p:cNvPicPr>
            <p:nvPr/>
          </p:nvPicPr>
          <p:blipFill>
            <a:blip r:embed="rId18"/>
            <a:srcRect l="23487" t="5569" b="13559"/>
            <a:stretch>
              <a:fillRect/>
            </a:stretch>
          </p:blipFill>
          <p:spPr>
            <a:xfrm>
              <a:off x="10954" y="4835"/>
              <a:ext cx="632" cy="680"/>
            </a:xfrm>
            <a:prstGeom prst="rect">
              <a:avLst/>
            </a:prstGeom>
          </p:spPr>
        </p:pic>
        <p:sp>
          <p:nvSpPr>
            <p:cNvPr id="374" name="Text 37"/>
            <p:cNvSpPr txBox="1"/>
            <p:nvPr/>
          </p:nvSpPr>
          <p:spPr>
            <a:xfrm>
              <a:off x="11838" y="4916"/>
              <a:ext cx="3114" cy="51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algn="l">
                <a:buClrTx/>
                <a:buSzTx/>
                <a:buFontTx/>
                <a:buNone/>
              </a:pPr>
              <a:r>
                <a:rPr lang="en-US" sz="1400" b="1" dirty="0">
                  <a:solidFill>
                    <a:srgbClr val="0B2B75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边端 · 专有化3B-8B SLM</a:t>
              </a:r>
            </a:p>
          </p:txBody>
        </p:sp>
        <p:grpSp>
          <p:nvGrpSpPr>
            <p:cNvPr id="375" name="组合 374"/>
            <p:cNvGrpSpPr/>
            <p:nvPr/>
          </p:nvGrpSpPr>
          <p:grpSpPr>
            <a:xfrm>
              <a:off x="11600" y="5420"/>
              <a:ext cx="3127" cy="1442"/>
              <a:chOff x="13509" y="5564"/>
              <a:chExt cx="3127" cy="1442"/>
            </a:xfrm>
          </p:grpSpPr>
          <p:sp>
            <p:nvSpPr>
              <p:cNvPr id="376" name="Text 38"/>
              <p:cNvSpPr txBox="1"/>
              <p:nvPr/>
            </p:nvSpPr>
            <p:spPr>
              <a:xfrm>
                <a:off x="13509" y="5597"/>
                <a:ext cx="292" cy="29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rmAutofit lnSpcReduction="10000"/>
              </a:bodyPr>
              <a:lstStyle/>
              <a:p>
                <a:pPr marL="0" indent="0" algn="ctr">
                  <a:buNone/>
                </a:pPr>
                <a:r>
                  <a:rPr lang="en-US" sz="1335" b="1" dirty="0">
                    <a:solidFill>
                      <a:srgbClr val="0CB79B"/>
                    </a:solidFill>
                    <a:latin typeface="Times New Roman" panose="02020603050405020304" charset="0"/>
                    <a:ea typeface="微软雅黑" panose="020B0503020204020204" charset="-122"/>
                    <a:cs typeface="Noto Sans CJK SC" pitchFamily="34" charset="-120"/>
                  </a:rPr>
                  <a:t>✓</a:t>
                </a:r>
              </a:p>
            </p:txBody>
          </p:sp>
          <p:sp>
            <p:nvSpPr>
              <p:cNvPr id="377" name="Text 39"/>
              <p:cNvSpPr txBox="1"/>
              <p:nvPr/>
            </p:nvSpPr>
            <p:spPr>
              <a:xfrm>
                <a:off x="13882" y="5564"/>
                <a:ext cx="2754" cy="32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l">
                  <a:buNone/>
                </a:pPr>
                <a:r>
                  <a:rPr lang="en-US" sz="1200" dirty="0">
                    <a:solidFill>
                      <a:srgbClr val="1C315A"/>
                    </a:solidFill>
                    <a:latin typeface="Times New Roman" panose="02020603050405020304" charset="0"/>
                    <a:ea typeface="微软雅黑" panose="020B0503020204020204" charset="-122"/>
                    <a:cs typeface="Noto Sans CJK SC" pitchFamily="34" charset="-120"/>
                  </a:rPr>
                  <a:t>本地大模型推理加速</a:t>
                </a:r>
              </a:p>
            </p:txBody>
          </p:sp>
          <p:sp>
            <p:nvSpPr>
              <p:cNvPr id="378" name="Text 40"/>
              <p:cNvSpPr txBox="1"/>
              <p:nvPr/>
            </p:nvSpPr>
            <p:spPr>
              <a:xfrm>
                <a:off x="13509" y="5969"/>
                <a:ext cx="292" cy="29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rmAutofit lnSpcReduction="10000"/>
              </a:bodyPr>
              <a:lstStyle/>
              <a:p>
                <a:pPr marL="0" indent="0" algn="ctr">
                  <a:buNone/>
                </a:pPr>
                <a:r>
                  <a:rPr lang="en-US" sz="1335" b="1" dirty="0">
                    <a:solidFill>
                      <a:srgbClr val="0CB79B"/>
                    </a:solidFill>
                    <a:latin typeface="Times New Roman" panose="02020603050405020304" charset="0"/>
                    <a:ea typeface="微软雅黑" panose="020B0503020204020204" charset="-122"/>
                    <a:cs typeface="Noto Sans CJK SC" pitchFamily="34" charset="-120"/>
                  </a:rPr>
                  <a:t>✓</a:t>
                </a:r>
              </a:p>
            </p:txBody>
          </p:sp>
          <p:sp>
            <p:nvSpPr>
              <p:cNvPr id="379" name="Text 41"/>
              <p:cNvSpPr txBox="1"/>
              <p:nvPr/>
            </p:nvSpPr>
            <p:spPr>
              <a:xfrm>
                <a:off x="13882" y="5937"/>
                <a:ext cx="2754" cy="32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l">
                  <a:buNone/>
                </a:pPr>
                <a:r>
                  <a:rPr lang="en-US" sz="1200" dirty="0">
                    <a:solidFill>
                      <a:srgbClr val="1C315A"/>
                    </a:solidFill>
                    <a:latin typeface="Times New Roman" panose="02020603050405020304" charset="0"/>
                    <a:ea typeface="微软雅黑" panose="020B0503020204020204" charset="-122"/>
                    <a:cs typeface="Noto Sans CJK SC" pitchFamily="34" charset="-120"/>
                  </a:rPr>
                  <a:t>多设备协同与场景理解</a:t>
                </a:r>
              </a:p>
            </p:txBody>
          </p:sp>
          <p:sp>
            <p:nvSpPr>
              <p:cNvPr id="380" name="Text 42"/>
              <p:cNvSpPr txBox="1"/>
              <p:nvPr/>
            </p:nvSpPr>
            <p:spPr>
              <a:xfrm>
                <a:off x="13509" y="6342"/>
                <a:ext cx="292" cy="29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rmAutofit lnSpcReduction="10000"/>
              </a:bodyPr>
              <a:lstStyle/>
              <a:p>
                <a:pPr marL="0" indent="0" algn="ctr">
                  <a:buNone/>
                </a:pPr>
                <a:r>
                  <a:rPr lang="en-US" sz="1335" b="1" dirty="0">
                    <a:solidFill>
                      <a:srgbClr val="0CB79B"/>
                    </a:solidFill>
                    <a:latin typeface="Times New Roman" panose="02020603050405020304" charset="0"/>
                    <a:ea typeface="微软雅黑" panose="020B0503020204020204" charset="-122"/>
                    <a:cs typeface="Noto Sans CJK SC" pitchFamily="34" charset="-120"/>
                  </a:rPr>
                  <a:t>✓</a:t>
                </a:r>
              </a:p>
            </p:txBody>
          </p:sp>
          <p:sp>
            <p:nvSpPr>
              <p:cNvPr id="381" name="Text 43"/>
              <p:cNvSpPr txBox="1"/>
              <p:nvPr/>
            </p:nvSpPr>
            <p:spPr>
              <a:xfrm>
                <a:off x="13882" y="6309"/>
                <a:ext cx="2754" cy="32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l">
                  <a:buNone/>
                </a:pPr>
                <a:r>
                  <a:rPr lang="en-US" sz="1200" dirty="0">
                    <a:solidFill>
                      <a:srgbClr val="1C315A"/>
                    </a:solidFill>
                    <a:latin typeface="Times New Roman" panose="02020603050405020304" charset="0"/>
                    <a:ea typeface="微软雅黑" panose="020B0503020204020204" charset="-122"/>
                    <a:cs typeface="Noto Sans CJK SC" pitchFamily="34" charset="-120"/>
                  </a:rPr>
                  <a:t>本地知识库与离线运行</a:t>
                </a:r>
              </a:p>
            </p:txBody>
          </p:sp>
          <p:sp>
            <p:nvSpPr>
              <p:cNvPr id="382" name="Text 44"/>
              <p:cNvSpPr txBox="1"/>
              <p:nvPr/>
            </p:nvSpPr>
            <p:spPr>
              <a:xfrm>
                <a:off x="13509" y="6714"/>
                <a:ext cx="292" cy="29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rmAutofit lnSpcReduction="10000"/>
              </a:bodyPr>
              <a:lstStyle/>
              <a:p>
                <a:pPr marL="0" indent="0" algn="ctr">
                  <a:buNone/>
                </a:pPr>
                <a:r>
                  <a:rPr lang="en-US" sz="1335" b="1" dirty="0">
                    <a:solidFill>
                      <a:srgbClr val="0CB79B"/>
                    </a:solidFill>
                    <a:latin typeface="Times New Roman" panose="02020603050405020304" charset="0"/>
                    <a:ea typeface="微软雅黑" panose="020B0503020204020204" charset="-122"/>
                    <a:cs typeface="Noto Sans CJK SC" pitchFamily="34" charset="-120"/>
                  </a:rPr>
                  <a:t>✓</a:t>
                </a:r>
              </a:p>
            </p:txBody>
          </p:sp>
          <p:sp>
            <p:nvSpPr>
              <p:cNvPr id="383" name="Text 45"/>
              <p:cNvSpPr txBox="1"/>
              <p:nvPr/>
            </p:nvSpPr>
            <p:spPr>
              <a:xfrm>
                <a:off x="13882" y="6682"/>
                <a:ext cx="2754" cy="32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l">
                  <a:buNone/>
                </a:pPr>
                <a:r>
                  <a:rPr lang="en-US" sz="1200" dirty="0">
                    <a:solidFill>
                      <a:srgbClr val="1C315A"/>
                    </a:solidFill>
                    <a:latin typeface="Times New Roman" panose="02020603050405020304" charset="0"/>
                    <a:ea typeface="微软雅黑" panose="020B0503020204020204" charset="-122"/>
                    <a:cs typeface="Noto Sans CJK SC" pitchFamily="34" charset="-120"/>
                  </a:rPr>
                  <a:t>可信、低时延、稳定可靠</a:t>
                </a:r>
              </a:p>
            </p:txBody>
          </p:sp>
        </p:grpSp>
      </p:grpSp>
      <p:grpSp>
        <p:nvGrpSpPr>
          <p:cNvPr id="384" name="组合 383"/>
          <p:cNvGrpSpPr/>
          <p:nvPr/>
        </p:nvGrpSpPr>
        <p:grpSpPr>
          <a:xfrm>
            <a:off x="9412605" y="4437380"/>
            <a:ext cx="2538730" cy="1287145"/>
            <a:chOff x="10954" y="7163"/>
            <a:chExt cx="3998" cy="2027"/>
          </a:xfrm>
        </p:grpSpPr>
        <p:pic>
          <p:nvPicPr>
            <p:cNvPr id="385" name="Image 6" descr="/mnt/data/ppt_assets_cloud_edge/right3.png"/>
            <p:cNvPicPr>
              <a:picLocks noChangeAspect="1"/>
            </p:cNvPicPr>
            <p:nvPr/>
          </p:nvPicPr>
          <p:blipFill>
            <a:blip r:embed="rId19"/>
            <a:srcRect l="23366" t="15617"/>
            <a:stretch>
              <a:fillRect/>
            </a:stretch>
          </p:blipFill>
          <p:spPr>
            <a:xfrm>
              <a:off x="10954" y="7163"/>
              <a:ext cx="632" cy="680"/>
            </a:xfrm>
            <a:prstGeom prst="rect">
              <a:avLst/>
            </a:prstGeom>
          </p:spPr>
        </p:pic>
        <p:sp>
          <p:nvSpPr>
            <p:cNvPr id="386" name="Text 47"/>
            <p:cNvSpPr txBox="1"/>
            <p:nvPr/>
          </p:nvSpPr>
          <p:spPr>
            <a:xfrm>
              <a:off x="11838" y="7244"/>
              <a:ext cx="3115" cy="51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algn="l">
                <a:buClrTx/>
                <a:buSzTx/>
                <a:buFontTx/>
                <a:buNone/>
              </a:pPr>
              <a:r>
                <a:rPr lang="en-US" sz="1400" b="1" dirty="0">
                  <a:solidFill>
                    <a:srgbClr val="0B2B75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终端 · </a:t>
              </a:r>
              <a:r>
                <a:rPr lang="zh-CN" altLang="en-US" sz="1400" b="1" dirty="0">
                  <a:solidFill>
                    <a:srgbClr val="0B2B75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实时</a:t>
              </a:r>
              <a:r>
                <a:rPr lang="en-US" sz="1400" b="1" dirty="0">
                  <a:solidFill>
                    <a:srgbClr val="0B2B75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感知与执行</a:t>
              </a:r>
            </a:p>
          </p:txBody>
        </p:sp>
        <p:grpSp>
          <p:nvGrpSpPr>
            <p:cNvPr id="387" name="组合 386"/>
            <p:cNvGrpSpPr/>
            <p:nvPr/>
          </p:nvGrpSpPr>
          <p:grpSpPr>
            <a:xfrm>
              <a:off x="11600" y="7748"/>
              <a:ext cx="3127" cy="1442"/>
              <a:chOff x="13509" y="8351"/>
              <a:chExt cx="3127" cy="1442"/>
            </a:xfrm>
          </p:grpSpPr>
          <p:sp>
            <p:nvSpPr>
              <p:cNvPr id="388" name="Text 48"/>
              <p:cNvSpPr txBox="1"/>
              <p:nvPr/>
            </p:nvSpPr>
            <p:spPr>
              <a:xfrm>
                <a:off x="13509" y="8383"/>
                <a:ext cx="292" cy="29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200" dirty="0">
                    <a:solidFill>
                      <a:srgbClr val="FF7A00"/>
                    </a:solidFill>
                    <a:latin typeface="Times New Roman" panose="02020603050405020304" charset="0"/>
                    <a:ea typeface="微软雅黑" panose="020B0503020204020204" charset="-122"/>
                    <a:cs typeface="Noto Sans CJK SC" pitchFamily="34" charset="-120"/>
                  </a:rPr>
                  <a:t>✓</a:t>
                </a:r>
              </a:p>
            </p:txBody>
          </p:sp>
          <p:sp>
            <p:nvSpPr>
              <p:cNvPr id="389" name="Text 49"/>
              <p:cNvSpPr txBox="1"/>
              <p:nvPr/>
            </p:nvSpPr>
            <p:spPr>
              <a:xfrm>
                <a:off x="13882" y="8351"/>
                <a:ext cx="2754" cy="32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l">
                  <a:buNone/>
                </a:pPr>
                <a:r>
                  <a:rPr lang="en-US" sz="1200" dirty="0">
                    <a:solidFill>
                      <a:srgbClr val="1C315A"/>
                    </a:solidFill>
                    <a:latin typeface="Times New Roman" panose="02020603050405020304" charset="0"/>
                    <a:ea typeface="微软雅黑" panose="020B0503020204020204" charset="-122"/>
                    <a:cs typeface="Noto Sans CJK SC" pitchFamily="34" charset="-120"/>
                  </a:rPr>
                  <a:t>语音、视觉等多模态感知</a:t>
                </a:r>
              </a:p>
            </p:txBody>
          </p:sp>
          <p:sp>
            <p:nvSpPr>
              <p:cNvPr id="390" name="Text 50"/>
              <p:cNvSpPr txBox="1"/>
              <p:nvPr/>
            </p:nvSpPr>
            <p:spPr>
              <a:xfrm>
                <a:off x="13509" y="8756"/>
                <a:ext cx="292" cy="29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200" dirty="0">
                    <a:solidFill>
                      <a:srgbClr val="FF7A00"/>
                    </a:solidFill>
                    <a:latin typeface="Times New Roman" panose="02020603050405020304" charset="0"/>
                    <a:ea typeface="微软雅黑" panose="020B0503020204020204" charset="-122"/>
                    <a:cs typeface="Noto Sans CJK SC" pitchFamily="34" charset="-120"/>
                  </a:rPr>
                  <a:t>✓</a:t>
                </a:r>
              </a:p>
            </p:txBody>
          </p:sp>
          <p:sp>
            <p:nvSpPr>
              <p:cNvPr id="391" name="Text 51"/>
              <p:cNvSpPr txBox="1"/>
              <p:nvPr/>
            </p:nvSpPr>
            <p:spPr>
              <a:xfrm>
                <a:off x="13882" y="8723"/>
                <a:ext cx="2754" cy="32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l">
                  <a:buNone/>
                </a:pPr>
                <a:r>
                  <a:rPr lang="en-US" sz="1200" dirty="0">
                    <a:solidFill>
                      <a:srgbClr val="1C315A"/>
                    </a:solidFill>
                    <a:latin typeface="Times New Roman" panose="02020603050405020304" charset="0"/>
                    <a:ea typeface="微软雅黑" panose="020B0503020204020204" charset="-122"/>
                    <a:cs typeface="Noto Sans CJK SC" pitchFamily="34" charset="-120"/>
                  </a:rPr>
                  <a:t>智能识别与任务执行</a:t>
                </a:r>
              </a:p>
            </p:txBody>
          </p:sp>
          <p:sp>
            <p:nvSpPr>
              <p:cNvPr id="392" name="Text 52"/>
              <p:cNvSpPr txBox="1"/>
              <p:nvPr/>
            </p:nvSpPr>
            <p:spPr>
              <a:xfrm>
                <a:off x="13509" y="9128"/>
                <a:ext cx="292" cy="29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200" dirty="0">
                    <a:solidFill>
                      <a:srgbClr val="FF7A00"/>
                    </a:solidFill>
                    <a:latin typeface="Times New Roman" panose="02020603050405020304" charset="0"/>
                    <a:ea typeface="微软雅黑" panose="020B0503020204020204" charset="-122"/>
                    <a:cs typeface="Noto Sans CJK SC" pitchFamily="34" charset="-120"/>
                  </a:rPr>
                  <a:t>✓</a:t>
                </a:r>
              </a:p>
            </p:txBody>
          </p:sp>
          <p:sp>
            <p:nvSpPr>
              <p:cNvPr id="393" name="Text 53"/>
              <p:cNvSpPr txBox="1"/>
              <p:nvPr/>
            </p:nvSpPr>
            <p:spPr>
              <a:xfrm>
                <a:off x="13882" y="9096"/>
                <a:ext cx="2754" cy="32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l">
                  <a:buNone/>
                </a:pPr>
                <a:r>
                  <a:rPr lang="en-US" sz="1200" dirty="0">
                    <a:solidFill>
                      <a:srgbClr val="1C315A"/>
                    </a:solidFill>
                    <a:latin typeface="Times New Roman" panose="02020603050405020304" charset="0"/>
                    <a:ea typeface="微软雅黑" panose="020B0503020204020204" charset="-122"/>
                    <a:cs typeface="Noto Sans CJK SC" pitchFamily="34" charset="-120"/>
                  </a:rPr>
                  <a:t>状态采集与实时上报</a:t>
                </a:r>
              </a:p>
            </p:txBody>
          </p:sp>
          <p:sp>
            <p:nvSpPr>
              <p:cNvPr id="394" name="Text 54"/>
              <p:cNvSpPr txBox="1"/>
              <p:nvPr/>
            </p:nvSpPr>
            <p:spPr>
              <a:xfrm>
                <a:off x="13509" y="9501"/>
                <a:ext cx="292" cy="29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200" dirty="0">
                    <a:solidFill>
                      <a:srgbClr val="FF7A00"/>
                    </a:solidFill>
                    <a:latin typeface="Times New Roman" panose="02020603050405020304" charset="0"/>
                    <a:ea typeface="微软雅黑" panose="020B0503020204020204" charset="-122"/>
                    <a:cs typeface="Noto Sans CJK SC" pitchFamily="34" charset="-120"/>
                  </a:rPr>
                  <a:t>✓</a:t>
                </a:r>
              </a:p>
            </p:txBody>
          </p:sp>
          <p:sp>
            <p:nvSpPr>
              <p:cNvPr id="395" name="Text 55"/>
              <p:cNvSpPr txBox="1"/>
              <p:nvPr/>
            </p:nvSpPr>
            <p:spPr>
              <a:xfrm>
                <a:off x="13882" y="9468"/>
                <a:ext cx="2754" cy="32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l">
                  <a:buNone/>
                </a:pPr>
                <a:r>
                  <a:rPr lang="en-US" sz="1200" dirty="0">
                    <a:solidFill>
                      <a:srgbClr val="1C315A"/>
                    </a:solidFill>
                    <a:latin typeface="Times New Roman" panose="02020603050405020304" charset="0"/>
                    <a:ea typeface="微软雅黑" panose="020B0503020204020204" charset="-122"/>
                    <a:cs typeface="Noto Sans CJK SC" pitchFamily="34" charset="-120"/>
                  </a:rPr>
                  <a:t>快速响应、精准控制</a:t>
                </a:r>
              </a:p>
            </p:txBody>
          </p:sp>
        </p:grpSp>
      </p:grpSp>
      <p:sp>
        <p:nvSpPr>
          <p:cNvPr id="402" name="Rounded Rectangle 98"/>
          <p:cNvSpPr/>
          <p:nvPr/>
        </p:nvSpPr>
        <p:spPr>
          <a:xfrm>
            <a:off x="0" y="6492875"/>
            <a:ext cx="12192000" cy="368300"/>
          </a:xfrm>
          <a:prstGeom prst="rect">
            <a:avLst/>
          </a:prstGeom>
          <a:solidFill>
            <a:srgbClr val="063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grpSp>
        <p:nvGrpSpPr>
          <p:cNvPr id="403" name="组合 402"/>
          <p:cNvGrpSpPr/>
          <p:nvPr/>
        </p:nvGrpSpPr>
        <p:grpSpPr>
          <a:xfrm>
            <a:off x="1684902" y="6523355"/>
            <a:ext cx="8634730" cy="306070"/>
            <a:chOff x="2260" y="10131"/>
            <a:chExt cx="13598" cy="482"/>
          </a:xfrm>
        </p:grpSpPr>
        <p:sp>
          <p:nvSpPr>
            <p:cNvPr id="404" name="TextBox 101"/>
            <p:cNvSpPr txBox="1"/>
            <p:nvPr/>
          </p:nvSpPr>
          <p:spPr>
            <a:xfrm>
              <a:off x="2650" y="10131"/>
              <a:ext cx="13209" cy="483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400" b="1">
                  <a:solidFill>
                    <a:srgbClr val="FFFFFF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形成 “数据采集 → 智能分析 → 业务执行 → 模型迭代” 的完整闭环，兼顾实时性、安全性与持续演进能力</a:t>
              </a:r>
            </a:p>
          </p:txBody>
        </p:sp>
        <p:pic>
          <p:nvPicPr>
            <p:cNvPr id="405" name="图片 404" descr="定位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20">
              <a:extLst>
                <a:ext uri="{96DAC541-7B7A-43D3-8B79-37D633B846F1}">
                  <asvg:svgBlip xmlns=""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2260" y="10137"/>
              <a:ext cx="472" cy="47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Box 1"/>
          <p:cNvSpPr txBox="1"/>
          <p:nvPr/>
        </p:nvSpPr>
        <p:spPr>
          <a:xfrm>
            <a:off x="172720" y="140970"/>
            <a:ext cx="2969895" cy="460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zh-CN" altLang="en-US" sz="2400" b="1">
                <a:solidFill>
                  <a:srgbClr val="063591"/>
                </a:solidFill>
                <a:latin typeface="Times New Roman" panose="02020603050405020304" charset="0"/>
                <a:ea typeface="微软雅黑" panose="020B0503020204020204" charset="-122"/>
              </a:rPr>
              <a:t>智能算力调度引擎</a:t>
            </a:r>
          </a:p>
        </p:txBody>
      </p:sp>
      <p:sp>
        <p:nvSpPr>
          <p:cNvPr id="104" name="TextBox 2"/>
          <p:cNvSpPr txBox="1"/>
          <p:nvPr/>
        </p:nvSpPr>
        <p:spPr>
          <a:xfrm>
            <a:off x="172720" y="601345"/>
            <a:ext cx="6289040" cy="3067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zh-CN" altLang="en-US" sz="1400" b="0">
                <a:solidFill>
                  <a:srgbClr val="06359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基于深度强化学习(</a:t>
            </a:r>
            <a:r>
              <a:rPr lang="en-US" altLang="zh-CN" sz="1400" b="0">
                <a:solidFill>
                  <a:srgbClr val="06359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DRL)</a:t>
            </a:r>
            <a:r>
              <a:rPr lang="zh-CN" altLang="en-US" sz="1400" b="0">
                <a:solidFill>
                  <a:srgbClr val="06359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的任务智能拆分与调度，多重加速机制保障</a:t>
            </a:r>
            <a:r>
              <a:rPr lang="en-US" altLang="zh-CN" sz="1400" b="0">
                <a:solidFill>
                  <a:srgbClr val="06359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ms</a:t>
            </a:r>
            <a:r>
              <a:rPr lang="zh-CN" altLang="en-US" sz="1400" b="0">
                <a:solidFill>
                  <a:srgbClr val="06359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级响应</a:t>
            </a:r>
          </a:p>
        </p:txBody>
      </p:sp>
      <p:grpSp>
        <p:nvGrpSpPr>
          <p:cNvPr id="195" name="组合 194"/>
          <p:cNvGrpSpPr/>
          <p:nvPr/>
        </p:nvGrpSpPr>
        <p:grpSpPr>
          <a:xfrm>
            <a:off x="683260" y="1236345"/>
            <a:ext cx="5252720" cy="5336540"/>
            <a:chOff x="1244" y="1947"/>
            <a:chExt cx="8272" cy="8404"/>
          </a:xfrm>
        </p:grpSpPr>
        <p:sp>
          <p:nvSpPr>
            <p:cNvPr id="194" name="Shape 8"/>
            <p:cNvSpPr/>
            <p:nvPr/>
          </p:nvSpPr>
          <p:spPr>
            <a:xfrm>
              <a:off x="1244" y="2263"/>
              <a:ext cx="8273" cy="8089"/>
            </a:xfrm>
            <a:prstGeom prst="roundRect">
              <a:avLst>
                <a:gd name="adj" fmla="val 3896"/>
              </a:avLst>
            </a:prstGeom>
            <a:noFill/>
            <a:ln w="12700">
              <a:solidFill>
                <a:srgbClr val="A8D2FF"/>
              </a:solidFill>
              <a:prstDash val="solid"/>
            </a:ln>
            <a:effectLst>
              <a:outerShdw blurRad="15240" dist="5080" dir="2700000" algn="bl" rotWithShape="0">
                <a:srgbClr val="6B88B5">
                  <a:alpha val="18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6FBFF">
                      <a:alpha val="95000"/>
                    </a:srgbClr>
                  </a:solidFill>
                </a14:hiddenFill>
              </a:ext>
            </a:extLst>
          </p:spPr>
        </p:sp>
        <p:grpSp>
          <p:nvGrpSpPr>
            <p:cNvPr id="188" name="组合 187"/>
            <p:cNvGrpSpPr/>
            <p:nvPr/>
          </p:nvGrpSpPr>
          <p:grpSpPr>
            <a:xfrm>
              <a:off x="1494" y="2709"/>
              <a:ext cx="7772" cy="7290"/>
              <a:chOff x="1532" y="2193"/>
              <a:chExt cx="7772" cy="7290"/>
            </a:xfrm>
          </p:grpSpPr>
          <p:grpSp>
            <p:nvGrpSpPr>
              <p:cNvPr id="151" name="组合 150"/>
              <p:cNvGrpSpPr/>
              <p:nvPr/>
            </p:nvGrpSpPr>
            <p:grpSpPr>
              <a:xfrm>
                <a:off x="3278" y="3233"/>
                <a:ext cx="4148" cy="640"/>
                <a:chOff x="3713" y="3003"/>
                <a:chExt cx="4148" cy="640"/>
              </a:xfrm>
            </p:grpSpPr>
            <p:sp>
              <p:nvSpPr>
                <p:cNvPr id="20" name="Rounded Rectangle 28"/>
                <p:cNvSpPr/>
                <p:nvPr/>
              </p:nvSpPr>
              <p:spPr>
                <a:xfrm>
                  <a:off x="3713" y="3003"/>
                  <a:ext cx="4148" cy="640"/>
                </a:xfrm>
                <a:prstGeom prst="roundRect">
                  <a:avLst/>
                </a:prstGeom>
                <a:solidFill>
                  <a:srgbClr val="F6FAFF"/>
                </a:solidFill>
                <a:ln w="12700">
                  <a:solidFill>
                    <a:srgbClr val="D5E0F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1350"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endParaRPr>
                </a:p>
              </p:txBody>
            </p:sp>
            <p:grpSp>
              <p:nvGrpSpPr>
                <p:cNvPr id="150" name="组合 149"/>
                <p:cNvGrpSpPr/>
                <p:nvPr/>
              </p:nvGrpSpPr>
              <p:grpSpPr>
                <a:xfrm>
                  <a:off x="4129" y="3124"/>
                  <a:ext cx="3317" cy="398"/>
                  <a:chOff x="4538" y="3136"/>
                  <a:chExt cx="3317" cy="398"/>
                </a:xfrm>
              </p:grpSpPr>
              <p:pic>
                <p:nvPicPr>
                  <p:cNvPr id="23" name="Picture 29" descr="recog.png"/>
                  <p:cNvPicPr>
                    <a:picLocks noChangeAspect="1"/>
                  </p:cNvPicPr>
                  <p:nvPr/>
                </p:nvPicPr>
                <p:blipFill>
                  <a:blip r:embed="rId3"/>
                  <a:srcRect l="24792" t="6034" r="12313" b="7974"/>
                  <a:stretch>
                    <a:fillRect/>
                  </a:stretch>
                </p:blipFill>
                <p:spPr>
                  <a:xfrm>
                    <a:off x="4538" y="3136"/>
                    <a:ext cx="378" cy="399"/>
                  </a:xfrm>
                  <a:prstGeom prst="rect">
                    <a:avLst/>
                  </a:prstGeom>
                </p:spPr>
              </p:pic>
              <p:sp>
                <p:nvSpPr>
                  <p:cNvPr id="31" name="TextBox 30"/>
                  <p:cNvSpPr txBox="1"/>
                  <p:nvPr/>
                </p:nvSpPr>
                <p:spPr>
                  <a:xfrm>
                    <a:off x="5127" y="3142"/>
                    <a:ext cx="2729" cy="38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t">
                    <a:spAutoFit/>
                  </a:bodyPr>
                  <a:lstStyle/>
                  <a:p>
                    <a:pPr algn="l"/>
                    <a:r>
                      <a:rPr sz="1600" b="1">
                        <a:solidFill>
                          <a:srgbClr val="192134"/>
                        </a:solidFill>
                        <a:latin typeface="Times New Roman" panose="02020603050405020304" charset="0"/>
                        <a:ea typeface="微软雅黑" panose="020B0503020204020204" charset="-122"/>
                      </a:rPr>
                      <a:t>任务智能识别</a:t>
                    </a:r>
                    <a:r>
                      <a:rPr lang="zh-CN" sz="1600" b="1">
                        <a:solidFill>
                          <a:srgbClr val="192134"/>
                        </a:solidFill>
                        <a:latin typeface="Times New Roman" panose="02020603050405020304" charset="0"/>
                        <a:ea typeface="微软雅黑" panose="020B0503020204020204" charset="-122"/>
                      </a:rPr>
                      <a:t>编排</a:t>
                    </a:r>
                  </a:p>
                </p:txBody>
              </p:sp>
            </p:grpSp>
          </p:grpSp>
          <p:grpSp>
            <p:nvGrpSpPr>
              <p:cNvPr id="153" name="组合 152"/>
              <p:cNvGrpSpPr/>
              <p:nvPr/>
            </p:nvGrpSpPr>
            <p:grpSpPr>
              <a:xfrm>
                <a:off x="3678" y="6775"/>
                <a:ext cx="3348" cy="604"/>
                <a:chOff x="4081" y="6560"/>
                <a:chExt cx="3348" cy="604"/>
              </a:xfrm>
            </p:grpSpPr>
            <p:sp>
              <p:nvSpPr>
                <p:cNvPr id="90" name="Rounded Rectangle 74"/>
                <p:cNvSpPr/>
                <p:nvPr/>
              </p:nvSpPr>
              <p:spPr>
                <a:xfrm>
                  <a:off x="4081" y="6560"/>
                  <a:ext cx="3348" cy="604"/>
                </a:xfrm>
                <a:prstGeom prst="roundRect">
                  <a:avLst/>
                </a:prstGeom>
                <a:solidFill>
                  <a:srgbClr val="F6FAFF"/>
                </a:solidFill>
                <a:ln w="12700">
                  <a:solidFill>
                    <a:srgbClr val="D5E0F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1350"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endParaRPr>
                </a:p>
              </p:txBody>
            </p:sp>
            <p:grpSp>
              <p:nvGrpSpPr>
                <p:cNvPr id="152" name="组合 151"/>
                <p:cNvGrpSpPr/>
                <p:nvPr/>
              </p:nvGrpSpPr>
              <p:grpSpPr>
                <a:xfrm>
                  <a:off x="4490" y="6669"/>
                  <a:ext cx="2531" cy="386"/>
                  <a:chOff x="4842" y="6698"/>
                  <a:chExt cx="2531" cy="386"/>
                </a:xfrm>
              </p:grpSpPr>
              <p:pic>
                <p:nvPicPr>
                  <p:cNvPr id="91" name="Picture 75" descr="infer.png"/>
                  <p:cNvPicPr>
                    <a:picLocks noChangeAspect="1"/>
                  </p:cNvPicPr>
                  <p:nvPr/>
                </p:nvPicPr>
                <p:blipFill>
                  <a:blip r:embed="rId4"/>
                  <a:srcRect l="30862" r="4310" b="20200"/>
                  <a:stretch>
                    <a:fillRect/>
                  </a:stretch>
                </p:blipFill>
                <p:spPr>
                  <a:xfrm>
                    <a:off x="4842" y="6731"/>
                    <a:ext cx="376" cy="320"/>
                  </a:xfrm>
                  <a:prstGeom prst="rect">
                    <a:avLst/>
                  </a:prstGeom>
                </p:spPr>
              </p:pic>
              <p:sp>
                <p:nvSpPr>
                  <p:cNvPr id="92" name="TextBox 76"/>
                  <p:cNvSpPr txBox="1"/>
                  <p:nvPr/>
                </p:nvSpPr>
                <p:spPr>
                  <a:xfrm>
                    <a:off x="5401" y="6698"/>
                    <a:ext cx="1973" cy="38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t">
                    <a:spAutoFit/>
                  </a:bodyPr>
                  <a:lstStyle/>
                  <a:p>
                    <a:pPr algn="l"/>
                    <a:r>
                      <a:rPr sz="1600" b="1">
                        <a:solidFill>
                          <a:srgbClr val="192134"/>
                        </a:solidFill>
                        <a:latin typeface="Times New Roman" panose="02020603050405020304" charset="0"/>
                        <a:ea typeface="微软雅黑" panose="020B0503020204020204" charset="-122"/>
                      </a:rPr>
                      <a:t>模型推理执行</a:t>
                    </a:r>
                  </a:p>
                </p:txBody>
              </p:sp>
            </p:grpSp>
          </p:grpSp>
          <p:grpSp>
            <p:nvGrpSpPr>
              <p:cNvPr id="158" name="组合 157"/>
              <p:cNvGrpSpPr/>
              <p:nvPr/>
            </p:nvGrpSpPr>
            <p:grpSpPr>
              <a:xfrm>
                <a:off x="3678" y="7815"/>
                <a:ext cx="3348" cy="616"/>
                <a:chOff x="4081" y="7329"/>
                <a:chExt cx="3348" cy="616"/>
              </a:xfrm>
            </p:grpSpPr>
            <p:sp>
              <p:nvSpPr>
                <p:cNvPr id="93" name="Rounded Rectangle 77"/>
                <p:cNvSpPr/>
                <p:nvPr/>
              </p:nvSpPr>
              <p:spPr>
                <a:xfrm>
                  <a:off x="4081" y="7329"/>
                  <a:ext cx="3348" cy="616"/>
                </a:xfrm>
                <a:prstGeom prst="roundRect">
                  <a:avLst/>
                </a:prstGeom>
                <a:solidFill>
                  <a:srgbClr val="F6FAFF"/>
                </a:solidFill>
                <a:ln w="12700">
                  <a:solidFill>
                    <a:srgbClr val="D5E0F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1350"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endParaRPr>
                </a:p>
              </p:txBody>
            </p:sp>
            <p:grpSp>
              <p:nvGrpSpPr>
                <p:cNvPr id="154" name="组合 153"/>
                <p:cNvGrpSpPr/>
                <p:nvPr/>
              </p:nvGrpSpPr>
              <p:grpSpPr>
                <a:xfrm>
                  <a:off x="4554" y="7444"/>
                  <a:ext cx="2402" cy="386"/>
                  <a:chOff x="4507" y="7444"/>
                  <a:chExt cx="2402" cy="386"/>
                </a:xfrm>
              </p:grpSpPr>
              <p:pic>
                <p:nvPicPr>
                  <p:cNvPr id="94" name="Picture 78" descr="result.png"/>
                  <p:cNvPicPr>
                    <a:picLocks noChangeAspect="1"/>
                  </p:cNvPicPr>
                  <p:nvPr/>
                </p:nvPicPr>
                <p:blipFill>
                  <a:blip r:embed="rId5"/>
                  <a:srcRect l="36034" t="2993" r="8966" b="19202"/>
                  <a:stretch>
                    <a:fillRect/>
                  </a:stretch>
                </p:blipFill>
                <p:spPr>
                  <a:xfrm>
                    <a:off x="4507" y="7481"/>
                    <a:ext cx="319" cy="312"/>
                  </a:xfrm>
                  <a:prstGeom prst="rect">
                    <a:avLst/>
                  </a:prstGeom>
                </p:spPr>
              </p:pic>
              <p:sp>
                <p:nvSpPr>
                  <p:cNvPr id="95" name="TextBox 79"/>
                  <p:cNvSpPr txBox="1"/>
                  <p:nvPr/>
                </p:nvSpPr>
                <p:spPr>
                  <a:xfrm>
                    <a:off x="5401" y="7444"/>
                    <a:ext cx="1508" cy="38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t">
                    <a:spAutoFit/>
                  </a:bodyPr>
                  <a:lstStyle/>
                  <a:p>
                    <a:pPr algn="l"/>
                    <a:r>
                      <a:rPr sz="1600" b="1">
                        <a:solidFill>
                          <a:srgbClr val="192134"/>
                        </a:solidFill>
                        <a:latin typeface="Times New Roman" panose="02020603050405020304" charset="0"/>
                        <a:ea typeface="微软雅黑" panose="020B0503020204020204" charset="-122"/>
                      </a:rPr>
                      <a:t>结果返回</a:t>
                    </a:r>
                  </a:p>
                </p:txBody>
              </p:sp>
            </p:grpSp>
          </p:grpSp>
          <p:sp>
            <p:nvSpPr>
              <p:cNvPr id="70" name="Rounded Rectangle 54"/>
              <p:cNvSpPr/>
              <p:nvPr/>
            </p:nvSpPr>
            <p:spPr>
              <a:xfrm>
                <a:off x="4142" y="5475"/>
                <a:ext cx="2420" cy="865"/>
              </a:xfrm>
              <a:prstGeom prst="roundRect">
                <a:avLst/>
              </a:prstGeom>
              <a:solidFill>
                <a:srgbClr val="FFF6ED"/>
              </a:solidFill>
              <a:ln w="12700">
                <a:solidFill>
                  <a:srgbClr val="D5E0F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:endParaRPr sz="1400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endParaRPr>
              </a:p>
            </p:txBody>
          </p:sp>
          <p:pic>
            <p:nvPicPr>
              <p:cNvPr id="71" name="Picture 55" descr="cloudllm.png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264" y="5680"/>
                <a:ext cx="483" cy="454"/>
              </a:xfrm>
              <a:prstGeom prst="rect">
                <a:avLst/>
              </a:prstGeom>
            </p:spPr>
          </p:pic>
          <p:grpSp>
            <p:nvGrpSpPr>
              <p:cNvPr id="124" name="组合 123"/>
              <p:cNvGrpSpPr/>
              <p:nvPr/>
            </p:nvGrpSpPr>
            <p:grpSpPr>
              <a:xfrm>
                <a:off x="4827" y="5614"/>
                <a:ext cx="1533" cy="659"/>
                <a:chOff x="5464" y="5442"/>
                <a:chExt cx="1533" cy="659"/>
              </a:xfrm>
            </p:grpSpPr>
            <p:sp>
              <p:nvSpPr>
                <p:cNvPr id="72" name="TextBox 56"/>
                <p:cNvSpPr txBox="1"/>
                <p:nvPr/>
              </p:nvSpPr>
              <p:spPr>
                <a:xfrm>
                  <a:off x="5464" y="5442"/>
                  <a:ext cx="1533" cy="3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spAutoFit/>
                </a:bodyPr>
                <a:lstStyle/>
                <a:p>
                  <a:pPr algn="l"/>
                  <a:r>
                    <a:rPr sz="1400" b="1">
                      <a:solidFill>
                        <a:srgbClr val="F27E00"/>
                      </a:solidFill>
                      <a:latin typeface="Times New Roman" panose="02020603050405020304" charset="0"/>
                      <a:ea typeface="微软雅黑" panose="020B0503020204020204" charset="-122"/>
                    </a:rPr>
                    <a:t>云端大模型</a:t>
                  </a:r>
                </a:p>
              </p:txBody>
            </p:sp>
            <p:sp>
              <p:nvSpPr>
                <p:cNvPr id="73" name="TextBox 57"/>
                <p:cNvSpPr txBox="1"/>
                <p:nvPr/>
              </p:nvSpPr>
              <p:spPr>
                <a:xfrm>
                  <a:off x="5523" y="5810"/>
                  <a:ext cx="1440" cy="29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spAutoFit/>
                </a:bodyPr>
                <a:lstStyle/>
                <a:p>
                  <a:pPr algn="l"/>
                  <a:r>
                    <a:rPr sz="1200" b="0" dirty="0" err="1">
                      <a:solidFill>
                        <a:srgbClr val="192134"/>
                      </a:solidFill>
                      <a:latin typeface="Times New Roman" panose="02020603050405020304" charset="0"/>
                      <a:ea typeface="微软雅黑" panose="020B0503020204020204" charset="-122"/>
                    </a:rPr>
                    <a:t>强大算力</a:t>
                  </a:r>
                  <a:endParaRPr sz="1200" b="0" dirty="0">
                    <a:solidFill>
                      <a:srgbClr val="192134"/>
                    </a:solidFill>
                    <a:latin typeface="Times New Roman" panose="02020603050405020304" charset="0"/>
                    <a:ea typeface="微软雅黑" panose="020B0503020204020204" charset="-122"/>
                  </a:endParaRPr>
                </a:p>
              </p:txBody>
            </p:sp>
          </p:grpSp>
          <p:sp>
            <p:nvSpPr>
              <p:cNvPr id="66" name="Rounded Rectangle 50"/>
              <p:cNvSpPr/>
              <p:nvPr/>
            </p:nvSpPr>
            <p:spPr>
              <a:xfrm>
                <a:off x="4142" y="4310"/>
                <a:ext cx="2420" cy="784"/>
              </a:xfrm>
              <a:prstGeom prst="roundRect">
                <a:avLst/>
              </a:prstGeom>
              <a:solidFill>
                <a:srgbClr val="FFF6ED"/>
              </a:solidFill>
              <a:ln w="12700">
                <a:solidFill>
                  <a:srgbClr val="D5E0F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:endParaRPr sz="1400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endParaRPr>
              </a:p>
            </p:txBody>
          </p:sp>
          <p:grpSp>
            <p:nvGrpSpPr>
              <p:cNvPr id="123" name="组合 122"/>
              <p:cNvGrpSpPr/>
              <p:nvPr/>
            </p:nvGrpSpPr>
            <p:grpSpPr>
              <a:xfrm>
                <a:off x="4736" y="4389"/>
                <a:ext cx="1719" cy="661"/>
                <a:chOff x="5464" y="4286"/>
                <a:chExt cx="1719" cy="661"/>
              </a:xfrm>
            </p:grpSpPr>
            <p:sp>
              <p:nvSpPr>
                <p:cNvPr id="68" name="TextBox 52"/>
                <p:cNvSpPr txBox="1"/>
                <p:nvPr/>
              </p:nvSpPr>
              <p:spPr>
                <a:xfrm>
                  <a:off x="5464" y="4286"/>
                  <a:ext cx="1684" cy="3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spAutoFit/>
                </a:bodyPr>
                <a:lstStyle/>
                <a:p>
                  <a:pPr algn="l"/>
                  <a:r>
                    <a:rPr sz="1400" b="1">
                      <a:solidFill>
                        <a:srgbClr val="F27E00"/>
                      </a:solidFill>
                      <a:latin typeface="Times New Roman" panose="02020603050405020304" charset="0"/>
                      <a:ea typeface="微软雅黑" panose="020B0503020204020204" charset="-122"/>
                    </a:rPr>
                    <a:t>复杂推理任务</a:t>
                  </a:r>
                </a:p>
              </p:txBody>
            </p:sp>
            <p:sp>
              <p:nvSpPr>
                <p:cNvPr id="69" name="TextBox 53"/>
                <p:cNvSpPr txBox="1"/>
                <p:nvPr/>
              </p:nvSpPr>
              <p:spPr>
                <a:xfrm>
                  <a:off x="5500" y="4657"/>
                  <a:ext cx="1683" cy="29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spAutoFit/>
                </a:bodyPr>
                <a:lstStyle/>
                <a:p>
                  <a:pPr algn="l"/>
                  <a:r>
                    <a:rPr sz="1200" b="0" dirty="0" err="1">
                      <a:solidFill>
                        <a:srgbClr val="192134"/>
                      </a:solidFill>
                      <a:latin typeface="Times New Roman" panose="02020603050405020304" charset="0"/>
                      <a:ea typeface="微软雅黑" panose="020B0503020204020204" charset="-122"/>
                    </a:rPr>
                    <a:t>高计算需求</a:t>
                  </a:r>
                  <a:endParaRPr sz="1200" b="0" dirty="0">
                    <a:solidFill>
                      <a:srgbClr val="192134"/>
                    </a:solidFill>
                    <a:latin typeface="Times New Roman" panose="02020603050405020304" charset="0"/>
                    <a:ea typeface="微软雅黑" panose="020B0503020204020204" charset="-122"/>
                  </a:endParaRPr>
                </a:p>
              </p:txBody>
            </p:sp>
          </p:grpSp>
          <p:pic>
            <p:nvPicPr>
              <p:cNvPr id="128" name="Picture 1" descr="18c375eb-baf9-5be2-ae1f-5e67ff64967d.png"/>
              <p:cNvPicPr>
                <a:picLocks noChangeAspect="1"/>
              </p:cNvPicPr>
              <p:nvPr/>
            </p:nvPicPr>
            <p:blipFill>
              <a:blip r:embed="rId7"/>
              <a:srcRect l="42388" t="38563" r="54441" b="56972"/>
              <a:stretch>
                <a:fillRect/>
              </a:stretch>
            </p:blipFill>
            <p:spPr>
              <a:xfrm>
                <a:off x="4253" y="4475"/>
                <a:ext cx="483" cy="454"/>
              </a:xfrm>
              <a:prstGeom prst="rect">
                <a:avLst/>
              </a:prstGeom>
            </p:spPr>
          </p:pic>
          <p:sp>
            <p:nvSpPr>
              <p:cNvPr id="58" name="Rounded Rectangle 42"/>
              <p:cNvSpPr/>
              <p:nvPr/>
            </p:nvSpPr>
            <p:spPr>
              <a:xfrm>
                <a:off x="1532" y="4309"/>
                <a:ext cx="2380" cy="785"/>
              </a:xfrm>
              <a:prstGeom prst="roundRect">
                <a:avLst/>
              </a:prstGeom>
              <a:solidFill>
                <a:srgbClr val="ECF9F4"/>
              </a:solidFill>
              <a:ln w="12700">
                <a:solidFill>
                  <a:srgbClr val="D5E0F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350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endParaRPr>
              </a:p>
            </p:txBody>
          </p:sp>
          <p:grpSp>
            <p:nvGrpSpPr>
              <p:cNvPr id="121" name="组合 120"/>
              <p:cNvGrpSpPr/>
              <p:nvPr/>
            </p:nvGrpSpPr>
            <p:grpSpPr>
              <a:xfrm>
                <a:off x="2103" y="4403"/>
                <a:ext cx="1587" cy="597"/>
                <a:chOff x="2487" y="4314"/>
                <a:chExt cx="1587" cy="597"/>
              </a:xfrm>
            </p:grpSpPr>
            <p:sp>
              <p:nvSpPr>
                <p:cNvPr id="60" name="TextBox 44"/>
                <p:cNvSpPr txBox="1"/>
                <p:nvPr/>
              </p:nvSpPr>
              <p:spPr>
                <a:xfrm>
                  <a:off x="2487" y="4314"/>
                  <a:ext cx="1191" cy="28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noAutofit/>
                </a:bodyPr>
                <a:lstStyle/>
                <a:p>
                  <a:pPr algn="l"/>
                  <a:r>
                    <a:rPr sz="1400" b="1">
                      <a:solidFill>
                        <a:srgbClr val="069371"/>
                      </a:solidFill>
                      <a:latin typeface="Times New Roman" panose="02020603050405020304" charset="0"/>
                      <a:ea typeface="微软雅黑" panose="020B0503020204020204" charset="-122"/>
                    </a:rPr>
                    <a:t>实时任务</a:t>
                  </a:r>
                </a:p>
              </p:txBody>
            </p:sp>
            <p:sp>
              <p:nvSpPr>
                <p:cNvPr id="61" name="TextBox 45"/>
                <p:cNvSpPr txBox="1"/>
                <p:nvPr/>
              </p:nvSpPr>
              <p:spPr>
                <a:xfrm>
                  <a:off x="2487" y="4621"/>
                  <a:ext cx="1587" cy="29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spAutoFit/>
                </a:bodyPr>
                <a:lstStyle/>
                <a:p>
                  <a:pPr algn="l"/>
                  <a:r>
                    <a:rPr sz="1200" b="0" dirty="0" err="1">
                      <a:solidFill>
                        <a:srgbClr val="192134"/>
                      </a:solidFill>
                      <a:latin typeface="Times New Roman" panose="02020603050405020304" charset="0"/>
                      <a:ea typeface="微软雅黑" panose="020B0503020204020204" charset="-122"/>
                    </a:rPr>
                    <a:t>低时延要求</a:t>
                  </a:r>
                  <a:endParaRPr sz="1200" b="0" dirty="0">
                    <a:solidFill>
                      <a:srgbClr val="192134"/>
                    </a:solidFill>
                    <a:latin typeface="Times New Roman" panose="02020603050405020304" charset="0"/>
                    <a:ea typeface="微软雅黑" panose="020B0503020204020204" charset="-122"/>
                  </a:endParaRPr>
                </a:p>
              </p:txBody>
            </p:sp>
          </p:grpSp>
          <p:pic>
            <p:nvPicPr>
              <p:cNvPr id="127" name="Picture 1" descr="18c375eb-baf9-5be2-ae1f-5e67ff64967d.png"/>
              <p:cNvPicPr>
                <a:picLocks noChangeAspect="1"/>
              </p:cNvPicPr>
              <p:nvPr/>
            </p:nvPicPr>
            <p:blipFill>
              <a:blip r:embed="rId7"/>
              <a:srcRect l="29088" t="38688" r="67741" b="56847"/>
              <a:stretch>
                <a:fillRect/>
              </a:stretch>
            </p:blipFill>
            <p:spPr>
              <a:xfrm>
                <a:off x="1576" y="4475"/>
                <a:ext cx="483" cy="454"/>
              </a:xfrm>
              <a:prstGeom prst="rect">
                <a:avLst/>
              </a:prstGeom>
            </p:spPr>
          </p:pic>
          <p:sp>
            <p:nvSpPr>
              <p:cNvPr id="62" name="Rounded Rectangle 46"/>
              <p:cNvSpPr/>
              <p:nvPr/>
            </p:nvSpPr>
            <p:spPr>
              <a:xfrm>
                <a:off x="1532" y="5474"/>
                <a:ext cx="2380" cy="866"/>
              </a:xfrm>
              <a:prstGeom prst="roundRect">
                <a:avLst/>
              </a:prstGeom>
              <a:solidFill>
                <a:srgbClr val="EEFAF7"/>
              </a:solidFill>
              <a:ln w="12700">
                <a:solidFill>
                  <a:srgbClr val="D5E0F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350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endParaRPr>
              </a:p>
            </p:txBody>
          </p:sp>
          <p:grpSp>
            <p:nvGrpSpPr>
              <p:cNvPr id="122" name="组合 121"/>
              <p:cNvGrpSpPr/>
              <p:nvPr/>
            </p:nvGrpSpPr>
            <p:grpSpPr>
              <a:xfrm>
                <a:off x="2120" y="5614"/>
                <a:ext cx="1733" cy="586"/>
                <a:chOff x="2714" y="5442"/>
                <a:chExt cx="1733" cy="586"/>
              </a:xfrm>
            </p:grpSpPr>
            <p:sp>
              <p:nvSpPr>
                <p:cNvPr id="64" name="TextBox 48"/>
                <p:cNvSpPr txBox="1"/>
                <p:nvPr/>
              </p:nvSpPr>
              <p:spPr>
                <a:xfrm>
                  <a:off x="2714" y="5442"/>
                  <a:ext cx="1733" cy="3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spAutoFit/>
                </a:bodyPr>
                <a:lstStyle/>
                <a:p>
                  <a:pPr algn="l"/>
                  <a:r>
                    <a:rPr sz="1400" b="1">
                      <a:solidFill>
                        <a:srgbClr val="009682"/>
                      </a:solidFill>
                      <a:latin typeface="Times New Roman" panose="02020603050405020304" charset="0"/>
                      <a:ea typeface="微软雅黑" panose="020B0503020204020204" charset="-122"/>
                    </a:rPr>
                    <a:t>边缘快速处理</a:t>
                  </a:r>
                </a:p>
              </p:txBody>
            </p:sp>
            <p:sp>
              <p:nvSpPr>
                <p:cNvPr id="65" name="TextBox 49"/>
                <p:cNvSpPr txBox="1"/>
                <p:nvPr/>
              </p:nvSpPr>
              <p:spPr>
                <a:xfrm>
                  <a:off x="2822" y="5738"/>
                  <a:ext cx="1421" cy="29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spAutoFit/>
                </a:bodyPr>
                <a:lstStyle/>
                <a:p>
                  <a:pPr algn="l"/>
                  <a:r>
                    <a:rPr sz="1200" b="0" dirty="0" err="1">
                      <a:solidFill>
                        <a:srgbClr val="192134"/>
                      </a:solidFill>
                      <a:latin typeface="Times New Roman" panose="02020603050405020304" charset="0"/>
                      <a:ea typeface="微软雅黑" panose="020B0503020204020204" charset="-122"/>
                    </a:rPr>
                    <a:t>就近执行</a:t>
                  </a:r>
                  <a:endParaRPr sz="1200" b="0" dirty="0">
                    <a:solidFill>
                      <a:srgbClr val="192134"/>
                    </a:solidFill>
                    <a:latin typeface="Times New Roman" panose="02020603050405020304" charset="0"/>
                    <a:ea typeface="微软雅黑" panose="020B0503020204020204" charset="-122"/>
                  </a:endParaRPr>
                </a:p>
              </p:txBody>
            </p:sp>
          </p:grpSp>
          <p:pic>
            <p:nvPicPr>
              <p:cNvPr id="130" name="Picture 1" descr="18c375eb-baf9-5be2-ae1f-5e67ff64967d.png"/>
              <p:cNvPicPr>
                <a:picLocks noChangeAspect="1"/>
              </p:cNvPicPr>
              <p:nvPr/>
            </p:nvPicPr>
            <p:blipFill>
              <a:blip r:embed="rId7"/>
              <a:srcRect l="29162" t="49687" r="67667" b="45848"/>
              <a:stretch>
                <a:fillRect/>
              </a:stretch>
            </p:blipFill>
            <p:spPr>
              <a:xfrm>
                <a:off x="1593" y="5680"/>
                <a:ext cx="483" cy="454"/>
              </a:xfrm>
              <a:prstGeom prst="rect">
                <a:avLst/>
              </a:prstGeom>
            </p:spPr>
          </p:pic>
          <p:sp>
            <p:nvSpPr>
              <p:cNvPr id="74" name="Rounded Rectangle 58"/>
              <p:cNvSpPr/>
              <p:nvPr/>
            </p:nvSpPr>
            <p:spPr>
              <a:xfrm>
                <a:off x="6810" y="4309"/>
                <a:ext cx="2494" cy="785"/>
              </a:xfrm>
              <a:prstGeom prst="roundRect">
                <a:avLst/>
              </a:prstGeom>
              <a:solidFill>
                <a:srgbClr val="F5F2FF"/>
              </a:solidFill>
              <a:ln w="12700">
                <a:solidFill>
                  <a:srgbClr val="D5E0F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:endParaRPr sz="1400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endParaRPr>
              </a:p>
            </p:txBody>
          </p:sp>
          <p:grpSp>
            <p:nvGrpSpPr>
              <p:cNvPr id="125" name="组合 124"/>
              <p:cNvGrpSpPr/>
              <p:nvPr/>
            </p:nvGrpSpPr>
            <p:grpSpPr>
              <a:xfrm>
                <a:off x="7442" y="4389"/>
                <a:ext cx="1765" cy="643"/>
                <a:chOff x="7890" y="4286"/>
                <a:chExt cx="1765" cy="643"/>
              </a:xfrm>
            </p:grpSpPr>
            <p:sp>
              <p:nvSpPr>
                <p:cNvPr id="76" name="TextBox 60"/>
                <p:cNvSpPr txBox="1"/>
                <p:nvPr/>
              </p:nvSpPr>
              <p:spPr>
                <a:xfrm>
                  <a:off x="7890" y="4286"/>
                  <a:ext cx="1710" cy="3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spAutoFit/>
                </a:bodyPr>
                <a:lstStyle/>
                <a:p>
                  <a:pPr algn="l"/>
                  <a:r>
                    <a:rPr sz="1400" b="1">
                      <a:solidFill>
                        <a:srgbClr val="684EEB"/>
                      </a:solidFill>
                      <a:latin typeface="Times New Roman" panose="02020603050405020304" charset="0"/>
                      <a:ea typeface="微软雅黑" panose="020B0503020204020204" charset="-122"/>
                    </a:rPr>
                    <a:t>后台分析任务</a:t>
                  </a:r>
                </a:p>
              </p:txBody>
            </p:sp>
            <p:sp>
              <p:nvSpPr>
                <p:cNvPr id="77" name="TextBox 61"/>
                <p:cNvSpPr txBox="1"/>
                <p:nvPr/>
              </p:nvSpPr>
              <p:spPr>
                <a:xfrm>
                  <a:off x="7944" y="4639"/>
                  <a:ext cx="1711" cy="29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spAutoFit/>
                </a:bodyPr>
                <a:lstStyle/>
                <a:p>
                  <a:pPr algn="l"/>
                  <a:r>
                    <a:rPr sz="1200" b="0" dirty="0" err="1">
                      <a:solidFill>
                        <a:srgbClr val="192134"/>
                      </a:solidFill>
                      <a:latin typeface="Times New Roman" panose="02020603050405020304" charset="0"/>
                      <a:ea typeface="微软雅黑" panose="020B0503020204020204" charset="-122"/>
                    </a:rPr>
                    <a:t>大数据处理</a:t>
                  </a:r>
                  <a:endParaRPr sz="1200" b="0" dirty="0">
                    <a:solidFill>
                      <a:srgbClr val="192134"/>
                    </a:solidFill>
                    <a:latin typeface="Times New Roman" panose="02020603050405020304" charset="0"/>
                    <a:ea typeface="微软雅黑" panose="020B0503020204020204" charset="-122"/>
                  </a:endParaRPr>
                </a:p>
              </p:txBody>
            </p:sp>
          </p:grpSp>
          <p:pic>
            <p:nvPicPr>
              <p:cNvPr id="129" name="Picture 1" descr="18c375eb-baf9-5be2-ae1f-5e67ff64967d.png"/>
              <p:cNvPicPr>
                <a:picLocks noChangeAspect="1"/>
              </p:cNvPicPr>
              <p:nvPr/>
            </p:nvPicPr>
            <p:blipFill>
              <a:blip r:embed="rId7"/>
              <a:srcRect l="56511" t="38376" r="40318" b="57159"/>
              <a:stretch>
                <a:fillRect/>
              </a:stretch>
            </p:blipFill>
            <p:spPr>
              <a:xfrm>
                <a:off x="6946" y="4475"/>
                <a:ext cx="483" cy="454"/>
              </a:xfrm>
              <a:prstGeom prst="rect">
                <a:avLst/>
              </a:prstGeom>
            </p:spPr>
          </p:pic>
          <p:sp>
            <p:nvSpPr>
              <p:cNvPr id="78" name="Rounded Rectangle 62"/>
              <p:cNvSpPr/>
              <p:nvPr/>
            </p:nvSpPr>
            <p:spPr>
              <a:xfrm>
                <a:off x="6810" y="5474"/>
                <a:ext cx="2494" cy="866"/>
              </a:xfrm>
              <a:prstGeom prst="roundRect">
                <a:avLst/>
              </a:prstGeom>
              <a:solidFill>
                <a:srgbClr val="F5F2FF"/>
              </a:solidFill>
              <a:ln w="12700">
                <a:solidFill>
                  <a:srgbClr val="D5E0F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:endParaRPr sz="1400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endParaRPr>
              </a:p>
            </p:txBody>
          </p:sp>
          <p:grpSp>
            <p:nvGrpSpPr>
              <p:cNvPr id="126" name="组合 125"/>
              <p:cNvGrpSpPr/>
              <p:nvPr/>
            </p:nvGrpSpPr>
            <p:grpSpPr>
              <a:xfrm>
                <a:off x="7479" y="5614"/>
                <a:ext cx="1709" cy="641"/>
                <a:chOff x="7890" y="5442"/>
                <a:chExt cx="1709" cy="641"/>
              </a:xfrm>
            </p:grpSpPr>
            <p:sp>
              <p:nvSpPr>
                <p:cNvPr id="80" name="TextBox 64"/>
                <p:cNvSpPr txBox="1"/>
                <p:nvPr/>
              </p:nvSpPr>
              <p:spPr>
                <a:xfrm>
                  <a:off x="7890" y="5442"/>
                  <a:ext cx="1709" cy="3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spAutoFit/>
                </a:bodyPr>
                <a:lstStyle/>
                <a:p>
                  <a:pPr algn="l"/>
                  <a:r>
                    <a:rPr sz="1400" b="1">
                      <a:solidFill>
                        <a:srgbClr val="684EEB"/>
                      </a:solidFill>
                      <a:latin typeface="Times New Roman" panose="02020603050405020304" charset="0"/>
                      <a:ea typeface="微软雅黑" panose="020B0503020204020204" charset="-122"/>
                    </a:rPr>
                    <a:t>云端批量处理</a:t>
                  </a:r>
                </a:p>
              </p:txBody>
            </p:sp>
            <p:sp>
              <p:nvSpPr>
                <p:cNvPr id="81" name="TextBox 65"/>
                <p:cNvSpPr txBox="1"/>
                <p:nvPr/>
              </p:nvSpPr>
              <p:spPr>
                <a:xfrm>
                  <a:off x="8033" y="5792"/>
                  <a:ext cx="1436" cy="29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spAutoFit/>
                </a:bodyPr>
                <a:lstStyle/>
                <a:p>
                  <a:pPr algn="l"/>
                  <a:r>
                    <a:rPr sz="1200" b="0" dirty="0" err="1">
                      <a:solidFill>
                        <a:srgbClr val="192134"/>
                      </a:solidFill>
                      <a:latin typeface="Times New Roman" panose="02020603050405020304" charset="0"/>
                      <a:ea typeface="微软雅黑" panose="020B0503020204020204" charset="-122"/>
                    </a:rPr>
                    <a:t>离线分析</a:t>
                  </a:r>
                  <a:endParaRPr sz="1200" b="0" dirty="0">
                    <a:solidFill>
                      <a:srgbClr val="192134"/>
                    </a:solidFill>
                    <a:latin typeface="Times New Roman" panose="02020603050405020304" charset="0"/>
                    <a:ea typeface="微软雅黑" panose="020B0503020204020204" charset="-122"/>
                  </a:endParaRPr>
                </a:p>
              </p:txBody>
            </p:sp>
          </p:grpSp>
          <p:pic>
            <p:nvPicPr>
              <p:cNvPr id="131" name="Picture 1" descr="18c375eb-baf9-5be2-ae1f-5e67ff64967d.png"/>
              <p:cNvPicPr>
                <a:picLocks noChangeAspect="1"/>
              </p:cNvPicPr>
              <p:nvPr/>
            </p:nvPicPr>
            <p:blipFill>
              <a:blip r:embed="rId7"/>
              <a:srcRect l="56345" t="49354" r="40484" b="46181"/>
              <a:stretch>
                <a:fillRect/>
              </a:stretch>
            </p:blipFill>
            <p:spPr>
              <a:xfrm>
                <a:off x="6928" y="5680"/>
                <a:ext cx="483" cy="454"/>
              </a:xfrm>
              <a:prstGeom prst="rect">
                <a:avLst/>
              </a:prstGeom>
            </p:spPr>
          </p:pic>
          <p:grpSp>
            <p:nvGrpSpPr>
              <p:cNvPr id="157" name="组合 156"/>
              <p:cNvGrpSpPr/>
              <p:nvPr/>
            </p:nvGrpSpPr>
            <p:grpSpPr>
              <a:xfrm>
                <a:off x="3678" y="2193"/>
                <a:ext cx="3348" cy="604"/>
                <a:chOff x="4081" y="2193"/>
                <a:chExt cx="3348" cy="604"/>
              </a:xfrm>
            </p:grpSpPr>
            <p:sp>
              <p:nvSpPr>
                <p:cNvPr id="26" name="Rounded Rectangle 25"/>
                <p:cNvSpPr/>
                <p:nvPr/>
              </p:nvSpPr>
              <p:spPr>
                <a:xfrm>
                  <a:off x="4081" y="2193"/>
                  <a:ext cx="3348" cy="604"/>
                </a:xfrm>
                <a:prstGeom prst="roundRect">
                  <a:avLst/>
                </a:prstGeom>
                <a:solidFill>
                  <a:srgbClr val="F6FAFF"/>
                </a:solidFill>
                <a:ln w="12700">
                  <a:solidFill>
                    <a:srgbClr val="D5E0F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1350"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endParaRPr>
                </a:p>
              </p:txBody>
            </p:sp>
            <p:grpSp>
              <p:nvGrpSpPr>
                <p:cNvPr id="156" name="组合 155"/>
                <p:cNvGrpSpPr/>
                <p:nvPr/>
              </p:nvGrpSpPr>
              <p:grpSpPr>
                <a:xfrm>
                  <a:off x="4571" y="2268"/>
                  <a:ext cx="2368" cy="454"/>
                  <a:chOff x="4541" y="2287"/>
                  <a:chExt cx="2368" cy="454"/>
                </a:xfrm>
              </p:grpSpPr>
              <p:sp>
                <p:nvSpPr>
                  <p:cNvPr id="19" name="TextBox 27"/>
                  <p:cNvSpPr txBox="1"/>
                  <p:nvPr/>
                </p:nvSpPr>
                <p:spPr>
                  <a:xfrm>
                    <a:off x="5401" y="2320"/>
                    <a:ext cx="1508" cy="38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t">
                    <a:spAutoFit/>
                  </a:bodyPr>
                  <a:lstStyle/>
                  <a:p>
                    <a:pPr algn="l"/>
                    <a:r>
                      <a:rPr sz="1600" b="1">
                        <a:solidFill>
                          <a:srgbClr val="192134"/>
                        </a:solidFill>
                        <a:latin typeface="Times New Roman" panose="02020603050405020304" charset="0"/>
                        <a:ea typeface="微软雅黑" panose="020B0503020204020204" charset="-122"/>
                      </a:rPr>
                      <a:t>业务请求</a:t>
                    </a:r>
                  </a:p>
                </p:txBody>
              </p:sp>
              <p:pic>
                <p:nvPicPr>
                  <p:cNvPr id="155" name="Picture 1" descr="18c375eb-baf9-5be2-ae1f-5e67ff64967d.png"/>
                  <p:cNvPicPr>
                    <a:picLocks noChangeAspect="1"/>
                  </p:cNvPicPr>
                  <p:nvPr/>
                </p:nvPicPr>
                <p:blipFill>
                  <a:blip r:embed="rId7"/>
                  <a:srcRect l="41689" t="20064" r="55756" b="75679"/>
                  <a:stretch>
                    <a:fillRect/>
                  </a:stretch>
                </p:blipFill>
                <p:spPr>
                  <a:xfrm>
                    <a:off x="4541" y="2287"/>
                    <a:ext cx="408" cy="454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161" name="组合 160"/>
              <p:cNvGrpSpPr/>
              <p:nvPr/>
            </p:nvGrpSpPr>
            <p:grpSpPr>
              <a:xfrm>
                <a:off x="3237" y="8867"/>
                <a:ext cx="4230" cy="616"/>
                <a:chOff x="3668" y="8339"/>
                <a:chExt cx="4230" cy="616"/>
              </a:xfrm>
            </p:grpSpPr>
            <p:sp>
              <p:nvSpPr>
                <p:cNvPr id="96" name="Rounded Rectangle 80"/>
                <p:cNvSpPr/>
                <p:nvPr/>
              </p:nvSpPr>
              <p:spPr>
                <a:xfrm>
                  <a:off x="3668" y="8339"/>
                  <a:ext cx="4230" cy="616"/>
                </a:xfrm>
                <a:prstGeom prst="roundRect">
                  <a:avLst/>
                </a:prstGeom>
                <a:solidFill>
                  <a:srgbClr val="F6FAFF"/>
                </a:solidFill>
                <a:ln w="12700">
                  <a:solidFill>
                    <a:srgbClr val="D5E0F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1350"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endParaRPr>
                </a:p>
              </p:txBody>
            </p:sp>
            <p:grpSp>
              <p:nvGrpSpPr>
                <p:cNvPr id="160" name="组合 159"/>
                <p:cNvGrpSpPr/>
                <p:nvPr/>
              </p:nvGrpSpPr>
              <p:grpSpPr>
                <a:xfrm>
                  <a:off x="3907" y="8392"/>
                  <a:ext cx="3752" cy="510"/>
                  <a:chOff x="4174" y="8445"/>
                  <a:chExt cx="3752" cy="510"/>
                </a:xfrm>
              </p:grpSpPr>
              <p:sp>
                <p:nvSpPr>
                  <p:cNvPr id="98" name="TextBox 82"/>
                  <p:cNvSpPr txBox="1"/>
                  <p:nvPr/>
                </p:nvSpPr>
                <p:spPr>
                  <a:xfrm>
                    <a:off x="5064" y="8507"/>
                    <a:ext cx="2862" cy="38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t">
                    <a:spAutoFit/>
                  </a:bodyPr>
                  <a:lstStyle/>
                  <a:p>
                    <a:pPr algn="l"/>
                    <a:r>
                      <a:rPr sz="1600" b="1">
                        <a:solidFill>
                          <a:srgbClr val="192134"/>
                        </a:solidFill>
                        <a:latin typeface="Times New Roman" panose="02020603050405020304" charset="0"/>
                        <a:ea typeface="微软雅黑" panose="020B0503020204020204" charset="-122"/>
                        <a:cs typeface="Times New Roman" panose="02020603050405020304" charset="0"/>
                      </a:rPr>
                      <a:t>设备执行 / 业务反馈</a:t>
                    </a:r>
                  </a:p>
                </p:txBody>
              </p:sp>
              <p:pic>
                <p:nvPicPr>
                  <p:cNvPr id="159" name="Picture 1" descr="18c375eb-baf9-5be2-ae1f-5e67ff64967d.png"/>
                  <p:cNvPicPr>
                    <a:picLocks noChangeAspect="1"/>
                  </p:cNvPicPr>
                  <p:nvPr/>
                </p:nvPicPr>
                <p:blipFill>
                  <a:blip r:embed="rId7"/>
                  <a:srcRect l="39582" t="74623" r="57247" b="20912"/>
                  <a:stretch>
                    <a:fillRect/>
                  </a:stretch>
                </p:blipFill>
                <p:spPr>
                  <a:xfrm>
                    <a:off x="4174" y="8445"/>
                    <a:ext cx="544" cy="510"/>
                  </a:xfrm>
                  <a:prstGeom prst="rect">
                    <a:avLst/>
                  </a:prstGeom>
                </p:spPr>
              </p:pic>
            </p:grpSp>
          </p:grpSp>
          <p:cxnSp>
            <p:nvCxnSpPr>
              <p:cNvPr id="163" name="直接箭头连接符 162"/>
              <p:cNvCxnSpPr>
                <a:stCxn id="26" idx="2"/>
                <a:endCxn id="20" idx="0"/>
              </p:cNvCxnSpPr>
              <p:nvPr/>
            </p:nvCxnSpPr>
            <p:spPr>
              <a:xfrm>
                <a:off x="5352" y="2797"/>
                <a:ext cx="0" cy="436"/>
              </a:xfrm>
              <a:prstGeom prst="straightConnector1">
                <a:avLst/>
              </a:prstGeom>
              <a:ln w="19050"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67" name="直接箭头连接符 166"/>
              <p:cNvCxnSpPr>
                <a:stCxn id="20" idx="2"/>
                <a:endCxn id="66" idx="0"/>
              </p:cNvCxnSpPr>
              <p:nvPr/>
            </p:nvCxnSpPr>
            <p:spPr>
              <a:xfrm>
                <a:off x="5352" y="3873"/>
                <a:ext cx="0" cy="437"/>
              </a:xfrm>
              <a:prstGeom prst="straightConnector1">
                <a:avLst/>
              </a:prstGeom>
              <a:ln w="19050"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68" name="肘形连接符 167"/>
              <p:cNvCxnSpPr>
                <a:stCxn id="20" idx="2"/>
                <a:endCxn id="74" idx="0"/>
              </p:cNvCxnSpPr>
              <p:nvPr/>
            </p:nvCxnSpPr>
            <p:spPr>
              <a:xfrm rot="5400000" flipV="1">
                <a:off x="6486" y="2738"/>
                <a:ext cx="436" cy="2705"/>
              </a:xfrm>
              <a:prstGeom prst="bentConnector3">
                <a:avLst>
                  <a:gd name="adj1" fmla="val 49885"/>
                </a:avLst>
              </a:prstGeom>
              <a:ln w="19050"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71" name="肘形连接符 170"/>
              <p:cNvCxnSpPr/>
              <p:nvPr/>
            </p:nvCxnSpPr>
            <p:spPr>
              <a:xfrm rot="16200000" flipH="1" flipV="1">
                <a:off x="3781" y="2738"/>
                <a:ext cx="436" cy="2705"/>
              </a:xfrm>
              <a:prstGeom prst="bentConnector3">
                <a:avLst>
                  <a:gd name="adj1" fmla="val 49885"/>
                </a:avLst>
              </a:prstGeom>
              <a:ln w="19050"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72" name="直接箭头连接符 171"/>
              <p:cNvCxnSpPr>
                <a:stCxn id="58" idx="2"/>
                <a:endCxn id="62" idx="0"/>
              </p:cNvCxnSpPr>
              <p:nvPr/>
            </p:nvCxnSpPr>
            <p:spPr>
              <a:xfrm>
                <a:off x="2722" y="5094"/>
                <a:ext cx="0" cy="380"/>
              </a:xfrm>
              <a:prstGeom prst="straightConnector1">
                <a:avLst/>
              </a:prstGeom>
              <a:ln w="19050"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73" name="直接箭头连接符 172"/>
              <p:cNvCxnSpPr>
                <a:stCxn id="74" idx="2"/>
                <a:endCxn id="78" idx="0"/>
              </p:cNvCxnSpPr>
              <p:nvPr/>
            </p:nvCxnSpPr>
            <p:spPr>
              <a:xfrm>
                <a:off x="8057" y="5094"/>
                <a:ext cx="0" cy="380"/>
              </a:xfrm>
              <a:prstGeom prst="straightConnector1">
                <a:avLst/>
              </a:prstGeom>
              <a:ln w="19050"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74" name="直接箭头连接符 173"/>
              <p:cNvCxnSpPr/>
              <p:nvPr/>
            </p:nvCxnSpPr>
            <p:spPr>
              <a:xfrm>
                <a:off x="5352" y="5095"/>
                <a:ext cx="0" cy="380"/>
              </a:xfrm>
              <a:prstGeom prst="straightConnector1">
                <a:avLst/>
              </a:prstGeom>
              <a:ln w="19050"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75" name="直接箭头连接符 174"/>
              <p:cNvCxnSpPr/>
              <p:nvPr/>
            </p:nvCxnSpPr>
            <p:spPr>
              <a:xfrm>
                <a:off x="5352" y="6340"/>
                <a:ext cx="0" cy="380"/>
              </a:xfrm>
              <a:prstGeom prst="straightConnector1">
                <a:avLst/>
              </a:prstGeom>
              <a:ln w="19050"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76" name="肘形连接符 175"/>
              <p:cNvCxnSpPr>
                <a:stCxn id="62" idx="2"/>
                <a:endCxn id="90" idx="0"/>
              </p:cNvCxnSpPr>
              <p:nvPr/>
            </p:nvCxnSpPr>
            <p:spPr>
              <a:xfrm rot="5400000" flipV="1">
                <a:off x="3820" y="5242"/>
                <a:ext cx="435" cy="2630"/>
              </a:xfrm>
              <a:prstGeom prst="bentConnector3">
                <a:avLst>
                  <a:gd name="adj1" fmla="val 50000"/>
                </a:avLst>
              </a:prstGeom>
              <a:ln w="19050"/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77" name="肘形连接符 176"/>
              <p:cNvCxnSpPr>
                <a:stCxn id="78" idx="2"/>
                <a:endCxn id="90" idx="0"/>
              </p:cNvCxnSpPr>
              <p:nvPr/>
            </p:nvCxnSpPr>
            <p:spPr>
              <a:xfrm rot="5400000">
                <a:off x="6487" y="5204"/>
                <a:ext cx="435" cy="2705"/>
              </a:xfrm>
              <a:prstGeom prst="bentConnector3">
                <a:avLst>
                  <a:gd name="adj1" fmla="val 50115"/>
                </a:avLst>
              </a:prstGeom>
              <a:ln w="19050"/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78" name="直接箭头连接符 177"/>
              <p:cNvCxnSpPr>
                <a:stCxn id="90" idx="2"/>
                <a:endCxn id="93" idx="0"/>
              </p:cNvCxnSpPr>
              <p:nvPr/>
            </p:nvCxnSpPr>
            <p:spPr>
              <a:xfrm>
                <a:off x="5352" y="7379"/>
                <a:ext cx="0" cy="436"/>
              </a:xfrm>
              <a:prstGeom prst="straightConnector1">
                <a:avLst/>
              </a:prstGeom>
              <a:ln w="19050"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79" name="直接箭头连接符 178"/>
              <p:cNvCxnSpPr>
                <a:stCxn id="93" idx="2"/>
                <a:endCxn id="96" idx="0"/>
              </p:cNvCxnSpPr>
              <p:nvPr/>
            </p:nvCxnSpPr>
            <p:spPr>
              <a:xfrm>
                <a:off x="5352" y="8431"/>
                <a:ext cx="0" cy="436"/>
              </a:xfrm>
              <a:prstGeom prst="straightConnector1">
                <a:avLst/>
              </a:prstGeom>
              <a:ln w="19050"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191" name="组合 190"/>
            <p:cNvGrpSpPr/>
            <p:nvPr/>
          </p:nvGrpSpPr>
          <p:grpSpPr>
            <a:xfrm>
              <a:off x="2582" y="1947"/>
              <a:ext cx="5596" cy="668"/>
              <a:chOff x="2207" y="1947"/>
              <a:chExt cx="5596" cy="668"/>
            </a:xfrm>
          </p:grpSpPr>
          <p:sp>
            <p:nvSpPr>
              <p:cNvPr id="189" name="Rounded Rectangle 22"/>
              <p:cNvSpPr/>
              <p:nvPr/>
            </p:nvSpPr>
            <p:spPr>
              <a:xfrm>
                <a:off x="2207" y="1947"/>
                <a:ext cx="5596" cy="668"/>
              </a:xfrm>
              <a:prstGeom prst="roundRect">
                <a:avLst/>
              </a:prstGeom>
              <a:solidFill>
                <a:srgbClr val="0E4CB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endParaRPr>
              </a:p>
            </p:txBody>
          </p:sp>
          <p:sp>
            <p:nvSpPr>
              <p:cNvPr id="190" name="TextBox 23"/>
              <p:cNvSpPr txBox="1"/>
              <p:nvPr/>
            </p:nvSpPr>
            <p:spPr>
              <a:xfrm>
                <a:off x="2756" y="1991"/>
                <a:ext cx="4498" cy="580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ctr"/>
                <a:r>
                  <a:rPr lang="zh-CN" altLang="en-US" b="1">
                    <a:solidFill>
                      <a:srgbClr val="FFFFFF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智能调度流程</a:t>
                </a:r>
              </a:p>
            </p:txBody>
          </p:sp>
        </p:grpSp>
      </p:grpSp>
      <p:grpSp>
        <p:nvGrpSpPr>
          <p:cNvPr id="233" name="组合 232"/>
          <p:cNvGrpSpPr/>
          <p:nvPr/>
        </p:nvGrpSpPr>
        <p:grpSpPr>
          <a:xfrm>
            <a:off x="6432550" y="1236345"/>
            <a:ext cx="5076190" cy="5366385"/>
            <a:chOff x="10298" y="1991"/>
            <a:chExt cx="7994" cy="8451"/>
          </a:xfrm>
        </p:grpSpPr>
        <p:grpSp>
          <p:nvGrpSpPr>
            <p:cNvPr id="232" name="组合 231"/>
            <p:cNvGrpSpPr/>
            <p:nvPr/>
          </p:nvGrpSpPr>
          <p:grpSpPr>
            <a:xfrm>
              <a:off x="10298" y="1991"/>
              <a:ext cx="7994" cy="6914"/>
              <a:chOff x="10298" y="1991"/>
              <a:chExt cx="7994" cy="6914"/>
            </a:xfrm>
          </p:grpSpPr>
          <p:sp>
            <p:nvSpPr>
              <p:cNvPr id="342" name="圆角矩形 341"/>
              <p:cNvSpPr/>
              <p:nvPr/>
            </p:nvSpPr>
            <p:spPr>
              <a:xfrm>
                <a:off x="10298" y="1991"/>
                <a:ext cx="7995" cy="6914"/>
              </a:xfrm>
              <a:prstGeom prst="roundRect">
                <a:avLst>
                  <a:gd name="adj" fmla="val 2627"/>
                </a:avLst>
              </a:prstGeom>
              <a:solidFill>
                <a:srgbClr val="F8FAFC"/>
              </a:solidFill>
              <a:ln w="12700">
                <a:solidFill>
                  <a:srgbClr val="E2E8F0"/>
                </a:solidFill>
                <a:prstDash val="soli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43" name="文本框 342" descr="{&quot;isTemplate&quot;:true,&quot;type&quot;:&quot;text&quot;}"/>
              <p:cNvSpPr txBox="1"/>
              <p:nvPr/>
            </p:nvSpPr>
            <p:spPr>
              <a:xfrm>
                <a:off x="10432" y="2206"/>
                <a:ext cx="2313" cy="530"/>
              </a:xfrm>
              <a:prstGeom prst="rect">
                <a:avLst/>
              </a:prstGeom>
            </p:spPr>
            <p:txBody>
              <a:bodyPr wrap="none" lIns="0" tIns="0" rIns="0" bIns="0"/>
              <a:lstStyle/>
              <a:p>
                <a:pPr>
                  <a:lnSpc>
                    <a:spcPct val="100000"/>
                  </a:lnSpc>
                </a:pPr>
                <a:r>
                  <a:rPr lang="zh-CN" b="1">
                    <a:solidFill>
                      <a:srgbClr val="1E3A8A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智能调度引擎</a:t>
                </a:r>
              </a:p>
            </p:txBody>
          </p:sp>
          <p:grpSp>
            <p:nvGrpSpPr>
              <p:cNvPr id="204" name="组合 203"/>
              <p:cNvGrpSpPr/>
              <p:nvPr/>
            </p:nvGrpSpPr>
            <p:grpSpPr>
              <a:xfrm>
                <a:off x="10440" y="2964"/>
                <a:ext cx="7446" cy="4297"/>
                <a:chOff x="10665" y="2702"/>
                <a:chExt cx="7446" cy="4297"/>
              </a:xfrm>
            </p:grpSpPr>
            <p:grpSp>
              <p:nvGrpSpPr>
                <p:cNvPr id="200" name="组合 199"/>
                <p:cNvGrpSpPr/>
                <p:nvPr/>
              </p:nvGrpSpPr>
              <p:grpSpPr>
                <a:xfrm>
                  <a:off x="10665" y="2702"/>
                  <a:ext cx="7403" cy="715"/>
                  <a:chOff x="10665" y="2702"/>
                  <a:chExt cx="7403" cy="715"/>
                </a:xfrm>
              </p:grpSpPr>
              <p:sp>
                <p:nvSpPr>
                  <p:cNvPr id="344" name="圆角矩形 343"/>
                  <p:cNvSpPr/>
                  <p:nvPr/>
                </p:nvSpPr>
                <p:spPr>
                  <a:xfrm>
                    <a:off x="10665" y="2819"/>
                    <a:ext cx="480" cy="480"/>
                  </a:xfrm>
                  <a:prstGeom prst="roundRect">
                    <a:avLst>
                      <a:gd name="adj" fmla="val 25000"/>
                    </a:avLst>
                  </a:prstGeom>
                  <a:solidFill>
                    <a:srgbClr val="EFF6FF"/>
                  </a:solidFill>
                </p:spPr>
                <p:txBody>
                  <a:bodyPr/>
                  <a:lstStyle/>
                  <a:p>
                    <a:endParaRPr/>
                  </a:p>
                </p:txBody>
              </p:sp>
              <p:pic>
                <p:nvPicPr>
                  <p:cNvPr id="345" name="图片 344"/>
                  <p:cNvPicPr>
                    <a:picLocks noChangeAspect="1"/>
                  </p:cNvPicPr>
                  <p:nvPr/>
                </p:nvPicPr>
                <p:blipFill>
                  <a:blip/>
                  <a:stretch>
                    <a:fillRect/>
                  </a:stretch>
                </p:blipFill>
                <p:spPr>
                  <a:xfrm>
                    <a:off x="10770" y="2924"/>
                    <a:ext cx="270" cy="270"/>
                  </a:xfrm>
                  <a:prstGeom prst="rect">
                    <a:avLst/>
                  </a:prstGeom>
                </p:spPr>
              </p:pic>
              <p:grpSp>
                <p:nvGrpSpPr>
                  <p:cNvPr id="196" name="组合 195"/>
                  <p:cNvGrpSpPr/>
                  <p:nvPr/>
                </p:nvGrpSpPr>
                <p:grpSpPr>
                  <a:xfrm>
                    <a:off x="11325" y="2702"/>
                    <a:ext cx="6743" cy="715"/>
                    <a:chOff x="11325" y="2763"/>
                    <a:chExt cx="6743" cy="715"/>
                  </a:xfrm>
                </p:grpSpPr>
                <p:sp>
                  <p:nvSpPr>
                    <p:cNvPr id="346" name="文本框 345" descr="{&quot;isTemplate&quot;:true,&quot;type&quot;:&quot;text&quot;}"/>
                    <p:cNvSpPr txBox="1"/>
                    <p:nvPr/>
                  </p:nvSpPr>
                  <p:spPr>
                    <a:xfrm>
                      <a:off x="11325" y="2763"/>
                      <a:ext cx="6360" cy="300"/>
                    </a:xfrm>
                    <a:prstGeom prst="rect">
                      <a:avLst/>
                    </a:prstGeom>
                  </p:spPr>
                  <p:txBody>
                    <a:bodyPr wrap="none" lIns="0" tIns="0" rIns="0" bIns="0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DRL</a:t>
                      </a:r>
                      <a:r>
                        <a:rPr lang="zh-CN" sz="1400" b="1" dirty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调度器</a:t>
                      </a:r>
                      <a:endParaRPr sz="2000" dirty="0"/>
                    </a:p>
                  </p:txBody>
                </p:sp>
                <p:sp>
                  <p:nvSpPr>
                    <p:cNvPr id="347" name="文本框 346" descr="{&quot;isTemplate&quot;:true,&quot;type&quot;:&quot;text&quot;}"/>
                    <p:cNvSpPr txBox="1"/>
                    <p:nvPr/>
                  </p:nvSpPr>
                  <p:spPr>
                    <a:xfrm>
                      <a:off x="11325" y="3118"/>
                      <a:ext cx="6743" cy="360"/>
                    </a:xfrm>
                    <a:prstGeom prst="rect">
                      <a:avLst/>
                    </a:prstGeom>
                  </p:spPr>
                  <p:txBody>
                    <a:bodyPr wrap="none" lIns="0" tIns="0" rIns="0" bIns="0"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PPO</a:t>
                      </a:r>
                      <a:r>
                        <a:rPr lang="zh-CN" sz="1100" dirty="0">
                          <a:solidFill>
                            <a:srgbClr val="64748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离线训练，策略模型</a:t>
                      </a:r>
                      <a:r>
                        <a:rPr lang="en-US" sz="1100" dirty="0">
                          <a:solidFill>
                            <a:srgbClr val="64748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&lt;10MB</a:t>
                      </a:r>
                      <a:r>
                        <a:rPr lang="zh-CN" sz="1100" dirty="0">
                          <a:solidFill>
                            <a:srgbClr val="64748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，推理</a:t>
                      </a:r>
                      <a:r>
                        <a:rPr lang="en-US" sz="1100" dirty="0">
                          <a:solidFill>
                            <a:srgbClr val="64748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&lt;1ms</a:t>
                      </a:r>
                      <a:r>
                        <a:rPr lang="zh-CN" sz="1100" dirty="0">
                          <a:solidFill>
                            <a:srgbClr val="64748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，自适应优化任务路由</a:t>
                      </a:r>
                      <a:endParaRPr sz="2000" dirty="0"/>
                    </a:p>
                  </p:txBody>
                </p:sp>
              </p:grpSp>
            </p:grpSp>
            <p:grpSp>
              <p:nvGrpSpPr>
                <p:cNvPr id="201" name="组合 200"/>
                <p:cNvGrpSpPr/>
                <p:nvPr/>
              </p:nvGrpSpPr>
              <p:grpSpPr>
                <a:xfrm>
                  <a:off x="10665" y="3789"/>
                  <a:ext cx="7446" cy="1061"/>
                  <a:chOff x="10665" y="3836"/>
                  <a:chExt cx="7446" cy="1061"/>
                </a:xfrm>
              </p:grpSpPr>
              <p:sp>
                <p:nvSpPr>
                  <p:cNvPr id="348" name="圆角矩形 347"/>
                  <p:cNvSpPr/>
                  <p:nvPr/>
                </p:nvSpPr>
                <p:spPr>
                  <a:xfrm>
                    <a:off x="10665" y="4127"/>
                    <a:ext cx="480" cy="480"/>
                  </a:xfrm>
                  <a:prstGeom prst="roundRect">
                    <a:avLst>
                      <a:gd name="adj" fmla="val 25000"/>
                    </a:avLst>
                  </a:prstGeom>
                  <a:solidFill>
                    <a:srgbClr val="ECFEFF"/>
                  </a:solidFill>
                </p:spPr>
                <p:txBody>
                  <a:bodyPr/>
                  <a:lstStyle/>
                  <a:p>
                    <a:endParaRPr/>
                  </a:p>
                </p:txBody>
              </p:sp>
              <p:pic>
                <p:nvPicPr>
                  <p:cNvPr id="349" name="图片 348"/>
                  <p:cNvPicPr>
                    <a:picLocks noChangeAspect="1"/>
                  </p:cNvPicPr>
                  <p:nvPr/>
                </p:nvPicPr>
                <p:blipFill>
                  <a:blip/>
                  <a:stretch>
                    <a:fillRect/>
                  </a:stretch>
                </p:blipFill>
                <p:spPr>
                  <a:xfrm>
                    <a:off x="10770" y="4232"/>
                    <a:ext cx="270" cy="270"/>
                  </a:xfrm>
                  <a:prstGeom prst="rect">
                    <a:avLst/>
                  </a:prstGeom>
                </p:spPr>
              </p:pic>
              <p:grpSp>
                <p:nvGrpSpPr>
                  <p:cNvPr id="197" name="组合 196"/>
                  <p:cNvGrpSpPr/>
                  <p:nvPr/>
                </p:nvGrpSpPr>
                <p:grpSpPr>
                  <a:xfrm>
                    <a:off x="11325" y="3836"/>
                    <a:ext cx="6786" cy="1061"/>
                    <a:chOff x="11325" y="3878"/>
                    <a:chExt cx="6786" cy="1061"/>
                  </a:xfrm>
                </p:grpSpPr>
                <p:sp>
                  <p:nvSpPr>
                    <p:cNvPr id="350" name="文本框 349" descr="{&quot;isTemplate&quot;:true,&quot;type&quot;:&quot;text&quot;}"/>
                    <p:cNvSpPr txBox="1"/>
                    <p:nvPr/>
                  </p:nvSpPr>
                  <p:spPr>
                    <a:xfrm>
                      <a:off x="11325" y="3878"/>
                      <a:ext cx="6615" cy="300"/>
                    </a:xfrm>
                    <a:prstGeom prst="rect">
                      <a:avLst/>
                    </a:prstGeom>
                  </p:spPr>
                  <p:txBody>
                    <a:bodyPr wrap="none" lIns="0" tIns="0" rIns="0" bIns="0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1400" b="1" dirty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边缘推理加速</a:t>
                      </a:r>
                      <a:endParaRPr sz="2000" dirty="0"/>
                    </a:p>
                  </p:txBody>
                </p:sp>
                <p:sp>
                  <p:nvSpPr>
                    <p:cNvPr id="351" name="文本框 350" descr="{&quot;isTemplate&quot;:true,&quot;type&quot;:&quot;text&quot;}"/>
                    <p:cNvSpPr txBox="1"/>
                    <p:nvPr/>
                  </p:nvSpPr>
                  <p:spPr>
                    <a:xfrm>
                      <a:off x="11325" y="4219"/>
                      <a:ext cx="6786" cy="720"/>
                    </a:xfrm>
                    <a:prstGeom prst="rect">
                      <a:avLst/>
                    </a:prstGeom>
                  </p:spPr>
                  <p:txBody>
                    <a:bodyPr wrap="square" lIns="0" tIns="0" rIns="0" bIns="0">
                      <a:normAutofit lnSpcReduction="10000"/>
                    </a:bodyPr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INT4</a:t>
                      </a:r>
                      <a:r>
                        <a:rPr lang="zh-CN" sz="1100" dirty="0">
                          <a:solidFill>
                            <a:srgbClr val="64748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量化</a:t>
                      </a:r>
                      <a:r>
                        <a:rPr lang="en-US" sz="1100" dirty="0">
                          <a:solidFill>
                            <a:srgbClr val="64748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+NPU</a:t>
                      </a:r>
                      <a:r>
                        <a:rPr lang="zh-CN" sz="1100" dirty="0">
                          <a:solidFill>
                            <a:srgbClr val="64748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加速</a:t>
                      </a:r>
                      <a:r>
                        <a:rPr lang="en-US" sz="1100" dirty="0">
                          <a:solidFill>
                            <a:srgbClr val="64748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(5-10x)+KV </a:t>
                      </a:r>
                      <a:r>
                        <a:rPr lang="en-US" sz="1100" dirty="0" err="1">
                          <a:solidFill>
                            <a:srgbClr val="64748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Cache+Speculative</a:t>
                      </a:r>
                      <a:r>
                        <a:rPr lang="en-US" sz="1100" dirty="0">
                          <a:solidFill>
                            <a:srgbClr val="64748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 Decoding+</a:t>
                      </a:r>
                      <a:r>
                        <a:rPr lang="zh-CN" sz="1100" dirty="0">
                          <a:solidFill>
                            <a:srgbClr val="64748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模型常驻</a:t>
                      </a:r>
                      <a:endParaRPr sz="2000" dirty="0"/>
                    </a:p>
                  </p:txBody>
                </p:sp>
              </p:grpSp>
            </p:grpSp>
            <p:grpSp>
              <p:nvGrpSpPr>
                <p:cNvPr id="202" name="组合 201"/>
                <p:cNvGrpSpPr/>
                <p:nvPr/>
              </p:nvGrpSpPr>
              <p:grpSpPr>
                <a:xfrm>
                  <a:off x="10665" y="5224"/>
                  <a:ext cx="7277" cy="702"/>
                  <a:chOff x="10665" y="5170"/>
                  <a:chExt cx="6494" cy="702"/>
                </a:xfrm>
              </p:grpSpPr>
              <p:sp>
                <p:nvSpPr>
                  <p:cNvPr id="352" name="圆角矩形 351"/>
                  <p:cNvSpPr/>
                  <p:nvPr/>
                </p:nvSpPr>
                <p:spPr>
                  <a:xfrm>
                    <a:off x="10665" y="5281"/>
                    <a:ext cx="480" cy="480"/>
                  </a:xfrm>
                  <a:prstGeom prst="roundRect">
                    <a:avLst>
                      <a:gd name="adj" fmla="val 25000"/>
                    </a:avLst>
                  </a:prstGeom>
                  <a:solidFill>
                    <a:srgbClr val="FFF7ED"/>
                  </a:solidFill>
                </p:spPr>
                <p:txBody>
                  <a:bodyPr/>
                  <a:lstStyle/>
                  <a:p>
                    <a:endParaRPr/>
                  </a:p>
                </p:txBody>
              </p:sp>
              <p:pic>
                <p:nvPicPr>
                  <p:cNvPr id="353" name="图片 352"/>
                  <p:cNvPicPr>
                    <a:picLocks noChangeAspect="1"/>
                  </p:cNvPicPr>
                  <p:nvPr/>
                </p:nvPicPr>
                <p:blipFill>
                  <a:blip/>
                  <a:stretch>
                    <a:fillRect/>
                  </a:stretch>
                </p:blipFill>
                <p:spPr>
                  <a:xfrm>
                    <a:off x="10770" y="5386"/>
                    <a:ext cx="270" cy="270"/>
                  </a:xfrm>
                  <a:prstGeom prst="rect">
                    <a:avLst/>
                  </a:prstGeom>
                </p:spPr>
              </p:pic>
              <p:grpSp>
                <p:nvGrpSpPr>
                  <p:cNvPr id="198" name="组合 197"/>
                  <p:cNvGrpSpPr/>
                  <p:nvPr/>
                </p:nvGrpSpPr>
                <p:grpSpPr>
                  <a:xfrm>
                    <a:off x="11325" y="5170"/>
                    <a:ext cx="5834" cy="702"/>
                    <a:chOff x="11325" y="5211"/>
                    <a:chExt cx="5834" cy="702"/>
                  </a:xfrm>
                </p:grpSpPr>
                <p:sp>
                  <p:nvSpPr>
                    <p:cNvPr id="354" name="文本框 353" descr="{&quot;isTemplate&quot;:true,&quot;type&quot;:&quot;text&quot;}"/>
                    <p:cNvSpPr txBox="1"/>
                    <p:nvPr/>
                  </p:nvSpPr>
                  <p:spPr>
                    <a:xfrm>
                      <a:off x="11325" y="5211"/>
                      <a:ext cx="5835" cy="300"/>
                    </a:xfrm>
                    <a:prstGeom prst="rect">
                      <a:avLst/>
                    </a:prstGeom>
                  </p:spPr>
                  <p:txBody>
                    <a:bodyPr wrap="none" lIns="0" tIns="0" rIns="0" bIns="0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1400" b="1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场景预编排与缓存</a:t>
                      </a:r>
                      <a:endParaRPr sz="2000"/>
                    </a:p>
                  </p:txBody>
                </p:sp>
                <p:sp>
                  <p:nvSpPr>
                    <p:cNvPr id="355" name="文本框 354" descr="{&quot;isTemplate&quot;:true,&quot;type&quot;:&quot;text&quot;}"/>
                    <p:cNvSpPr txBox="1"/>
                    <p:nvPr/>
                  </p:nvSpPr>
                  <p:spPr>
                    <a:xfrm>
                      <a:off x="11325" y="5553"/>
                      <a:ext cx="5835" cy="360"/>
                    </a:xfrm>
                    <a:prstGeom prst="rect">
                      <a:avLst/>
                    </a:prstGeom>
                  </p:spPr>
                  <p:txBody>
                    <a:bodyPr wrap="none" lIns="0" tIns="0" rIns="0" bIns="0"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lang="en-US" sz="1100">
                          <a:solidFill>
                            <a:srgbClr val="64748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50+</a:t>
                      </a:r>
                      <a:r>
                        <a:rPr lang="zh-CN" sz="1100">
                          <a:solidFill>
                            <a:srgbClr val="64748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场景模板，命中率</a:t>
                      </a:r>
                      <a:r>
                        <a:rPr lang="en-US" sz="1100">
                          <a:solidFill>
                            <a:srgbClr val="64748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&gt;60%</a:t>
                      </a:r>
                      <a:r>
                        <a:rPr lang="zh-CN" sz="1100">
                          <a:solidFill>
                            <a:srgbClr val="64748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直接执行，预测性预执行降低延迟</a:t>
                      </a:r>
                      <a:endParaRPr sz="2000"/>
                    </a:p>
                  </p:txBody>
                </p:sp>
              </p:grpSp>
            </p:grpSp>
            <p:grpSp>
              <p:nvGrpSpPr>
                <p:cNvPr id="203" name="组合 202"/>
                <p:cNvGrpSpPr/>
                <p:nvPr/>
              </p:nvGrpSpPr>
              <p:grpSpPr>
                <a:xfrm>
                  <a:off x="10665" y="6299"/>
                  <a:ext cx="7275" cy="701"/>
                  <a:chOff x="10665" y="6299"/>
                  <a:chExt cx="7275" cy="702"/>
                </a:xfrm>
              </p:grpSpPr>
              <p:sp>
                <p:nvSpPr>
                  <p:cNvPr id="356" name="圆角矩形 355"/>
                  <p:cNvSpPr/>
                  <p:nvPr/>
                </p:nvSpPr>
                <p:spPr>
                  <a:xfrm>
                    <a:off x="10665" y="6409"/>
                    <a:ext cx="480" cy="480"/>
                  </a:xfrm>
                  <a:prstGeom prst="roundRect">
                    <a:avLst>
                      <a:gd name="adj" fmla="val 25000"/>
                    </a:avLst>
                  </a:prstGeom>
                  <a:solidFill>
                    <a:srgbClr val="F0FDF4"/>
                  </a:solidFill>
                </p:spPr>
                <p:txBody>
                  <a:bodyPr/>
                  <a:lstStyle/>
                  <a:p>
                    <a:endParaRPr/>
                  </a:p>
                </p:txBody>
              </p:sp>
              <p:pic>
                <p:nvPicPr>
                  <p:cNvPr id="357" name="图片 356"/>
                  <p:cNvPicPr>
                    <a:picLocks noChangeAspect="1"/>
                  </p:cNvPicPr>
                  <p:nvPr/>
                </p:nvPicPr>
                <p:blipFill>
                  <a:blip/>
                  <a:stretch>
                    <a:fillRect/>
                  </a:stretch>
                </p:blipFill>
                <p:spPr>
                  <a:xfrm>
                    <a:off x="10770" y="6514"/>
                    <a:ext cx="270" cy="270"/>
                  </a:xfrm>
                  <a:prstGeom prst="rect">
                    <a:avLst/>
                  </a:prstGeom>
                </p:spPr>
              </p:pic>
              <p:grpSp>
                <p:nvGrpSpPr>
                  <p:cNvPr id="199" name="组合 198"/>
                  <p:cNvGrpSpPr/>
                  <p:nvPr/>
                </p:nvGrpSpPr>
                <p:grpSpPr>
                  <a:xfrm>
                    <a:off x="11325" y="6299"/>
                    <a:ext cx="6615" cy="702"/>
                    <a:chOff x="11325" y="6339"/>
                    <a:chExt cx="6615" cy="702"/>
                  </a:xfrm>
                </p:grpSpPr>
                <p:sp>
                  <p:nvSpPr>
                    <p:cNvPr id="358" name="文本框 357" descr="{&quot;isTemplate&quot;:true,&quot;type&quot;:&quot;text&quot;}"/>
                    <p:cNvSpPr txBox="1"/>
                    <p:nvPr/>
                  </p:nvSpPr>
                  <p:spPr>
                    <a:xfrm>
                      <a:off x="11325" y="6339"/>
                      <a:ext cx="5430" cy="300"/>
                    </a:xfrm>
                    <a:prstGeom prst="rect">
                      <a:avLst/>
                    </a:prstGeom>
                  </p:spPr>
                  <p:txBody>
                    <a:bodyPr wrap="none" lIns="0" tIns="0" rIns="0" bIns="0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SLA</a:t>
                      </a:r>
                      <a:r>
                        <a:rPr lang="zh-CN" sz="1400" b="1" dirty="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分级保障</a:t>
                      </a:r>
                      <a:endParaRPr sz="2000" dirty="0"/>
                    </a:p>
                  </p:txBody>
                </p:sp>
                <p:sp>
                  <p:nvSpPr>
                    <p:cNvPr id="359" name="文本框 358" descr="{&quot;isTemplate&quot;:true,&quot;type&quot;:&quot;text&quot;}"/>
                    <p:cNvSpPr txBox="1"/>
                    <p:nvPr/>
                  </p:nvSpPr>
                  <p:spPr>
                    <a:xfrm>
                      <a:off x="11325" y="6681"/>
                      <a:ext cx="6615" cy="360"/>
                    </a:xfrm>
                    <a:prstGeom prst="rect">
                      <a:avLst/>
                    </a:prstGeom>
                  </p:spPr>
                  <p:txBody>
                    <a:bodyPr wrap="none" lIns="0" tIns="0" rIns="0" bIns="0"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P0</a:t>
                      </a:r>
                      <a:r>
                        <a:rPr lang="zh-CN" sz="1100" dirty="0">
                          <a:solidFill>
                            <a:srgbClr val="64748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紧急</a:t>
                      </a:r>
                      <a:r>
                        <a:rPr lang="en-US" sz="1100" dirty="0">
                          <a:solidFill>
                            <a:srgbClr val="64748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&lt;20ms · P1</a:t>
                      </a:r>
                      <a:r>
                        <a:rPr lang="zh-CN" sz="1100" dirty="0">
                          <a:solidFill>
                            <a:srgbClr val="64748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高</a:t>
                      </a:r>
                      <a:r>
                        <a:rPr lang="en-US" sz="1100" dirty="0">
                          <a:solidFill>
                            <a:srgbClr val="64748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&lt;50ms · P2</a:t>
                      </a:r>
                      <a:r>
                        <a:rPr lang="zh-CN" sz="1100" dirty="0">
                          <a:solidFill>
                            <a:srgbClr val="64748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中</a:t>
                      </a:r>
                      <a:r>
                        <a:rPr lang="en-US" sz="1100" dirty="0">
                          <a:solidFill>
                            <a:srgbClr val="64748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&lt;200ms · P3</a:t>
                      </a:r>
                      <a:r>
                        <a:rPr lang="zh-CN" sz="1100" dirty="0">
                          <a:solidFill>
                            <a:srgbClr val="64748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低无约束</a:t>
                      </a:r>
                      <a:endParaRPr sz="2000" dirty="0"/>
                    </a:p>
                  </p:txBody>
                </p:sp>
              </p:grpSp>
            </p:grpSp>
          </p:grpSp>
          <p:grpSp>
            <p:nvGrpSpPr>
              <p:cNvPr id="205" name="组合 204"/>
              <p:cNvGrpSpPr/>
              <p:nvPr/>
            </p:nvGrpSpPr>
            <p:grpSpPr>
              <a:xfrm>
                <a:off x="10440" y="7489"/>
                <a:ext cx="7712" cy="1202"/>
                <a:chOff x="10447" y="8208"/>
                <a:chExt cx="7712" cy="1202"/>
              </a:xfrm>
            </p:grpSpPr>
            <p:sp>
              <p:nvSpPr>
                <p:cNvPr id="360" name="圆角矩形 359"/>
                <p:cNvSpPr/>
                <p:nvPr/>
              </p:nvSpPr>
              <p:spPr>
                <a:xfrm>
                  <a:off x="10447" y="8208"/>
                  <a:ext cx="7712" cy="1202"/>
                </a:xfrm>
                <a:prstGeom prst="roundRect">
                  <a:avLst>
                    <a:gd name="adj" fmla="val 13793"/>
                  </a:avLst>
                </a:prstGeom>
                <a:solidFill>
                  <a:srgbClr val="1E3A8A"/>
                </a:solidFill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361" name="文本框 360" descr="{&quot;isTemplate&quot;:true,&quot;type&quot;:&quot;text&quot;}"/>
                <p:cNvSpPr txBox="1"/>
                <p:nvPr/>
              </p:nvSpPr>
              <p:spPr>
                <a:xfrm>
                  <a:off x="10486" y="8318"/>
                  <a:ext cx="7634" cy="982"/>
                </a:xfrm>
                <a:prstGeom prst="rect">
                  <a:avLst/>
                </a:prstGeom>
              </p:spPr>
              <p:txBody>
                <a:bodyPr wrap="square" lIns="0" tIns="0" rIns="0" bIns="0"/>
                <a:lstStyle/>
                <a:p>
                  <a:pPr>
                    <a:lnSpc>
                      <a:spcPct val="100000"/>
                    </a:lnSpc>
                  </a:pPr>
                  <a:r>
                    <a:rPr lang="zh-CN" sz="1400" b="1" dirty="0">
                      <a:solidFill>
                        <a:srgbClr val="FFFFFF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技术栈：</a:t>
                  </a:r>
                  <a:r>
                    <a:rPr lang="en-US" sz="1400" b="1" dirty="0">
                      <a:solidFill>
                        <a:srgbClr val="FFFFFF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Qwen2.5-72B(</a:t>
                  </a:r>
                  <a:r>
                    <a:rPr lang="zh-CN" sz="1400" b="1" dirty="0">
                      <a:solidFill>
                        <a:srgbClr val="FFFFFF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云</a:t>
                  </a:r>
                  <a:r>
                    <a:rPr lang="en-US" sz="1400" b="1" dirty="0">
                      <a:solidFill>
                        <a:srgbClr val="FFFFFF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) + Qwen2.5-7B-INT4(</a:t>
                  </a:r>
                  <a:r>
                    <a:rPr lang="zh-CN" sz="1400" b="1" dirty="0">
                      <a:solidFill>
                        <a:srgbClr val="FFFFFF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边</a:t>
                  </a:r>
                  <a:r>
                    <a:rPr lang="en-US" sz="1400" b="1" dirty="0">
                      <a:solidFill>
                        <a:srgbClr val="FFFFFF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) + </a:t>
                  </a:r>
                  <a:r>
                    <a:rPr lang="en-US" sz="1400" b="1" dirty="0" err="1">
                      <a:solidFill>
                        <a:srgbClr val="FFFFFF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vLLM(</a:t>
                  </a:r>
                  <a:r>
                    <a:rPr lang="zh-CN" altLang="en-US" sz="1400" b="1" dirty="0" err="1">
                      <a:solidFill>
                        <a:srgbClr val="FFFFFF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高性能推理框架</a:t>
                  </a:r>
                  <a:r>
                    <a:rPr lang="en-US" sz="1400" b="1" dirty="0" err="1">
                      <a:solidFill>
                        <a:srgbClr val="FFFFFF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)</a:t>
                  </a:r>
                  <a:r>
                    <a:rPr lang="en-US" sz="1400" b="1" dirty="0">
                      <a:solidFill>
                        <a:srgbClr val="FFFFFF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 + llama.cpp</a:t>
                  </a:r>
                  <a:r>
                    <a:rPr lang="zh-CN" altLang="en-US" sz="1400" b="1" dirty="0">
                      <a:solidFill>
                        <a:srgbClr val="FFFFFF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（轻量化通用推理框架）</a:t>
                  </a:r>
                  <a:r>
                    <a:rPr lang="en-US" sz="1400" b="1" dirty="0">
                      <a:solidFill>
                        <a:srgbClr val="FFFFFF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 + K3s(</a:t>
                  </a:r>
                  <a:r>
                    <a:rPr lang="zh-CN" altLang="en-US" sz="1400" b="1" dirty="0">
                      <a:solidFill>
                        <a:srgbClr val="FFFFFF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轻量化系统</a:t>
                  </a:r>
                  <a:r>
                    <a:rPr lang="en-US" sz="1400" b="1" dirty="0">
                      <a:solidFill>
                        <a:srgbClr val="FFFFFF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)</a:t>
                  </a:r>
                </a:p>
              </p:txBody>
            </p:sp>
          </p:grpSp>
        </p:grpSp>
        <p:grpSp>
          <p:nvGrpSpPr>
            <p:cNvPr id="231" name="组合 230"/>
            <p:cNvGrpSpPr/>
            <p:nvPr/>
          </p:nvGrpSpPr>
          <p:grpSpPr>
            <a:xfrm>
              <a:off x="10298" y="8968"/>
              <a:ext cx="7994" cy="1474"/>
              <a:chOff x="10298" y="8968"/>
              <a:chExt cx="7994" cy="1474"/>
            </a:xfrm>
          </p:grpSpPr>
          <p:sp>
            <p:nvSpPr>
              <p:cNvPr id="209" name="圆角矩形 208"/>
              <p:cNvSpPr/>
              <p:nvPr/>
            </p:nvSpPr>
            <p:spPr>
              <a:xfrm>
                <a:off x="10298" y="8968"/>
                <a:ext cx="7995" cy="1474"/>
              </a:xfrm>
              <a:prstGeom prst="roundRect">
                <a:avLst>
                  <a:gd name="adj" fmla="val 2627"/>
                </a:avLst>
              </a:prstGeom>
              <a:solidFill>
                <a:srgbClr val="F8FAFC"/>
              </a:solidFill>
              <a:ln w="12700">
                <a:solidFill>
                  <a:srgbClr val="E2E8F0"/>
                </a:solidFill>
                <a:prstDash val="solid"/>
              </a:ln>
            </p:spPr>
            <p:txBody>
              <a:bodyPr/>
              <a:lstStyle/>
              <a:p>
                <a:endParaRPr/>
              </a:p>
            </p:txBody>
          </p:sp>
          <p:grpSp>
            <p:nvGrpSpPr>
              <p:cNvPr id="229" name="组合 228"/>
              <p:cNvGrpSpPr/>
              <p:nvPr/>
            </p:nvGrpSpPr>
            <p:grpSpPr>
              <a:xfrm>
                <a:off x="10565" y="9531"/>
                <a:ext cx="7461" cy="776"/>
                <a:chOff x="10545" y="976"/>
                <a:chExt cx="7461" cy="776"/>
              </a:xfrm>
            </p:grpSpPr>
            <p:sp>
              <p:nvSpPr>
                <p:cNvPr id="224" name="TextBox 131"/>
                <p:cNvSpPr txBox="1"/>
                <p:nvPr/>
              </p:nvSpPr>
              <p:spPr>
                <a:xfrm>
                  <a:off x="10545" y="1025"/>
                  <a:ext cx="1755" cy="67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spAutoFit/>
                </a:bodyPr>
                <a:lstStyle/>
                <a:p>
                  <a:pPr algn="l"/>
                  <a:r>
                    <a:rPr sz="1600" b="1">
                      <a:solidFill>
                        <a:srgbClr val="125EE1"/>
                      </a:solidFill>
                      <a:latin typeface="微软雅黑" panose="020B0503020204020204" charset="-122"/>
                    </a:rPr>
                    <a:t>&lt;50ms</a:t>
                  </a:r>
                  <a:br>
                    <a:rPr sz="1600" b="1">
                      <a:solidFill>
                        <a:srgbClr val="125EE1"/>
                      </a:solidFill>
                      <a:latin typeface="微软雅黑" panose="020B0503020204020204" charset="-122"/>
                    </a:rPr>
                  </a:br>
                  <a:r>
                    <a:rPr lang="zh-CN" sz="1200">
                      <a:solidFill>
                        <a:schemeClr val="tx1">
                          <a:alpha val="70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sym typeface="+mn-ea"/>
                    </a:rPr>
                    <a:t>关键业务响应</a:t>
                  </a:r>
                  <a:endParaRPr lang="zh-CN" sz="1200" b="1">
                    <a:solidFill>
                      <a:schemeClr val="tx1">
                        <a:alpha val="7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endParaRPr>
                </a:p>
              </p:txBody>
            </p:sp>
            <p:sp>
              <p:nvSpPr>
                <p:cNvPr id="226" name="TextBox 134"/>
                <p:cNvSpPr txBox="1"/>
                <p:nvPr/>
              </p:nvSpPr>
              <p:spPr>
                <a:xfrm>
                  <a:off x="12745" y="976"/>
                  <a:ext cx="1239" cy="77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noAutofit/>
                </a:bodyPr>
                <a:lstStyle/>
                <a:p>
                  <a:pPr algn="l"/>
                  <a:r>
                    <a:rPr sz="1600" b="1">
                      <a:solidFill>
                        <a:srgbClr val="009682"/>
                      </a:solidFill>
                      <a:latin typeface="微软雅黑" panose="020B0503020204020204" charset="-122"/>
                    </a:rPr>
                    <a:t>85%+</a:t>
                  </a:r>
                  <a:br>
                    <a:rPr sz="1600" b="1">
                      <a:solidFill>
                        <a:srgbClr val="009682"/>
                      </a:solidFill>
                      <a:latin typeface="微软雅黑" panose="020B0503020204020204" charset="-122"/>
                    </a:rPr>
                  </a:br>
                  <a:r>
                    <a:rPr lang="zh-CN" sz="1200">
                      <a:solidFill>
                        <a:schemeClr val="tx1">
                          <a:alpha val="70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sym typeface="+mn-ea"/>
                    </a:rPr>
                    <a:t>任务命中率</a:t>
                  </a:r>
                </a:p>
                <a:p>
                  <a:pPr algn="l"/>
                  <a:endParaRPr sz="1600" b="1">
                    <a:solidFill>
                      <a:srgbClr val="009682"/>
                    </a:solidFill>
                    <a:latin typeface="微软雅黑" panose="020B0503020204020204" charset="-122"/>
                  </a:endParaRPr>
                </a:p>
              </p:txBody>
            </p:sp>
            <p:sp>
              <p:nvSpPr>
                <p:cNvPr id="227" name="TextBox 137"/>
                <p:cNvSpPr txBox="1"/>
                <p:nvPr/>
              </p:nvSpPr>
              <p:spPr>
                <a:xfrm>
                  <a:off x="14429" y="1025"/>
                  <a:ext cx="1850" cy="67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spAutoFit/>
                </a:bodyPr>
                <a:lstStyle/>
                <a:p>
                  <a:pPr algn="l"/>
                  <a:r>
                    <a:rPr sz="1600" b="1">
                      <a:solidFill>
                        <a:srgbClr val="F27E00"/>
                      </a:solidFill>
                      <a:latin typeface="微软雅黑" panose="020B0503020204020204" charset="-122"/>
                    </a:rPr>
                    <a:t>65%+</a:t>
                  </a:r>
                  <a:br>
                    <a:rPr sz="1600" b="1">
                      <a:solidFill>
                        <a:srgbClr val="F27E00"/>
                      </a:solidFill>
                      <a:latin typeface="微软雅黑" panose="020B0503020204020204" charset="-122"/>
                    </a:rPr>
                  </a:br>
                  <a:r>
                    <a:rPr lang="zh-CN" sz="1200">
                      <a:solidFill>
                        <a:srgbClr val="64748B"/>
                      </a:solidFill>
                      <a:latin typeface="微软雅黑" panose="020B0503020204020204" charset="-122"/>
                      <a:ea typeface="微软雅黑" panose="020B0503020204020204" charset="-122"/>
                      <a:sym typeface="+mn-ea"/>
                    </a:rPr>
                    <a:t>边缘算力利用率</a:t>
                  </a:r>
                  <a:endParaRPr sz="1600" b="1">
                    <a:solidFill>
                      <a:srgbClr val="F27E00"/>
                    </a:solidFill>
                    <a:latin typeface="微软雅黑" panose="020B0503020204020204" charset="-122"/>
                  </a:endParaRPr>
                </a:p>
              </p:txBody>
            </p:sp>
            <p:sp>
              <p:nvSpPr>
                <p:cNvPr id="228" name="TextBox 140"/>
                <p:cNvSpPr txBox="1"/>
                <p:nvPr/>
              </p:nvSpPr>
              <p:spPr>
                <a:xfrm>
                  <a:off x="16724" y="1025"/>
                  <a:ext cx="1283" cy="67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spAutoFit/>
                </a:bodyPr>
                <a:lstStyle/>
                <a:p>
                  <a:pPr algn="l"/>
                  <a:r>
                    <a:rPr sz="1600" b="1">
                      <a:solidFill>
                        <a:srgbClr val="684EEB"/>
                      </a:solidFill>
                      <a:latin typeface="微软雅黑" panose="020B0503020204020204" charset="-122"/>
                    </a:rPr>
                    <a:t>99.9%</a:t>
                  </a:r>
                  <a:br>
                    <a:rPr sz="1600" b="1">
                      <a:solidFill>
                        <a:srgbClr val="684EEB"/>
                      </a:solidFill>
                      <a:latin typeface="微软雅黑" panose="020B0503020204020204" charset="-122"/>
                    </a:rPr>
                  </a:br>
                  <a:r>
                    <a:rPr lang="zh-CN" sz="1200">
                      <a:solidFill>
                        <a:schemeClr val="tx1">
                          <a:alpha val="70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sym typeface="+mn-ea"/>
                    </a:rPr>
                    <a:t>系统可用性</a:t>
                  </a:r>
                  <a:endParaRPr sz="1600" b="1">
                    <a:solidFill>
                      <a:srgbClr val="684EEB"/>
                    </a:solidFill>
                    <a:latin typeface="微软雅黑" panose="020B0503020204020204" charset="-122"/>
                  </a:endParaRPr>
                </a:p>
              </p:txBody>
            </p:sp>
          </p:grpSp>
          <p:sp>
            <p:nvSpPr>
              <p:cNvPr id="230" name="文本框 229" descr="{&quot;isTemplate&quot;:true,&quot;type&quot;:&quot;text&quot;}"/>
              <p:cNvSpPr txBox="1"/>
              <p:nvPr/>
            </p:nvSpPr>
            <p:spPr>
              <a:xfrm>
                <a:off x="10432" y="9064"/>
                <a:ext cx="1577" cy="434"/>
              </a:xfrm>
              <a:prstGeom prst="rect">
                <a:avLst/>
              </a:prstGeom>
            </p:spPr>
            <p:txBody>
              <a:bodyPr wrap="none" lIns="0" tIns="0" rIns="0" bIns="0"/>
              <a:lstStyle/>
              <a:p>
                <a:pPr>
                  <a:lnSpc>
                    <a:spcPct val="100000"/>
                  </a:lnSpc>
                </a:pPr>
                <a:r>
                  <a:rPr lang="zh-CN" b="1">
                    <a:solidFill>
                      <a:srgbClr val="1E3A8A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关键指标</a:t>
                </a: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Box 1"/>
          <p:cNvSpPr txBox="1"/>
          <p:nvPr/>
        </p:nvSpPr>
        <p:spPr>
          <a:xfrm>
            <a:off x="172720" y="140970"/>
            <a:ext cx="4014470" cy="460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zh-CN" sz="2400" b="1" dirty="0" smtClean="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家庭微</a:t>
            </a:r>
            <a:r>
              <a:rPr lang="zh-CN" sz="2400" b="1" dirty="0" smtClean="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脑</a:t>
            </a:r>
            <a:r>
              <a:rPr lang="zh-CN" altLang="en-US" sz="2400" b="1" dirty="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</a:t>
            </a:r>
            <a:r>
              <a:rPr lang="zh-CN" sz="2400" b="1" dirty="0" smtClean="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架构</a:t>
            </a:r>
            <a:endParaRPr lang="zh-CN" altLang="en-US" sz="2400" b="1" dirty="0">
              <a:solidFill>
                <a:srgbClr val="063591"/>
              </a:solidFill>
              <a:latin typeface="Times New Roman" panose="02020603050405020304" charset="0"/>
              <a:ea typeface="微软雅黑" panose="020B0503020204020204" charset="-122"/>
            </a:endParaRPr>
          </a:p>
        </p:txBody>
      </p:sp>
      <p:sp>
        <p:nvSpPr>
          <p:cNvPr id="104" name="TextBox 2"/>
          <p:cNvSpPr txBox="1"/>
          <p:nvPr/>
        </p:nvSpPr>
        <p:spPr>
          <a:xfrm>
            <a:off x="172720" y="601345"/>
            <a:ext cx="648208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zh-CN" altLang="en-US" sz="1400" b="0" dirty="0">
                <a:solidFill>
                  <a:srgbClr val="06359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软路由</a:t>
            </a:r>
            <a:r>
              <a:rPr lang="en-US" altLang="zh-CN" sz="1400" b="0" dirty="0">
                <a:solidFill>
                  <a:srgbClr val="06359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</a:t>
            </a:r>
            <a:r>
              <a:rPr lang="en-US" altLang="zh-CN" sz="1400" b="0" dirty="0" smtClean="0">
                <a:solidFill>
                  <a:srgbClr val="06359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+  </a:t>
            </a:r>
            <a:r>
              <a:rPr lang="zh-CN" altLang="en-US" sz="1400" dirty="0" smtClean="0">
                <a:solidFill>
                  <a:srgbClr val="06359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数字管家</a:t>
            </a:r>
            <a:r>
              <a:rPr lang="en-US" altLang="zh-CN" sz="1400" b="0" dirty="0" smtClean="0">
                <a:solidFill>
                  <a:srgbClr val="06359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AI</a:t>
            </a:r>
            <a:r>
              <a:rPr lang="zh-CN" altLang="en-US" sz="1400" b="0" dirty="0">
                <a:solidFill>
                  <a:srgbClr val="06359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大模型</a:t>
            </a:r>
            <a:r>
              <a:rPr lang="en-US" altLang="zh-CN" sz="1400" b="0" dirty="0">
                <a:solidFill>
                  <a:srgbClr val="06359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</a:t>
            </a:r>
            <a:r>
              <a:rPr lang="en-US" altLang="zh-CN" sz="1400" b="0" dirty="0" smtClean="0">
                <a:solidFill>
                  <a:srgbClr val="06359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+  </a:t>
            </a:r>
            <a:r>
              <a:rPr lang="zh-CN" altLang="en-US" sz="1400" b="0" dirty="0" smtClean="0">
                <a:solidFill>
                  <a:srgbClr val="06359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全</a:t>
            </a:r>
            <a:r>
              <a:rPr lang="zh-CN" altLang="en-US" sz="1400" b="0" dirty="0">
                <a:solidFill>
                  <a:srgbClr val="06359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屋智控，提供安全可靠的家庭智能服务</a:t>
            </a:r>
          </a:p>
        </p:txBody>
      </p:sp>
      <p:grpSp>
        <p:nvGrpSpPr>
          <p:cNvPr id="50" name="组合 49"/>
          <p:cNvGrpSpPr/>
          <p:nvPr/>
        </p:nvGrpSpPr>
        <p:grpSpPr>
          <a:xfrm>
            <a:off x="373380" y="1202690"/>
            <a:ext cx="5452745" cy="861060"/>
            <a:chOff x="438" y="2347"/>
            <a:chExt cx="8587" cy="1356"/>
          </a:xfrm>
        </p:grpSpPr>
        <p:sp>
          <p:nvSpPr>
            <p:cNvPr id="38" name="圆角矩形 37"/>
            <p:cNvSpPr/>
            <p:nvPr>
              <p:custDataLst>
                <p:tags r:id="rId18"/>
              </p:custDataLst>
            </p:nvPr>
          </p:nvSpPr>
          <p:spPr>
            <a:xfrm>
              <a:off x="438" y="2347"/>
              <a:ext cx="8587" cy="1356"/>
            </a:xfrm>
            <a:prstGeom prst="roundRect">
              <a:avLst>
                <a:gd name="adj" fmla="val 13889"/>
              </a:avLst>
            </a:prstGeom>
            <a:solidFill>
              <a:srgbClr val="EFF6FF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9" name="圆角矩形 38"/>
            <p:cNvSpPr/>
            <p:nvPr>
              <p:custDataLst>
                <p:tags r:id="rId19"/>
              </p:custDataLst>
            </p:nvPr>
          </p:nvSpPr>
          <p:spPr>
            <a:xfrm>
              <a:off x="704" y="2611"/>
              <a:ext cx="828" cy="828"/>
            </a:xfrm>
            <a:prstGeom prst="roundRect">
              <a:avLst>
                <a:gd name="adj" fmla="val 22727"/>
              </a:avLst>
            </a:prstGeom>
            <a:solidFill>
              <a:srgbClr val="1E3A8A"/>
            </a:solidFill>
          </p:spPr>
          <p:txBody>
            <a:bodyPr/>
            <a:lstStyle/>
            <a:p>
              <a:endParaRPr/>
            </a:p>
          </p:txBody>
        </p:sp>
        <p:grpSp>
          <p:nvGrpSpPr>
            <p:cNvPr id="2" name="组合 1"/>
            <p:cNvGrpSpPr/>
            <p:nvPr>
              <p:custDataLst>
                <p:tags r:id="rId20"/>
              </p:custDataLst>
            </p:nvPr>
          </p:nvGrpSpPr>
          <p:grpSpPr>
            <a:xfrm>
              <a:off x="1682" y="2662"/>
              <a:ext cx="5668" cy="726"/>
              <a:chOff x="1232" y="2711"/>
              <a:chExt cx="5668" cy="726"/>
            </a:xfrm>
          </p:grpSpPr>
          <p:sp>
            <p:nvSpPr>
              <p:cNvPr id="373" name="文本框 372" descr="{&quot;isTemplate&quot;:true,&quot;type&quot;:&quot;text&quot;}"/>
              <p:cNvSpPr txBox="1"/>
              <p:nvPr>
                <p:custDataLst>
                  <p:tags r:id="rId22"/>
                </p:custDataLst>
              </p:nvPr>
            </p:nvSpPr>
            <p:spPr>
              <a:xfrm>
                <a:off x="1232" y="2711"/>
                <a:ext cx="3175" cy="397"/>
              </a:xfrm>
              <a:prstGeom prst="rect">
                <a:avLst/>
              </a:prstGeom>
            </p:spPr>
            <p:txBody>
              <a:bodyPr wrap="none" lIns="0" tIns="0" rIns="0" bIns="0"/>
              <a:lstStyle/>
              <a:p>
                <a:pPr>
                  <a:lnSpc>
                    <a:spcPct val="100000"/>
                  </a:lnSpc>
                </a:pPr>
                <a:r>
                  <a:rPr lang="zh-CN" sz="1600" b="1">
                    <a:solidFill>
                      <a:srgbClr val="1E3A8A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用户交互层</a:t>
                </a:r>
              </a:p>
            </p:txBody>
          </p:sp>
          <p:sp>
            <p:nvSpPr>
              <p:cNvPr id="40" name="文本框 39" descr="{&quot;isTemplate&quot;:true,&quot;type&quot;:&quot;text&quot;}"/>
              <p:cNvSpPr txBox="1"/>
              <p:nvPr>
                <p:custDataLst>
                  <p:tags r:id="rId23"/>
                </p:custDataLst>
              </p:nvPr>
            </p:nvSpPr>
            <p:spPr>
              <a:xfrm>
                <a:off x="1232" y="3097"/>
                <a:ext cx="5669" cy="340"/>
              </a:xfrm>
              <a:prstGeom prst="rect">
                <a:avLst/>
              </a:prstGeom>
            </p:spPr>
            <p:txBody>
              <a:bodyPr wrap="none" lIns="0" tIns="0" rIns="0" bIns="0"/>
              <a:lstStyle/>
              <a:p>
                <a:pPr>
                  <a:lnSpc>
                    <a:spcPct val="100000"/>
                  </a:lnSpc>
                </a:pPr>
                <a:r>
                  <a:rPr lang="zh-CN" altLang="en-US" sz="1400" dirty="0">
                    <a:solidFill>
                      <a:srgbClr val="64748B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自然语言交互，多端便携控制</a:t>
                </a:r>
              </a:p>
            </p:txBody>
          </p:sp>
        </p:grpSp>
        <p:pic>
          <p:nvPicPr>
            <p:cNvPr id="65" name="图片 64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/>
            <a:stretch>
              <a:fillRect/>
            </a:stretch>
          </p:blipFill>
          <p:spPr>
            <a:xfrm>
              <a:off x="936" y="2856"/>
              <a:ext cx="338" cy="338"/>
            </a:xfrm>
            <a:prstGeom prst="rect">
              <a:avLst/>
            </a:prstGeom>
          </p:spPr>
        </p:pic>
      </p:grpSp>
      <p:grpSp>
        <p:nvGrpSpPr>
          <p:cNvPr id="37" name="组合 36"/>
          <p:cNvGrpSpPr/>
          <p:nvPr/>
        </p:nvGrpSpPr>
        <p:grpSpPr>
          <a:xfrm>
            <a:off x="373380" y="3361690"/>
            <a:ext cx="5452110" cy="861060"/>
            <a:chOff x="438" y="5643"/>
            <a:chExt cx="8586" cy="1356"/>
          </a:xfrm>
        </p:grpSpPr>
        <p:sp>
          <p:nvSpPr>
            <p:cNvPr id="47" name="圆角矩形 46"/>
            <p:cNvSpPr/>
            <p:nvPr>
              <p:custDataLst>
                <p:tags r:id="rId12"/>
              </p:custDataLst>
            </p:nvPr>
          </p:nvSpPr>
          <p:spPr>
            <a:xfrm>
              <a:off x="438" y="5643"/>
              <a:ext cx="8587" cy="1356"/>
            </a:xfrm>
            <a:prstGeom prst="roundRect">
              <a:avLst>
                <a:gd name="adj" fmla="val 13889"/>
              </a:avLst>
            </a:prstGeom>
            <a:solidFill>
              <a:srgbClr val="F0FDF4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8" name="圆角矩形 47"/>
            <p:cNvSpPr/>
            <p:nvPr>
              <p:custDataLst>
                <p:tags r:id="rId13"/>
              </p:custDataLst>
            </p:nvPr>
          </p:nvSpPr>
          <p:spPr>
            <a:xfrm>
              <a:off x="704" y="5907"/>
              <a:ext cx="828" cy="828"/>
            </a:xfrm>
            <a:prstGeom prst="roundRect">
              <a:avLst>
                <a:gd name="adj" fmla="val 22727"/>
              </a:avLst>
            </a:prstGeom>
            <a:solidFill>
              <a:srgbClr val="10B981"/>
            </a:solidFill>
          </p:spPr>
          <p:txBody>
            <a:bodyPr/>
            <a:lstStyle/>
            <a:p>
              <a:endParaRPr/>
            </a:p>
          </p:txBody>
        </p:sp>
        <p:grpSp>
          <p:nvGrpSpPr>
            <p:cNvPr id="4" name="组合 3"/>
            <p:cNvGrpSpPr/>
            <p:nvPr>
              <p:custDataLst>
                <p:tags r:id="rId14"/>
              </p:custDataLst>
            </p:nvPr>
          </p:nvGrpSpPr>
          <p:grpSpPr>
            <a:xfrm>
              <a:off x="1682" y="5942"/>
              <a:ext cx="5668" cy="759"/>
              <a:chOff x="1682" y="6007"/>
              <a:chExt cx="5668" cy="759"/>
            </a:xfrm>
          </p:grpSpPr>
          <p:sp>
            <p:nvSpPr>
              <p:cNvPr id="49" name="文本框 48" descr="{&quot;isTemplate&quot;:true,&quot;type&quot;:&quot;text&quot;}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1682" y="6007"/>
                <a:ext cx="3175" cy="397"/>
              </a:xfrm>
              <a:prstGeom prst="rect">
                <a:avLst/>
              </a:prstGeom>
            </p:spPr>
            <p:txBody>
              <a:bodyPr wrap="none" lIns="0" tIns="0" rIns="0" bIns="0"/>
              <a:lstStyle/>
              <a:p>
                <a:pPr>
                  <a:lnSpc>
                    <a:spcPct val="100000"/>
                  </a:lnSpc>
                </a:pPr>
                <a:r>
                  <a:rPr lang="zh-CN" altLang="en-US" sz="1600" b="1" dirty="0" smtClean="0">
                    <a:solidFill>
                      <a:srgbClr val="10B98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全屋智控</a:t>
                </a:r>
                <a:r>
                  <a:rPr lang="zh-CN" sz="1600" b="1" dirty="0" smtClean="0">
                    <a:solidFill>
                      <a:srgbClr val="10B98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中枢</a:t>
                </a:r>
                <a:r>
                  <a:rPr lang="zh-CN" sz="1600" b="1" dirty="0">
                    <a:solidFill>
                      <a:srgbClr val="10B98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层</a:t>
                </a:r>
              </a:p>
            </p:txBody>
          </p:sp>
          <p:sp>
            <p:nvSpPr>
              <p:cNvPr id="58" name="文本框 57" descr="{&quot;isTemplate&quot;:true,&quot;type&quot;:&quot;text&quot;}"/>
              <p:cNvSpPr txBox="1"/>
              <p:nvPr>
                <p:custDataLst>
                  <p:tags r:id="rId17"/>
                </p:custDataLst>
              </p:nvPr>
            </p:nvSpPr>
            <p:spPr>
              <a:xfrm>
                <a:off x="1682" y="6426"/>
                <a:ext cx="5669" cy="340"/>
              </a:xfrm>
              <a:prstGeom prst="rect">
                <a:avLst/>
              </a:prstGeom>
            </p:spPr>
            <p:txBody>
              <a:bodyPr wrap="none" lIns="0" tIns="0" rIns="0" bIns="0"/>
              <a:lstStyle/>
              <a:p>
                <a:pPr>
                  <a:lnSpc>
                    <a:spcPct val="100000"/>
                  </a:lnSpc>
                </a:pPr>
                <a:r>
                  <a:rPr lang="zh-CN" altLang="en-US" sz="1400" dirty="0">
                    <a:solidFill>
                      <a:srgbClr val="64748B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场景编排与设备协同，本地智能更稳定可靠</a:t>
                </a:r>
              </a:p>
            </p:txBody>
          </p:sp>
        </p:grpSp>
        <p:pic>
          <p:nvPicPr>
            <p:cNvPr id="68" name="图片 67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/>
            <a:stretch>
              <a:fillRect/>
            </a:stretch>
          </p:blipFill>
          <p:spPr>
            <a:xfrm>
              <a:off x="936" y="6152"/>
              <a:ext cx="338" cy="338"/>
            </a:xfrm>
            <a:prstGeom prst="rect">
              <a:avLst/>
            </a:prstGeom>
          </p:spPr>
        </p:pic>
      </p:grpSp>
      <p:grpSp>
        <p:nvGrpSpPr>
          <p:cNvPr id="45" name="组合 44"/>
          <p:cNvGrpSpPr/>
          <p:nvPr/>
        </p:nvGrpSpPr>
        <p:grpSpPr>
          <a:xfrm>
            <a:off x="375920" y="4441190"/>
            <a:ext cx="5449570" cy="991870"/>
            <a:chOff x="442" y="7447"/>
            <a:chExt cx="8582" cy="1562"/>
          </a:xfrm>
        </p:grpSpPr>
        <p:sp>
          <p:nvSpPr>
            <p:cNvPr id="60" name="圆角矩形 59"/>
            <p:cNvSpPr/>
            <p:nvPr>
              <p:custDataLst>
                <p:tags r:id="rId6"/>
              </p:custDataLst>
            </p:nvPr>
          </p:nvSpPr>
          <p:spPr>
            <a:xfrm>
              <a:off x="442" y="7447"/>
              <a:ext cx="8583" cy="1562"/>
            </a:xfrm>
            <a:prstGeom prst="roundRect">
              <a:avLst>
                <a:gd name="adj" fmla="val 12048"/>
              </a:avLst>
            </a:prstGeom>
            <a:solidFill>
              <a:srgbClr val="FFF7ED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1" name="圆角矩形 60"/>
            <p:cNvSpPr/>
            <p:nvPr>
              <p:custDataLst>
                <p:tags r:id="rId7"/>
              </p:custDataLst>
            </p:nvPr>
          </p:nvSpPr>
          <p:spPr>
            <a:xfrm>
              <a:off x="704" y="7814"/>
              <a:ext cx="828" cy="828"/>
            </a:xfrm>
            <a:prstGeom prst="roundRect">
              <a:avLst>
                <a:gd name="adj" fmla="val 22727"/>
              </a:avLst>
            </a:prstGeom>
            <a:solidFill>
              <a:srgbClr val="F59E0B"/>
            </a:solidFill>
          </p:spPr>
          <p:txBody>
            <a:bodyPr/>
            <a:lstStyle/>
            <a:p>
              <a:endParaRPr/>
            </a:p>
          </p:txBody>
        </p:sp>
        <p:grpSp>
          <p:nvGrpSpPr>
            <p:cNvPr id="5" name="组合 4"/>
            <p:cNvGrpSpPr/>
            <p:nvPr>
              <p:custDataLst>
                <p:tags r:id="rId8"/>
              </p:custDataLst>
            </p:nvPr>
          </p:nvGrpSpPr>
          <p:grpSpPr>
            <a:xfrm>
              <a:off x="1682" y="7850"/>
              <a:ext cx="5668" cy="757"/>
              <a:chOff x="1682" y="7786"/>
              <a:chExt cx="5668" cy="757"/>
            </a:xfrm>
          </p:grpSpPr>
          <p:sp>
            <p:nvSpPr>
              <p:cNvPr id="62" name="文本框 61" descr="{&quot;isTemplate&quot;:true,&quot;type&quot;:&quot;text&quot;}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1682" y="7786"/>
                <a:ext cx="3175" cy="397"/>
              </a:xfrm>
              <a:prstGeom prst="rect">
                <a:avLst/>
              </a:prstGeom>
            </p:spPr>
            <p:txBody>
              <a:bodyPr wrap="none" lIns="0" tIns="0" rIns="0" bIns="0"/>
              <a:lstStyle/>
              <a:p>
                <a:pPr>
                  <a:lnSpc>
                    <a:spcPct val="100000"/>
                  </a:lnSpc>
                </a:pPr>
                <a:r>
                  <a:rPr lang="zh-CN" altLang="en-US" sz="1600" b="1" dirty="0">
                    <a:solidFill>
                      <a:srgbClr val="F59E0B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设备连接层</a:t>
                </a:r>
              </a:p>
            </p:txBody>
          </p:sp>
          <p:sp>
            <p:nvSpPr>
              <p:cNvPr id="64" name="文本框 63" descr="{&quot;isTemplate&quot;:true,&quot;type&quot;:&quot;text&quot;}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1682" y="8203"/>
                <a:ext cx="5669" cy="340"/>
              </a:xfrm>
              <a:prstGeom prst="rect">
                <a:avLst/>
              </a:prstGeom>
            </p:spPr>
            <p:txBody>
              <a:bodyPr wrap="square" lIns="0" tIns="0" rIns="0" bIns="0">
                <a:no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zh-CN" altLang="en-US" sz="1400" dirty="0" err="1">
                    <a:solidFill>
                      <a:srgbClr val="64748B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多协议接入，兼容多品牌设备</a:t>
                </a:r>
              </a:p>
            </p:txBody>
          </p:sp>
        </p:grpSp>
        <p:pic>
          <p:nvPicPr>
            <p:cNvPr id="69" name="图片 68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/>
            <a:stretch>
              <a:fillRect/>
            </a:stretch>
          </p:blipFill>
          <p:spPr>
            <a:xfrm>
              <a:off x="936" y="8059"/>
              <a:ext cx="338" cy="338"/>
            </a:xfrm>
            <a:prstGeom prst="rect">
              <a:avLst/>
            </a:prstGeom>
          </p:spPr>
        </p:pic>
      </p:grpSp>
      <p:grpSp>
        <p:nvGrpSpPr>
          <p:cNvPr id="122" name="组合 121"/>
          <p:cNvGrpSpPr/>
          <p:nvPr/>
        </p:nvGrpSpPr>
        <p:grpSpPr>
          <a:xfrm>
            <a:off x="6149340" y="1053465"/>
            <a:ext cx="5669280" cy="4528820"/>
            <a:chOff x="9534" y="2171"/>
            <a:chExt cx="8928" cy="7132"/>
          </a:xfrm>
        </p:grpSpPr>
        <p:grpSp>
          <p:nvGrpSpPr>
            <p:cNvPr id="12" name="组合 11"/>
            <p:cNvGrpSpPr/>
            <p:nvPr/>
          </p:nvGrpSpPr>
          <p:grpSpPr>
            <a:xfrm>
              <a:off x="9957" y="2845"/>
              <a:ext cx="8081" cy="3713"/>
              <a:chOff x="9433" y="2333"/>
              <a:chExt cx="8081" cy="3713"/>
            </a:xfrm>
          </p:grpSpPr>
          <p:sp>
            <p:nvSpPr>
              <p:cNvPr id="6" name="TextBox 131"/>
              <p:cNvSpPr txBox="1"/>
              <p:nvPr/>
            </p:nvSpPr>
            <p:spPr>
              <a:xfrm>
                <a:off x="10109" y="2333"/>
                <a:ext cx="3723" cy="178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zh-CN" sz="1600" b="1">
                    <a:solidFill>
                      <a:srgbClr val="125EE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智慧回家</a:t>
                </a:r>
                <a:endParaRPr sz="1600" b="1">
                  <a:solidFill>
                    <a:srgbClr val="125EE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marL="285750" indent="-285750" algn="l">
                  <a:lnSpc>
                    <a:spcPct val="130000"/>
                  </a:lnSpc>
                  <a:buClrTx/>
                  <a:buSzTx/>
                  <a:buFont typeface="Wingdings" panose="05000000000000000000" charset="0"/>
                  <a:buChar char="l"/>
                </a:pPr>
                <a:r>
                  <a:rPr lang="zh-CN" sz="1400">
                    <a:solidFill>
                      <a:schemeClr val="tx1">
                        <a:alpha val="7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人脸识别</a:t>
                </a:r>
              </a:p>
              <a:p>
                <a:pPr marL="285750" indent="-285750" algn="l">
                  <a:lnSpc>
                    <a:spcPct val="130000"/>
                  </a:lnSpc>
                  <a:buClrTx/>
                  <a:buSzTx/>
                  <a:buFont typeface="Wingdings" panose="05000000000000000000" charset="0"/>
                  <a:buChar char="l"/>
                </a:pPr>
                <a:r>
                  <a:rPr lang="zh-CN" sz="1400">
                    <a:solidFill>
                      <a:schemeClr val="tx1">
                        <a:alpha val="7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欢迎语音播报</a:t>
                </a:r>
              </a:p>
              <a:p>
                <a:pPr marL="285750" indent="-285750" algn="l">
                  <a:lnSpc>
                    <a:spcPct val="130000"/>
                  </a:lnSpc>
                  <a:buClrTx/>
                  <a:buSzTx/>
                  <a:buFont typeface="Wingdings" panose="05000000000000000000" charset="0"/>
                  <a:buChar char="l"/>
                </a:pPr>
                <a:r>
                  <a:rPr lang="zh-CN" sz="1400">
                    <a:solidFill>
                      <a:schemeClr val="tx1">
                        <a:alpha val="7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联动灯光、空调、窗帘等</a:t>
                </a:r>
              </a:p>
            </p:txBody>
          </p:sp>
          <p:sp>
            <p:nvSpPr>
              <p:cNvPr id="7" name="TextBox 134"/>
              <p:cNvSpPr txBox="1"/>
              <p:nvPr/>
            </p:nvSpPr>
            <p:spPr>
              <a:xfrm>
                <a:off x="10109" y="4298"/>
                <a:ext cx="3527" cy="1748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Autofit/>
              </a:bodyPr>
              <a:lstStyle/>
              <a:p>
                <a:pPr algn="l"/>
                <a:r>
                  <a:rPr lang="zh-CN" sz="1600" b="1">
                    <a:solidFill>
                      <a:srgbClr val="00968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医康养关怀</a:t>
                </a:r>
                <a:endParaRPr lang="zh-CN" sz="1200">
                  <a:solidFill>
                    <a:schemeClr val="tx1">
                      <a:alpha val="7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  <a:p>
                <a:pPr marL="285750" indent="-285750" algn="l">
                  <a:lnSpc>
                    <a:spcPct val="130000"/>
                  </a:lnSpc>
                  <a:buClrTx/>
                  <a:buSzTx/>
                  <a:buFont typeface="Wingdings" panose="05000000000000000000" charset="0"/>
                  <a:buChar char="l"/>
                </a:pPr>
                <a:r>
                  <a:rPr lang="zh-CN" sz="1400">
                    <a:solidFill>
                      <a:schemeClr val="tx1">
                        <a:alpha val="7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生命体征监测</a:t>
                </a:r>
              </a:p>
              <a:p>
                <a:pPr marL="285750" indent="-285750" algn="l">
                  <a:lnSpc>
                    <a:spcPct val="130000"/>
                  </a:lnSpc>
                  <a:buClrTx/>
                  <a:buSzTx/>
                  <a:buFont typeface="Wingdings" panose="05000000000000000000" charset="0"/>
                  <a:buChar char="l"/>
                </a:pPr>
                <a:r>
                  <a:rPr lang="zh-CN" sz="1400">
                    <a:solidFill>
                      <a:schemeClr val="tx1">
                        <a:alpha val="7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防跌检测、异常告警</a:t>
                </a:r>
              </a:p>
              <a:p>
                <a:pPr marL="285750" indent="-285750" algn="l">
                  <a:lnSpc>
                    <a:spcPct val="130000"/>
                  </a:lnSpc>
                  <a:buClrTx/>
                  <a:buSzTx/>
                  <a:buFont typeface="Wingdings" panose="05000000000000000000" charset="0"/>
                  <a:buChar char="l"/>
                </a:pPr>
                <a:r>
                  <a:rPr lang="zh-CN" sz="1400">
                    <a:solidFill>
                      <a:schemeClr val="tx1">
                        <a:alpha val="7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服药提醒、远程看护</a:t>
                </a:r>
                <a:endParaRPr sz="1600" b="1">
                  <a:solidFill>
                    <a:srgbClr val="00968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8" name="TextBox 137"/>
              <p:cNvSpPr txBox="1"/>
              <p:nvPr/>
            </p:nvSpPr>
            <p:spPr>
              <a:xfrm>
                <a:off x="14412" y="4298"/>
                <a:ext cx="3102" cy="1708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lang="zh-CN" altLang="en-US" sz="1600" b="1" dirty="0">
                    <a:solidFill>
                      <a:srgbClr val="F27E0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居家</a:t>
                </a:r>
                <a:r>
                  <a:rPr lang="zh-CN" sz="1600" b="1" dirty="0" smtClean="0">
                    <a:solidFill>
                      <a:srgbClr val="F27E0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安全</a:t>
                </a:r>
                <a:endParaRPr lang="zh-CN" sz="1200" dirty="0">
                  <a:solidFill>
                    <a:srgbClr val="64748B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  <a:p>
                <a:pPr marL="285750" indent="-285750" algn="l">
                  <a:lnSpc>
                    <a:spcPct val="130000"/>
                  </a:lnSpc>
                  <a:buClrTx/>
                  <a:buSzTx/>
                  <a:buFont typeface="Wingdings" panose="05000000000000000000" charset="0"/>
                  <a:buChar char="l"/>
                </a:pPr>
                <a:r>
                  <a:rPr lang="zh-CN" sz="1400" dirty="0">
                    <a:solidFill>
                      <a:schemeClr val="tx1">
                        <a:alpha val="7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一键离家、设备关闭</a:t>
                </a:r>
              </a:p>
              <a:p>
                <a:pPr marL="285750" indent="-285750" algn="l">
                  <a:lnSpc>
                    <a:spcPct val="130000"/>
                  </a:lnSpc>
                  <a:buClrTx/>
                  <a:buSzTx/>
                  <a:buFont typeface="Wingdings" panose="05000000000000000000" charset="0"/>
                  <a:buChar char="l"/>
                </a:pPr>
                <a:r>
                  <a:rPr lang="zh-CN" sz="1400" dirty="0">
                    <a:solidFill>
                      <a:schemeClr val="tx1">
                        <a:alpha val="7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安防布控、异常检测</a:t>
                </a:r>
              </a:p>
              <a:p>
                <a:pPr marL="285750" indent="-285750" algn="l">
                  <a:lnSpc>
                    <a:spcPct val="130000"/>
                  </a:lnSpc>
                  <a:buClrTx/>
                  <a:buSzTx/>
                  <a:buFont typeface="Wingdings" panose="05000000000000000000" charset="0"/>
                  <a:buChar char="l"/>
                </a:pPr>
                <a:r>
                  <a:rPr lang="zh-CN" sz="1400" dirty="0">
                    <a:solidFill>
                      <a:schemeClr val="tx1">
                        <a:alpha val="7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能耗优化、远程监控</a:t>
                </a:r>
                <a:endParaRPr sz="1600" b="1" dirty="0">
                  <a:solidFill>
                    <a:srgbClr val="F27E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9" name="TextBox 140"/>
              <p:cNvSpPr txBox="1"/>
              <p:nvPr/>
            </p:nvSpPr>
            <p:spPr>
              <a:xfrm>
                <a:off x="14412" y="2333"/>
                <a:ext cx="3102" cy="1824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indent="0" algn="l">
                  <a:lnSpc>
                    <a:spcPct val="130000"/>
                  </a:lnSpc>
                  <a:buClrTx/>
                  <a:buSzTx/>
                  <a:buFont typeface="Wingdings" panose="05000000000000000000" charset="0"/>
                  <a:buNone/>
                </a:pPr>
                <a:r>
                  <a:rPr lang="zh-CN" sz="1600" b="1">
                    <a:solidFill>
                      <a:srgbClr val="684E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健康睡眠</a:t>
                </a:r>
                <a:endParaRPr sz="1600" b="1">
                  <a:solidFill>
                    <a:srgbClr val="684EEB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marL="285750" indent="-285750" algn="l">
                  <a:lnSpc>
                    <a:spcPct val="130000"/>
                  </a:lnSpc>
                  <a:buClrTx/>
                  <a:buSzTx/>
                  <a:buFont typeface="Wingdings" panose="05000000000000000000" charset="0"/>
                  <a:buChar char="l"/>
                </a:pPr>
                <a:r>
                  <a:rPr lang="zh-CN" sz="1400">
                    <a:solidFill>
                      <a:schemeClr val="tx1">
                        <a:alpha val="7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一健开启睡照模式</a:t>
                </a:r>
              </a:p>
              <a:p>
                <a:pPr marL="285750" indent="-285750" algn="l">
                  <a:lnSpc>
                    <a:spcPct val="130000"/>
                  </a:lnSpc>
                  <a:buClrTx/>
                  <a:buSzTx/>
                  <a:buFont typeface="Wingdings" panose="05000000000000000000" charset="0"/>
                  <a:buChar char="l"/>
                </a:pPr>
                <a:r>
                  <a:rPr lang="zh-CN" sz="1400">
                    <a:solidFill>
                      <a:schemeClr val="tx1">
                        <a:alpha val="7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环境调节、安静舒适</a:t>
                </a:r>
              </a:p>
              <a:p>
                <a:pPr marL="285750" indent="-285750" algn="l">
                  <a:lnSpc>
                    <a:spcPct val="130000"/>
                  </a:lnSpc>
                  <a:buClrTx/>
                  <a:buSzTx/>
                  <a:buFont typeface="Wingdings" panose="05000000000000000000" charset="0"/>
                  <a:buChar char="l"/>
                </a:pPr>
                <a:r>
                  <a:rPr lang="zh-CN" sz="1400">
                    <a:solidFill>
                      <a:schemeClr val="tx1">
                        <a:alpha val="7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睡眼检测、健康报告</a:t>
                </a:r>
                <a:endParaRPr lang="zh-CN" sz="1400">
                  <a:solidFill>
                    <a:schemeClr val="tx1">
                      <a:alpha val="7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pic>
            <p:nvPicPr>
              <p:cNvPr id="74" name="图片 73"/>
              <p:cNvPicPr>
                <a:picLocks noChangeAspect="1"/>
              </p:cNvPicPr>
              <p:nvPr/>
            </p:nvPicPr>
            <p:blipFill>
              <a:blip r:embed="rId26"/>
              <a:srcRect l="65310" t="28486" r="30795" b="67152"/>
              <a:stretch>
                <a:fillRect/>
              </a:stretch>
            </p:blipFill>
            <p:spPr>
              <a:xfrm>
                <a:off x="13702" y="2333"/>
                <a:ext cx="667" cy="665"/>
              </a:xfrm>
              <a:prstGeom prst="rect">
                <a:avLst/>
              </a:prstGeom>
            </p:spPr>
          </p:pic>
          <p:pic>
            <p:nvPicPr>
              <p:cNvPr id="76" name="图片 75"/>
              <p:cNvPicPr>
                <a:picLocks noChangeAspect="1"/>
              </p:cNvPicPr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9433" y="2333"/>
                <a:ext cx="672" cy="672"/>
              </a:xfrm>
              <a:prstGeom prst="rect">
                <a:avLst/>
              </a:prstGeom>
            </p:spPr>
          </p:pic>
          <p:pic>
            <p:nvPicPr>
              <p:cNvPr id="77" name="图片 76"/>
              <p:cNvPicPr>
                <a:picLocks noChangeAspect="1"/>
              </p:cNvPicPr>
              <p:nvPr/>
            </p:nvPicPr>
            <p:blipFill>
              <a:blip r:embed="rId26"/>
              <a:srcRect l="65217" t="53402" r="30888" b="42236"/>
              <a:stretch>
                <a:fillRect/>
              </a:stretch>
            </p:blipFill>
            <p:spPr>
              <a:xfrm>
                <a:off x="13702" y="4298"/>
                <a:ext cx="667" cy="665"/>
              </a:xfrm>
              <a:prstGeom prst="rect">
                <a:avLst/>
              </a:prstGeom>
            </p:spPr>
          </p:pic>
          <p:pic>
            <p:nvPicPr>
              <p:cNvPr id="78" name="图片 77"/>
              <p:cNvPicPr>
                <a:picLocks noChangeAspect="1"/>
              </p:cNvPicPr>
              <p:nvPr/>
            </p:nvPicPr>
            <p:blipFill>
              <a:blip r:embed="rId26"/>
              <a:srcRect l="65334" t="41106" r="30771" b="54532"/>
              <a:stretch>
                <a:fillRect/>
              </a:stretch>
            </p:blipFill>
            <p:spPr>
              <a:xfrm>
                <a:off x="9435" y="4298"/>
                <a:ext cx="667" cy="665"/>
              </a:xfrm>
              <a:prstGeom prst="rect">
                <a:avLst/>
              </a:prstGeom>
            </p:spPr>
          </p:pic>
        </p:grpSp>
        <p:sp>
          <p:nvSpPr>
            <p:cNvPr id="10" name="Shape 8"/>
            <p:cNvSpPr/>
            <p:nvPr/>
          </p:nvSpPr>
          <p:spPr>
            <a:xfrm>
              <a:off x="9534" y="2487"/>
              <a:ext cx="8928" cy="4279"/>
            </a:xfrm>
            <a:prstGeom prst="roundRect">
              <a:avLst>
                <a:gd name="adj" fmla="val 3896"/>
              </a:avLst>
            </a:prstGeom>
            <a:noFill/>
            <a:ln w="12700">
              <a:solidFill>
                <a:srgbClr val="A8D2FF"/>
              </a:solidFill>
              <a:prstDash val="solid"/>
            </a:ln>
            <a:effectLst>
              <a:outerShdw blurRad="15240" dist="5080" dir="2700000" algn="bl" rotWithShape="0">
                <a:srgbClr val="6B88B5">
                  <a:alpha val="18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6FBFF">
                      <a:alpha val="95000"/>
                    </a:srgbClr>
                  </a:solidFill>
                </a14:hiddenFill>
              </a:ext>
            </a:extLst>
          </p:spPr>
        </p:sp>
        <p:sp>
          <p:nvSpPr>
            <p:cNvPr id="11" name="Rounded Rectangle 22"/>
            <p:cNvSpPr/>
            <p:nvPr/>
          </p:nvSpPr>
          <p:spPr>
            <a:xfrm>
              <a:off x="11200" y="2171"/>
              <a:ext cx="5596" cy="668"/>
            </a:xfrm>
            <a:prstGeom prst="roundRect">
              <a:avLst/>
            </a:prstGeom>
            <a:solidFill>
              <a:srgbClr val="0E4CB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</p:txBody>
        </p:sp>
        <p:sp>
          <p:nvSpPr>
            <p:cNvPr id="190" name="TextBox 23"/>
            <p:cNvSpPr txBox="1"/>
            <p:nvPr/>
          </p:nvSpPr>
          <p:spPr>
            <a:xfrm>
              <a:off x="11749" y="2215"/>
              <a:ext cx="4498" cy="5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lang="zh-CN" altLang="en-US" b="1">
                  <a:solidFill>
                    <a:srgbClr val="FFFFFF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典型应用场景</a:t>
              </a:r>
            </a:p>
          </p:txBody>
        </p:sp>
        <p:sp>
          <p:nvSpPr>
            <p:cNvPr id="15" name="圆角矩形 14"/>
            <p:cNvSpPr/>
            <p:nvPr/>
          </p:nvSpPr>
          <p:spPr>
            <a:xfrm>
              <a:off x="9534" y="6999"/>
              <a:ext cx="8928" cy="2304"/>
            </a:xfrm>
            <a:prstGeom prst="roundRect">
              <a:avLst>
                <a:gd name="adj" fmla="val 2627"/>
              </a:avLst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>
              <a:noAutofit/>
            </a:bodyPr>
            <a:lstStyle/>
            <a:p>
              <a:pPr lvl="0" algn="l">
                <a:buClrTx/>
                <a:buSzTx/>
                <a:buFontTx/>
              </a:pPr>
              <a:endParaRPr>
                <a:sym typeface="+mn-ea"/>
              </a:endParaRPr>
            </a:p>
          </p:txBody>
        </p:sp>
        <p:sp>
          <p:nvSpPr>
            <p:cNvPr id="16" name="文本框 15" descr="{&quot;isTemplate&quot;:true,&quot;type&quot;:&quot;text&quot;}"/>
            <p:cNvSpPr txBox="1"/>
            <p:nvPr/>
          </p:nvSpPr>
          <p:spPr>
            <a:xfrm>
              <a:off x="10454" y="7214"/>
              <a:ext cx="7088" cy="397"/>
            </a:xfrm>
            <a:prstGeom prst="rect">
              <a:avLst/>
            </a:prstGeom>
          </p:spPr>
          <p:txBody>
            <a:bodyPr wrap="none" lIns="0" tIns="0" rIns="0" bIns="0"/>
            <a:lstStyle/>
            <a:p>
              <a:pPr algn="ctr">
                <a:lnSpc>
                  <a:spcPct val="100000"/>
                </a:lnSpc>
              </a:pPr>
              <a:r>
                <a:rPr lang="zh-CN" sz="1600" b="1" dirty="0" smtClean="0">
                  <a:solidFill>
                    <a:srgbClr val="1E3A8A"/>
                  </a:solidFill>
                  <a:latin typeface="微软雅黑" panose="020B0503020204020204" charset="-122"/>
                  <a:ea typeface="微软雅黑" panose="020B0503020204020204" charset="-122"/>
                </a:rPr>
                <a:t>本地</a:t>
              </a:r>
              <a:r>
                <a:rPr lang="en-US" altLang="zh-CN" sz="1600" b="1" dirty="0" smtClean="0">
                  <a:solidFill>
                    <a:srgbClr val="1E3A8A"/>
                  </a:solidFill>
                  <a:latin typeface="微软雅黑" panose="020B0503020204020204" charset="-122"/>
                  <a:ea typeface="微软雅黑" panose="020B0503020204020204" charset="-122"/>
                </a:rPr>
                <a:t>AI</a:t>
              </a:r>
              <a:r>
                <a:rPr lang="zh-CN" altLang="en-US" sz="1600" b="1" dirty="0">
                  <a:solidFill>
                    <a:srgbClr val="1E3A8A"/>
                  </a:solidFill>
                  <a:latin typeface="微软雅黑" panose="020B0503020204020204" charset="-122"/>
                  <a:ea typeface="微软雅黑" panose="020B0503020204020204" charset="-122"/>
                </a:rPr>
                <a:t>推理能力</a:t>
              </a:r>
              <a:r>
                <a:rPr lang="en-US" altLang="zh-CN" sz="1600" b="1" dirty="0">
                  <a:solidFill>
                    <a:srgbClr val="1E3A8A"/>
                  </a:solidFill>
                  <a:latin typeface="微软雅黑" panose="020B0503020204020204" charset="-122"/>
                  <a:ea typeface="微软雅黑" panose="020B0503020204020204" charset="-122"/>
                </a:rPr>
                <a:t> </a:t>
              </a:r>
              <a:r>
                <a:rPr lang="zh-CN" altLang="en-US" sz="1400" b="1" dirty="0">
                  <a:solidFill>
                    <a:srgbClr val="0E4CBA"/>
                  </a:solidFill>
                  <a:latin typeface="微软雅黑" panose="020B0503020204020204" charset="-122"/>
                  <a:ea typeface="微软雅黑" panose="020B0503020204020204" charset="-122"/>
                </a:rPr>
                <a:t>灵活适配不同硬件性能</a:t>
              </a:r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9596" y="7799"/>
              <a:ext cx="8804" cy="1504"/>
              <a:chOff x="9665" y="7815"/>
              <a:chExt cx="8804" cy="1504"/>
            </a:xfrm>
          </p:grpSpPr>
          <p:grpSp>
            <p:nvGrpSpPr>
              <p:cNvPr id="32" name="组合 31"/>
              <p:cNvGrpSpPr/>
              <p:nvPr/>
            </p:nvGrpSpPr>
            <p:grpSpPr>
              <a:xfrm>
                <a:off x="9665" y="7861"/>
                <a:ext cx="2080" cy="1458"/>
                <a:chOff x="9665" y="7861"/>
                <a:chExt cx="2080" cy="1458"/>
              </a:xfrm>
            </p:grpSpPr>
            <p:sp>
              <p:nvSpPr>
                <p:cNvPr id="17" name="TextBox 131"/>
                <p:cNvSpPr txBox="1"/>
                <p:nvPr/>
              </p:nvSpPr>
              <p:spPr>
                <a:xfrm>
                  <a:off x="9741" y="7861"/>
                  <a:ext cx="1928" cy="63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spAutoFit/>
                </a:bodyPr>
                <a:lstStyle/>
                <a:p>
                  <a:pPr algn="ctr"/>
                  <a:r>
                    <a:rPr lang="zh-CN" sz="1400" b="1">
                      <a:solidFill>
                        <a:srgbClr val="1E3A8A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轻量设备</a:t>
                  </a:r>
                  <a:r>
                    <a:rPr sz="1600" b="1">
                      <a:solidFill>
                        <a:srgbClr val="125EE1"/>
                      </a:solidFill>
                      <a:latin typeface="微软雅黑" panose="020B0503020204020204" charset="-122"/>
                    </a:rPr>
                    <a:t/>
                  </a:r>
                  <a:br>
                    <a:rPr sz="1600" b="1">
                      <a:solidFill>
                        <a:srgbClr val="125EE1"/>
                      </a:solidFill>
                      <a:latin typeface="微软雅黑" panose="020B0503020204020204" charset="-122"/>
                    </a:rPr>
                  </a:br>
                  <a:r>
                    <a:rPr lang="en-US" altLang="zh-CN" sz="1200">
                      <a:solidFill>
                        <a:schemeClr val="tx1">
                          <a:alpha val="70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sym typeface="+mn-ea"/>
                    </a:rPr>
                    <a:t>8GB</a:t>
                  </a:r>
                  <a:r>
                    <a:rPr lang="zh-CN" altLang="en-US" sz="1200">
                      <a:solidFill>
                        <a:schemeClr val="tx1">
                          <a:alpha val="70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sym typeface="+mn-ea"/>
                    </a:rPr>
                    <a:t>内存及以上</a:t>
                  </a:r>
                </a:p>
              </p:txBody>
            </p:sp>
            <p:sp>
              <p:nvSpPr>
                <p:cNvPr id="22" name="文本框 21"/>
                <p:cNvSpPr txBox="1"/>
                <p:nvPr/>
              </p:nvSpPr>
              <p:spPr>
                <a:xfrm>
                  <a:off x="9665" y="8525"/>
                  <a:ext cx="2080" cy="794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lstStyle/>
                <a:p>
                  <a:pPr indent="0" algn="ctr">
                    <a:lnSpc>
                      <a:spcPct val="100000"/>
                    </a:lnSpc>
                    <a:buClrTx/>
                    <a:buSzTx/>
                    <a:buFont typeface="Wingdings" panose="05000000000000000000" charset="0"/>
                    <a:buNone/>
                  </a:pPr>
                  <a:r>
                    <a:rPr lang="zh-CN" sz="1400">
                      <a:solidFill>
                        <a:schemeClr val="tx1">
                          <a:alpha val="70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+mn-ea"/>
                    </a:rPr>
                    <a:t>家庭语言助手</a:t>
                  </a:r>
                </a:p>
                <a:p>
                  <a:pPr indent="0" algn="ctr">
                    <a:lnSpc>
                      <a:spcPct val="100000"/>
                    </a:lnSpc>
                    <a:buClrTx/>
                    <a:buSzTx/>
                    <a:buFont typeface="Wingdings" panose="05000000000000000000" charset="0"/>
                    <a:buNone/>
                  </a:pPr>
                  <a:r>
                    <a:rPr lang="en-US" altLang="zh-CN" sz="1400">
                      <a:solidFill>
                        <a:schemeClr val="tx1">
                          <a:alpha val="70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+mn-ea"/>
                    </a:rPr>
                    <a:t>Qwen3 4B</a:t>
                  </a:r>
                </a:p>
              </p:txBody>
            </p:sp>
          </p:grpSp>
          <p:grpSp>
            <p:nvGrpSpPr>
              <p:cNvPr id="33" name="组合 32"/>
              <p:cNvGrpSpPr/>
              <p:nvPr/>
            </p:nvGrpSpPr>
            <p:grpSpPr>
              <a:xfrm>
                <a:off x="11689" y="7815"/>
                <a:ext cx="2256" cy="1504"/>
                <a:chOff x="11689" y="7815"/>
                <a:chExt cx="2256" cy="1504"/>
              </a:xfrm>
            </p:grpSpPr>
            <p:sp>
              <p:nvSpPr>
                <p:cNvPr id="18" name="TextBox 134"/>
                <p:cNvSpPr txBox="1"/>
                <p:nvPr/>
              </p:nvSpPr>
              <p:spPr>
                <a:xfrm>
                  <a:off x="11854" y="7815"/>
                  <a:ext cx="1927" cy="73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noAutofit/>
                </a:bodyPr>
                <a:lstStyle/>
                <a:p>
                  <a:pPr algn="ctr"/>
                  <a:r>
                    <a:rPr lang="zh-CN" sz="1400" b="1">
                      <a:solidFill>
                        <a:srgbClr val="1E3A8A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中端设备</a:t>
                  </a:r>
                  <a:r>
                    <a:rPr sz="1600" b="1">
                      <a:solidFill>
                        <a:srgbClr val="009682"/>
                      </a:solidFill>
                      <a:latin typeface="微软雅黑" panose="020B0503020204020204" charset="-122"/>
                    </a:rPr>
                    <a:t/>
                  </a:r>
                  <a:br>
                    <a:rPr sz="1600" b="1">
                      <a:solidFill>
                        <a:srgbClr val="009682"/>
                      </a:solidFill>
                      <a:latin typeface="微软雅黑" panose="020B0503020204020204" charset="-122"/>
                    </a:rPr>
                  </a:br>
                  <a:r>
                    <a:rPr lang="en-US" altLang="zh-CN" sz="1200">
                      <a:solidFill>
                        <a:schemeClr val="tx1">
                          <a:alpha val="70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sym typeface="+mn-ea"/>
                    </a:rPr>
                    <a:t>16GB</a:t>
                  </a:r>
                  <a:r>
                    <a:rPr lang="zh-CN" altLang="en-US" sz="1200">
                      <a:solidFill>
                        <a:schemeClr val="tx1">
                          <a:alpha val="70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sym typeface="+mn-ea"/>
                    </a:rPr>
                    <a:t>内存及以上</a:t>
                  </a:r>
                  <a:endParaRPr lang="zh-CN" sz="1200">
                    <a:solidFill>
                      <a:schemeClr val="tx1">
                        <a:alpha val="7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endParaRPr>
                </a:p>
                <a:p>
                  <a:pPr algn="ctr"/>
                  <a:endParaRPr sz="1600" b="1">
                    <a:solidFill>
                      <a:srgbClr val="009682"/>
                    </a:solidFill>
                    <a:latin typeface="微软雅黑" panose="020B0503020204020204" charset="-122"/>
                  </a:endParaRPr>
                </a:p>
              </p:txBody>
            </p:sp>
            <p:sp>
              <p:nvSpPr>
                <p:cNvPr id="23" name="文本框 22"/>
                <p:cNvSpPr txBox="1"/>
                <p:nvPr/>
              </p:nvSpPr>
              <p:spPr>
                <a:xfrm>
                  <a:off x="11689" y="8525"/>
                  <a:ext cx="2256" cy="794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lstStyle/>
                <a:p>
                  <a:pPr indent="0" algn="ctr">
                    <a:lnSpc>
                      <a:spcPct val="100000"/>
                    </a:lnSpc>
                    <a:buClrTx/>
                    <a:buSzTx/>
                    <a:buFont typeface="Wingdings" panose="05000000000000000000" charset="0"/>
                    <a:buNone/>
                  </a:pPr>
                  <a:r>
                    <a:rPr lang="zh-CN" sz="1400">
                      <a:solidFill>
                        <a:schemeClr val="tx1">
                          <a:alpha val="70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+mn-ea"/>
                    </a:rPr>
                    <a:t>智能问答及控制</a:t>
                  </a:r>
                </a:p>
                <a:p>
                  <a:pPr indent="0" algn="ctr">
                    <a:lnSpc>
                      <a:spcPct val="100000"/>
                    </a:lnSpc>
                    <a:buClrTx/>
                    <a:buSzTx/>
                    <a:buFont typeface="Wingdings" panose="05000000000000000000" charset="0"/>
                    <a:buNone/>
                  </a:pPr>
                  <a:r>
                    <a:rPr lang="en-US" altLang="zh-CN" sz="1400">
                      <a:solidFill>
                        <a:schemeClr val="tx1">
                          <a:alpha val="70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+mn-ea"/>
                    </a:rPr>
                    <a:t>Qwen3 8B</a:t>
                  </a:r>
                </a:p>
              </p:txBody>
            </p:sp>
          </p:grpSp>
          <p:grpSp>
            <p:nvGrpSpPr>
              <p:cNvPr id="35" name="组合 34"/>
              <p:cNvGrpSpPr/>
              <p:nvPr/>
            </p:nvGrpSpPr>
            <p:grpSpPr>
              <a:xfrm>
                <a:off x="16101" y="7815"/>
                <a:ext cx="2368" cy="1504"/>
                <a:chOff x="16101" y="7815"/>
                <a:chExt cx="2368" cy="1504"/>
              </a:xfrm>
            </p:grpSpPr>
            <p:sp>
              <p:nvSpPr>
                <p:cNvPr id="20" name="TextBox 140"/>
                <p:cNvSpPr txBox="1"/>
                <p:nvPr/>
              </p:nvSpPr>
              <p:spPr>
                <a:xfrm>
                  <a:off x="16322" y="7815"/>
                  <a:ext cx="1927" cy="63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spAutoFit/>
                </a:bodyPr>
                <a:lstStyle/>
                <a:p>
                  <a:pPr algn="ctr"/>
                  <a:r>
                    <a:rPr lang="zh-CN" sz="1400" b="1">
                      <a:solidFill>
                        <a:srgbClr val="1E3A8A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旗舰设备</a:t>
                  </a:r>
                  <a:r>
                    <a:rPr sz="1600" b="1">
                      <a:solidFill>
                        <a:srgbClr val="684EEB"/>
                      </a:solidFill>
                      <a:latin typeface="微软雅黑" panose="020B0503020204020204" charset="-122"/>
                    </a:rPr>
                    <a:t/>
                  </a:r>
                  <a:br>
                    <a:rPr sz="1600" b="1">
                      <a:solidFill>
                        <a:srgbClr val="684EEB"/>
                      </a:solidFill>
                      <a:latin typeface="微软雅黑" panose="020B0503020204020204" charset="-122"/>
                    </a:rPr>
                  </a:br>
                  <a:r>
                    <a:rPr lang="zh-CN" sz="1200">
                      <a:solidFill>
                        <a:schemeClr val="tx1">
                          <a:alpha val="70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sym typeface="+mn-ea"/>
                    </a:rPr>
                    <a:t>高性能</a:t>
                  </a:r>
                  <a:r>
                    <a:rPr lang="en-US" altLang="zh-CN" sz="1200">
                      <a:solidFill>
                        <a:schemeClr val="tx1">
                          <a:alpha val="70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sym typeface="+mn-ea"/>
                    </a:rPr>
                    <a:t>GPU</a:t>
                  </a:r>
                  <a:r>
                    <a:rPr lang="zh-CN" altLang="en-US" sz="1200">
                      <a:solidFill>
                        <a:schemeClr val="tx1">
                          <a:alpha val="70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sym typeface="+mn-ea"/>
                    </a:rPr>
                    <a:t>设备</a:t>
                  </a:r>
                </a:p>
              </p:txBody>
            </p:sp>
            <p:sp>
              <p:nvSpPr>
                <p:cNvPr id="24" name="文本框 23"/>
                <p:cNvSpPr txBox="1"/>
                <p:nvPr/>
              </p:nvSpPr>
              <p:spPr>
                <a:xfrm>
                  <a:off x="16101" y="8525"/>
                  <a:ext cx="2368" cy="794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lstStyle/>
                <a:p>
                  <a:pPr indent="0" algn="ctr">
                    <a:lnSpc>
                      <a:spcPct val="100000"/>
                    </a:lnSpc>
                    <a:buClrTx/>
                    <a:buSzTx/>
                    <a:buFont typeface="Wingdings" panose="05000000000000000000" charset="0"/>
                    <a:buNone/>
                  </a:pPr>
                  <a:r>
                    <a:rPr lang="zh-CN" sz="1400">
                      <a:solidFill>
                        <a:schemeClr val="tx1">
                          <a:alpha val="70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+mn-ea"/>
                    </a:rPr>
                    <a:t>多模态深度推理</a:t>
                  </a:r>
                </a:p>
                <a:p>
                  <a:pPr indent="0" algn="ctr">
                    <a:lnSpc>
                      <a:spcPct val="100000"/>
                    </a:lnSpc>
                    <a:buClrTx/>
                    <a:buSzTx/>
                    <a:buFont typeface="Wingdings" panose="05000000000000000000" charset="0"/>
                    <a:buNone/>
                  </a:pPr>
                  <a:r>
                    <a:rPr lang="en-US" altLang="zh-CN" sz="1400">
                      <a:solidFill>
                        <a:schemeClr val="tx1">
                          <a:alpha val="70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+mn-ea"/>
                    </a:rPr>
                    <a:t>Qwen3.5 27B</a:t>
                  </a:r>
                </a:p>
              </p:txBody>
            </p:sp>
          </p:grpSp>
          <p:grpSp>
            <p:nvGrpSpPr>
              <p:cNvPr id="34" name="组合 33"/>
              <p:cNvGrpSpPr/>
              <p:nvPr/>
            </p:nvGrpSpPr>
            <p:grpSpPr>
              <a:xfrm>
                <a:off x="13889" y="7815"/>
                <a:ext cx="2268" cy="1504"/>
                <a:chOff x="13889" y="7815"/>
                <a:chExt cx="2268" cy="1504"/>
              </a:xfrm>
            </p:grpSpPr>
            <p:sp>
              <p:nvSpPr>
                <p:cNvPr id="19" name="TextBox 137"/>
                <p:cNvSpPr txBox="1"/>
                <p:nvPr/>
              </p:nvSpPr>
              <p:spPr>
                <a:xfrm>
                  <a:off x="14060" y="7815"/>
                  <a:ext cx="1927" cy="63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spAutoFit/>
                </a:bodyPr>
                <a:lstStyle/>
                <a:p>
                  <a:pPr algn="ctr"/>
                  <a:r>
                    <a:rPr lang="zh-CN" sz="1400" b="1">
                      <a:solidFill>
                        <a:srgbClr val="1E3A8A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高端设备</a:t>
                  </a:r>
                  <a:r>
                    <a:rPr sz="1600" b="1">
                      <a:solidFill>
                        <a:srgbClr val="F27E00"/>
                      </a:solidFill>
                      <a:latin typeface="微软雅黑" panose="020B0503020204020204" charset="-122"/>
                    </a:rPr>
                    <a:t/>
                  </a:r>
                  <a:br>
                    <a:rPr sz="1600" b="1">
                      <a:solidFill>
                        <a:srgbClr val="F27E00"/>
                      </a:solidFill>
                      <a:latin typeface="微软雅黑" panose="020B0503020204020204" charset="-122"/>
                    </a:rPr>
                  </a:br>
                  <a:r>
                    <a:rPr lang="en-US" altLang="zh-CN" sz="1200">
                      <a:solidFill>
                        <a:srgbClr val="64748B"/>
                      </a:solidFill>
                      <a:latin typeface="微软雅黑" panose="020B0503020204020204" charset="-122"/>
                      <a:ea typeface="微软雅黑" panose="020B0503020204020204" charset="-122"/>
                      <a:sym typeface="+mn-ea"/>
                    </a:rPr>
                    <a:t>32GB</a:t>
                  </a:r>
                  <a:r>
                    <a:rPr lang="zh-CN" altLang="en-US" sz="1200">
                      <a:solidFill>
                        <a:srgbClr val="64748B"/>
                      </a:solidFill>
                      <a:latin typeface="微软雅黑" panose="020B0503020204020204" charset="-122"/>
                      <a:ea typeface="微软雅黑" panose="020B0503020204020204" charset="-122"/>
                      <a:sym typeface="+mn-ea"/>
                    </a:rPr>
                    <a:t>内存及以上</a:t>
                  </a:r>
                </a:p>
              </p:txBody>
            </p:sp>
            <p:sp>
              <p:nvSpPr>
                <p:cNvPr id="25" name="文本框 24"/>
                <p:cNvSpPr txBox="1"/>
                <p:nvPr/>
              </p:nvSpPr>
              <p:spPr>
                <a:xfrm>
                  <a:off x="13889" y="8525"/>
                  <a:ext cx="2268" cy="794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noAutofit/>
                </a:bodyPr>
                <a:lstStyle/>
                <a:p>
                  <a:pPr indent="0" algn="ctr">
                    <a:lnSpc>
                      <a:spcPct val="100000"/>
                    </a:lnSpc>
                    <a:buClrTx/>
                    <a:buSzTx/>
                    <a:buFont typeface="Wingdings" panose="05000000000000000000" charset="0"/>
                    <a:buNone/>
                  </a:pPr>
                  <a:r>
                    <a:rPr lang="zh-CN" sz="1400">
                      <a:solidFill>
                        <a:schemeClr val="tx1">
                          <a:alpha val="70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+mn-ea"/>
                    </a:rPr>
                    <a:t>多模态复杂推理</a:t>
                  </a:r>
                </a:p>
                <a:p>
                  <a:pPr indent="0" algn="ctr">
                    <a:lnSpc>
                      <a:spcPct val="100000"/>
                    </a:lnSpc>
                    <a:buClrTx/>
                    <a:buSzTx/>
                    <a:buFont typeface="Wingdings" panose="05000000000000000000" charset="0"/>
                    <a:buNone/>
                  </a:pPr>
                  <a:r>
                    <a:rPr lang="en-US" altLang="zh-CN" sz="1400">
                      <a:solidFill>
                        <a:schemeClr val="tx1">
                          <a:alpha val="70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+mn-ea"/>
                    </a:rPr>
                    <a:t>Qwen3 14B</a:t>
                  </a:r>
                </a:p>
              </p:txBody>
            </p:sp>
          </p:grpSp>
        </p:grpSp>
      </p:grpSp>
      <p:grpSp>
        <p:nvGrpSpPr>
          <p:cNvPr id="111" name="组合 110"/>
          <p:cNvGrpSpPr/>
          <p:nvPr/>
        </p:nvGrpSpPr>
        <p:grpSpPr>
          <a:xfrm>
            <a:off x="22860" y="5826125"/>
            <a:ext cx="12146280" cy="817880"/>
            <a:chOff x="-10" y="4540"/>
            <a:chExt cx="19128" cy="1288"/>
          </a:xfrm>
        </p:grpSpPr>
        <p:sp>
          <p:nvSpPr>
            <p:cNvPr id="415" name="圆角矩形 414"/>
            <p:cNvSpPr/>
            <p:nvPr/>
          </p:nvSpPr>
          <p:spPr>
            <a:xfrm>
              <a:off x="-10" y="4540"/>
              <a:ext cx="19128" cy="1288"/>
            </a:xfrm>
            <a:prstGeom prst="roundRect">
              <a:avLst>
                <a:gd name="adj" fmla="val 11111"/>
              </a:avLst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6" name="文本框 415" descr="{&quot;isTemplate&quot;:true,&quot;type&quot;:&quot;text&quot;}"/>
            <p:cNvSpPr txBox="1"/>
            <p:nvPr/>
          </p:nvSpPr>
          <p:spPr>
            <a:xfrm>
              <a:off x="7995" y="4677"/>
              <a:ext cx="3118" cy="397"/>
            </a:xfrm>
            <a:prstGeom prst="rect">
              <a:avLst/>
            </a:prstGeom>
          </p:spPr>
          <p:txBody>
            <a:bodyPr wrap="none" lIns="0" tIns="0" rIns="0" bIns="0"/>
            <a:lstStyle/>
            <a:p>
              <a:pPr algn="ctr">
                <a:lnSpc>
                  <a:spcPct val="100000"/>
                </a:lnSpc>
              </a:pPr>
              <a:r>
                <a:rPr lang="zh-CN" sz="1600" b="1">
                  <a:solidFill>
                    <a:srgbClr val="1E3A8A"/>
                  </a:solidFill>
                  <a:latin typeface="微软雅黑" panose="020B0503020204020204" charset="-122"/>
                  <a:ea typeface="微软雅黑" panose="020B0503020204020204" charset="-122"/>
                </a:rPr>
                <a:t>开放生态与协议兼容</a:t>
              </a:r>
            </a:p>
          </p:txBody>
        </p:sp>
        <p:grpSp>
          <p:nvGrpSpPr>
            <p:cNvPr id="110" name="组合 109"/>
            <p:cNvGrpSpPr/>
            <p:nvPr/>
          </p:nvGrpSpPr>
          <p:grpSpPr>
            <a:xfrm>
              <a:off x="73" y="5171"/>
              <a:ext cx="18962" cy="488"/>
              <a:chOff x="-10" y="5171"/>
              <a:chExt cx="18962" cy="488"/>
            </a:xfrm>
          </p:grpSpPr>
          <p:grpSp>
            <p:nvGrpSpPr>
              <p:cNvPr id="105" name="组合 104"/>
              <p:cNvGrpSpPr/>
              <p:nvPr/>
            </p:nvGrpSpPr>
            <p:grpSpPr>
              <a:xfrm>
                <a:off x="-10" y="5171"/>
                <a:ext cx="1998" cy="488"/>
                <a:chOff x="1922" y="5188"/>
                <a:chExt cx="1998" cy="488"/>
              </a:xfrm>
            </p:grpSpPr>
            <p:sp>
              <p:nvSpPr>
                <p:cNvPr id="417" name="圆角矩形 416"/>
                <p:cNvSpPr/>
                <p:nvPr/>
              </p:nvSpPr>
              <p:spPr>
                <a:xfrm>
                  <a:off x="1922" y="5188"/>
                  <a:ext cx="1998" cy="488"/>
                </a:xfrm>
                <a:prstGeom prst="roundRect">
                  <a:avLst>
                    <a:gd name="adj" fmla="val 19048"/>
                  </a:avLst>
                </a:prstGeom>
                <a:solidFill>
                  <a:srgbClr val="EFF6FF"/>
                </a:solidFill>
                <a:ln w="12700">
                  <a:solidFill>
                    <a:srgbClr val="BFDBFE"/>
                  </a:solidFill>
                  <a:prstDash val="solid"/>
                </a:ln>
              </p:spPr>
              <p:txBody>
                <a:bodyPr/>
                <a:lstStyle/>
                <a:p>
                  <a:pPr algn="ctr"/>
                  <a:endParaRPr sz="1400"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endParaRPr>
                </a:p>
              </p:txBody>
            </p:sp>
            <p:sp>
              <p:nvSpPr>
                <p:cNvPr id="418" name="文本框 417" descr="{&quot;isTemplate&quot;:true,&quot;type&quot;:&quot;text&quot;}"/>
                <p:cNvSpPr txBox="1"/>
                <p:nvPr/>
              </p:nvSpPr>
              <p:spPr>
                <a:xfrm>
                  <a:off x="2110" y="5258"/>
                  <a:ext cx="1623" cy="348"/>
                </a:xfrm>
                <a:prstGeom prst="rect">
                  <a:avLst/>
                </a:prstGeom>
              </p:spPr>
              <p:txBody>
                <a:bodyPr wrap="none" lIns="0" tIns="0" rIns="0" bIns="0"/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en-US" sz="1400">
                      <a:solidFill>
                        <a:srgbClr val="1E3A8A"/>
                      </a:solidFill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</a:rPr>
                    <a:t>Matter 1.5.1</a:t>
                  </a:r>
                </a:p>
              </p:txBody>
            </p:sp>
          </p:grpSp>
          <p:grpSp>
            <p:nvGrpSpPr>
              <p:cNvPr id="106" name="组合 105"/>
              <p:cNvGrpSpPr/>
              <p:nvPr/>
            </p:nvGrpSpPr>
            <p:grpSpPr>
              <a:xfrm>
                <a:off x="2142" y="5171"/>
                <a:ext cx="1788" cy="488"/>
                <a:chOff x="3339" y="5188"/>
                <a:chExt cx="1788" cy="488"/>
              </a:xfrm>
            </p:grpSpPr>
            <p:sp>
              <p:nvSpPr>
                <p:cNvPr id="419" name="圆角矩形 418"/>
                <p:cNvSpPr/>
                <p:nvPr/>
              </p:nvSpPr>
              <p:spPr>
                <a:xfrm>
                  <a:off x="3339" y="5188"/>
                  <a:ext cx="1789" cy="488"/>
                </a:xfrm>
                <a:prstGeom prst="roundRect">
                  <a:avLst>
                    <a:gd name="adj" fmla="val 19048"/>
                  </a:avLst>
                </a:prstGeom>
                <a:solidFill>
                  <a:srgbClr val="EFF6FF"/>
                </a:solidFill>
                <a:ln w="12700">
                  <a:solidFill>
                    <a:srgbClr val="BFDBFE"/>
                  </a:solidFill>
                  <a:prstDash val="solid"/>
                </a:ln>
              </p:spPr>
              <p:txBody>
                <a:bodyPr/>
                <a:lstStyle/>
                <a:p>
                  <a:pPr algn="ctr"/>
                  <a:endParaRPr sz="1400"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endParaRPr>
                </a:p>
              </p:txBody>
            </p:sp>
            <p:sp>
              <p:nvSpPr>
                <p:cNvPr id="420" name="文本框 419" descr="{&quot;isTemplate&quot;:true,&quot;type&quot;:&quot;text&quot;}"/>
                <p:cNvSpPr txBox="1"/>
                <p:nvPr/>
              </p:nvSpPr>
              <p:spPr>
                <a:xfrm>
                  <a:off x="3526" y="5258"/>
                  <a:ext cx="1415" cy="348"/>
                </a:xfrm>
                <a:prstGeom prst="rect">
                  <a:avLst/>
                </a:prstGeom>
              </p:spPr>
              <p:txBody>
                <a:bodyPr wrap="none" lIns="0" tIns="0" rIns="0" bIns="0"/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en-US" sz="1400">
                      <a:solidFill>
                        <a:srgbClr val="1E3A8A"/>
                      </a:solidFill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</a:rPr>
                    <a:t>Thread 1.4</a:t>
                  </a:r>
                </a:p>
              </p:txBody>
            </p:sp>
          </p:grpSp>
          <p:grpSp>
            <p:nvGrpSpPr>
              <p:cNvPr id="107" name="组合 106"/>
              <p:cNvGrpSpPr/>
              <p:nvPr/>
            </p:nvGrpSpPr>
            <p:grpSpPr>
              <a:xfrm>
                <a:off x="4084" y="5171"/>
                <a:ext cx="1788" cy="488"/>
                <a:chOff x="4584" y="5188"/>
                <a:chExt cx="1788" cy="488"/>
              </a:xfrm>
            </p:grpSpPr>
            <p:sp>
              <p:nvSpPr>
                <p:cNvPr id="421" name="圆角矩形 420"/>
                <p:cNvSpPr/>
                <p:nvPr/>
              </p:nvSpPr>
              <p:spPr>
                <a:xfrm>
                  <a:off x="4584" y="5188"/>
                  <a:ext cx="1789" cy="488"/>
                </a:xfrm>
                <a:prstGeom prst="roundRect">
                  <a:avLst>
                    <a:gd name="adj" fmla="val 19048"/>
                  </a:avLst>
                </a:prstGeom>
                <a:solidFill>
                  <a:srgbClr val="EFF6FF"/>
                </a:solidFill>
                <a:ln w="12700">
                  <a:solidFill>
                    <a:srgbClr val="BFDBFE"/>
                  </a:solidFill>
                  <a:prstDash val="solid"/>
                </a:ln>
              </p:spPr>
              <p:txBody>
                <a:bodyPr/>
                <a:lstStyle/>
                <a:p>
                  <a:pPr algn="ctr"/>
                  <a:endParaRPr sz="1400"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endParaRPr>
                </a:p>
              </p:txBody>
            </p:sp>
            <p:sp>
              <p:nvSpPr>
                <p:cNvPr id="422" name="文本框 421" descr="{&quot;isTemplate&quot;:true,&quot;type&quot;:&quot;text&quot;}"/>
                <p:cNvSpPr txBox="1"/>
                <p:nvPr/>
              </p:nvSpPr>
              <p:spPr>
                <a:xfrm>
                  <a:off x="4771" y="5258"/>
                  <a:ext cx="1415" cy="348"/>
                </a:xfrm>
                <a:prstGeom prst="rect">
                  <a:avLst/>
                </a:prstGeom>
              </p:spPr>
              <p:txBody>
                <a:bodyPr wrap="none" lIns="0" tIns="0" rIns="0" bIns="0"/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en-US" sz="1400">
                      <a:solidFill>
                        <a:srgbClr val="1E3A8A"/>
                      </a:solidFill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</a:rPr>
                    <a:t>Zigbee 3.0</a:t>
                  </a:r>
                </a:p>
              </p:txBody>
            </p:sp>
          </p:grpSp>
          <p:grpSp>
            <p:nvGrpSpPr>
              <p:cNvPr id="108" name="组合 107"/>
              <p:cNvGrpSpPr/>
              <p:nvPr/>
            </p:nvGrpSpPr>
            <p:grpSpPr>
              <a:xfrm>
                <a:off x="6026" y="5171"/>
                <a:ext cx="1672" cy="488"/>
                <a:chOff x="5850" y="5188"/>
                <a:chExt cx="1672" cy="488"/>
              </a:xfrm>
            </p:grpSpPr>
            <p:sp>
              <p:nvSpPr>
                <p:cNvPr id="423" name="圆角矩形 422"/>
                <p:cNvSpPr/>
                <p:nvPr/>
              </p:nvSpPr>
              <p:spPr>
                <a:xfrm>
                  <a:off x="5850" y="5188"/>
                  <a:ext cx="1673" cy="488"/>
                </a:xfrm>
                <a:prstGeom prst="roundRect">
                  <a:avLst>
                    <a:gd name="adj" fmla="val 19048"/>
                  </a:avLst>
                </a:prstGeom>
                <a:solidFill>
                  <a:srgbClr val="EFF6FF"/>
                </a:solidFill>
                <a:ln w="12700">
                  <a:solidFill>
                    <a:srgbClr val="BFDBFE"/>
                  </a:solidFill>
                  <a:prstDash val="solid"/>
                </a:ln>
              </p:spPr>
              <p:txBody>
                <a:bodyPr/>
                <a:lstStyle/>
                <a:p>
                  <a:pPr algn="ctr"/>
                  <a:endParaRPr sz="1400"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endParaRPr>
                </a:p>
              </p:txBody>
            </p:sp>
            <p:sp>
              <p:nvSpPr>
                <p:cNvPr id="424" name="文本框 423" descr="{&quot;isTemplate&quot;:true,&quot;type&quot;:&quot;text&quot;}"/>
                <p:cNvSpPr txBox="1"/>
                <p:nvPr/>
              </p:nvSpPr>
              <p:spPr>
                <a:xfrm>
                  <a:off x="6037" y="5258"/>
                  <a:ext cx="1299" cy="348"/>
                </a:xfrm>
                <a:prstGeom prst="rect">
                  <a:avLst/>
                </a:prstGeom>
              </p:spPr>
              <p:txBody>
                <a:bodyPr wrap="none" lIns="0" tIns="0" rIns="0" bIns="0"/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en-US" sz="1400">
                      <a:solidFill>
                        <a:srgbClr val="1E3A8A"/>
                      </a:solidFill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</a:rPr>
                    <a:t>BLE Mesh</a:t>
                  </a:r>
                </a:p>
              </p:txBody>
            </p:sp>
          </p:grpSp>
          <p:grpSp>
            <p:nvGrpSpPr>
              <p:cNvPr id="109" name="组合 108"/>
              <p:cNvGrpSpPr/>
              <p:nvPr/>
            </p:nvGrpSpPr>
            <p:grpSpPr>
              <a:xfrm>
                <a:off x="7852" y="5171"/>
                <a:ext cx="1208" cy="488"/>
                <a:chOff x="7128" y="5188"/>
                <a:chExt cx="1208" cy="488"/>
              </a:xfrm>
            </p:grpSpPr>
            <p:sp>
              <p:nvSpPr>
                <p:cNvPr id="425" name="圆角矩形 424"/>
                <p:cNvSpPr/>
                <p:nvPr/>
              </p:nvSpPr>
              <p:spPr>
                <a:xfrm>
                  <a:off x="7128" y="5188"/>
                  <a:ext cx="1208" cy="488"/>
                </a:xfrm>
                <a:prstGeom prst="roundRect">
                  <a:avLst>
                    <a:gd name="adj" fmla="val 19048"/>
                  </a:avLst>
                </a:prstGeom>
                <a:solidFill>
                  <a:srgbClr val="EFF6FF"/>
                </a:solidFill>
                <a:ln w="12700">
                  <a:solidFill>
                    <a:srgbClr val="BFDBFE"/>
                  </a:solidFill>
                  <a:prstDash val="solid"/>
                </a:ln>
              </p:spPr>
              <p:txBody>
                <a:bodyPr/>
                <a:lstStyle/>
                <a:p>
                  <a:pPr algn="ctr"/>
                  <a:endParaRPr sz="1400"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endParaRPr>
                </a:p>
              </p:txBody>
            </p:sp>
            <p:sp>
              <p:nvSpPr>
                <p:cNvPr id="426" name="文本框 425" descr="{&quot;isTemplate&quot;:true,&quot;type&quot;:&quot;text&quot;}"/>
                <p:cNvSpPr txBox="1"/>
                <p:nvPr/>
              </p:nvSpPr>
              <p:spPr>
                <a:xfrm>
                  <a:off x="7315" y="5258"/>
                  <a:ext cx="835" cy="348"/>
                </a:xfrm>
                <a:prstGeom prst="rect">
                  <a:avLst/>
                </a:prstGeom>
              </p:spPr>
              <p:txBody>
                <a:bodyPr wrap="none" lIns="0" tIns="0" rIns="0" bIns="0"/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en-US" sz="1400">
                      <a:solidFill>
                        <a:srgbClr val="1E3A8A"/>
                      </a:solidFill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</a:rPr>
                    <a:t>WiFi 6</a:t>
                  </a:r>
                </a:p>
              </p:txBody>
            </p:sp>
          </p:grpSp>
          <p:grpSp>
            <p:nvGrpSpPr>
              <p:cNvPr id="112" name="组合 111"/>
              <p:cNvGrpSpPr/>
              <p:nvPr/>
            </p:nvGrpSpPr>
            <p:grpSpPr>
              <a:xfrm>
                <a:off x="9214" y="5171"/>
                <a:ext cx="1486" cy="488"/>
                <a:chOff x="8969" y="5188"/>
                <a:chExt cx="1486" cy="488"/>
              </a:xfrm>
            </p:grpSpPr>
            <p:sp>
              <p:nvSpPr>
                <p:cNvPr id="429" name="圆角矩形 428"/>
                <p:cNvSpPr/>
                <p:nvPr/>
              </p:nvSpPr>
              <p:spPr>
                <a:xfrm>
                  <a:off x="8969" y="5188"/>
                  <a:ext cx="1487" cy="488"/>
                </a:xfrm>
                <a:prstGeom prst="roundRect">
                  <a:avLst>
                    <a:gd name="adj" fmla="val 19048"/>
                  </a:avLst>
                </a:prstGeom>
                <a:solidFill>
                  <a:srgbClr val="EFF6FF"/>
                </a:solidFill>
                <a:ln w="12700">
                  <a:solidFill>
                    <a:srgbClr val="BFDBFE"/>
                  </a:solidFill>
                  <a:prstDash val="solid"/>
                </a:ln>
              </p:spPr>
              <p:txBody>
                <a:bodyPr/>
                <a:lstStyle/>
                <a:p>
                  <a:pPr algn="ctr"/>
                  <a:endParaRPr sz="1400"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endParaRPr>
                </a:p>
              </p:txBody>
            </p:sp>
            <p:sp>
              <p:nvSpPr>
                <p:cNvPr id="430" name="文本框 429" descr="{&quot;isTemplate&quot;:true,&quot;type&quot;:&quot;text&quot;}"/>
                <p:cNvSpPr txBox="1"/>
                <p:nvPr/>
              </p:nvSpPr>
              <p:spPr>
                <a:xfrm>
                  <a:off x="9156" y="5258"/>
                  <a:ext cx="1113" cy="348"/>
                </a:xfrm>
                <a:prstGeom prst="rect">
                  <a:avLst/>
                </a:prstGeom>
              </p:spPr>
              <p:txBody>
                <a:bodyPr wrap="none" lIns="0" tIns="0" rIns="0" bIns="0"/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en-US" sz="1400">
                      <a:solidFill>
                        <a:srgbClr val="1E3A8A"/>
                      </a:solidFill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</a:rPr>
                    <a:t>Modbus</a:t>
                  </a:r>
                </a:p>
              </p:txBody>
            </p:sp>
          </p:grpSp>
          <p:grpSp>
            <p:nvGrpSpPr>
              <p:cNvPr id="113" name="组合 112"/>
              <p:cNvGrpSpPr/>
              <p:nvPr/>
            </p:nvGrpSpPr>
            <p:grpSpPr>
              <a:xfrm>
                <a:off x="10854" y="5171"/>
                <a:ext cx="976" cy="488"/>
                <a:chOff x="10109" y="5188"/>
                <a:chExt cx="976" cy="488"/>
              </a:xfrm>
            </p:grpSpPr>
            <p:sp>
              <p:nvSpPr>
                <p:cNvPr id="431" name="圆角矩形 430"/>
                <p:cNvSpPr/>
                <p:nvPr/>
              </p:nvSpPr>
              <p:spPr>
                <a:xfrm>
                  <a:off x="10109" y="5188"/>
                  <a:ext cx="976" cy="488"/>
                </a:xfrm>
                <a:prstGeom prst="roundRect">
                  <a:avLst>
                    <a:gd name="adj" fmla="val 19048"/>
                  </a:avLst>
                </a:prstGeom>
                <a:solidFill>
                  <a:srgbClr val="EFF6FF"/>
                </a:solidFill>
                <a:ln w="12700">
                  <a:solidFill>
                    <a:srgbClr val="BFDBFE"/>
                  </a:solidFill>
                  <a:prstDash val="solid"/>
                </a:ln>
              </p:spPr>
              <p:txBody>
                <a:bodyPr/>
                <a:lstStyle/>
                <a:p>
                  <a:pPr algn="ctr"/>
                  <a:endParaRPr sz="1400"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endParaRPr>
                </a:p>
              </p:txBody>
            </p:sp>
            <p:sp>
              <p:nvSpPr>
                <p:cNvPr id="432" name="文本框 431" descr="{&quot;isTemplate&quot;:true,&quot;type&quot;:&quot;text&quot;}"/>
                <p:cNvSpPr txBox="1"/>
                <p:nvPr/>
              </p:nvSpPr>
              <p:spPr>
                <a:xfrm>
                  <a:off x="10296" y="5258"/>
                  <a:ext cx="603" cy="348"/>
                </a:xfrm>
                <a:prstGeom prst="rect">
                  <a:avLst/>
                </a:prstGeom>
              </p:spPr>
              <p:txBody>
                <a:bodyPr wrap="none" lIns="0" tIns="0" rIns="0" bIns="0"/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en-US" sz="1400">
                      <a:solidFill>
                        <a:srgbClr val="1E3A8A"/>
                      </a:solidFill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</a:rPr>
                    <a:t>KNX</a:t>
                  </a:r>
                </a:p>
              </p:txBody>
            </p:sp>
          </p:grpSp>
          <p:grpSp>
            <p:nvGrpSpPr>
              <p:cNvPr id="114" name="组合 113"/>
              <p:cNvGrpSpPr/>
              <p:nvPr/>
            </p:nvGrpSpPr>
            <p:grpSpPr>
              <a:xfrm>
                <a:off x="11984" y="5171"/>
                <a:ext cx="928" cy="488"/>
                <a:chOff x="10838" y="5188"/>
                <a:chExt cx="928" cy="488"/>
              </a:xfrm>
            </p:grpSpPr>
            <p:sp>
              <p:nvSpPr>
                <p:cNvPr id="433" name="圆角矩形 432"/>
                <p:cNvSpPr/>
                <p:nvPr/>
              </p:nvSpPr>
              <p:spPr>
                <a:xfrm>
                  <a:off x="10838" y="5188"/>
                  <a:ext cx="929" cy="488"/>
                </a:xfrm>
                <a:prstGeom prst="roundRect">
                  <a:avLst>
                    <a:gd name="adj" fmla="val 19048"/>
                  </a:avLst>
                </a:prstGeom>
                <a:solidFill>
                  <a:srgbClr val="EFF6FF"/>
                </a:solidFill>
                <a:ln w="12700">
                  <a:solidFill>
                    <a:srgbClr val="BFDBFE"/>
                  </a:solidFill>
                  <a:prstDash val="solid"/>
                </a:ln>
              </p:spPr>
              <p:txBody>
                <a:bodyPr/>
                <a:lstStyle/>
                <a:p>
                  <a:pPr algn="ctr"/>
                  <a:endParaRPr sz="1400"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endParaRPr>
                </a:p>
              </p:txBody>
            </p:sp>
            <p:sp>
              <p:nvSpPr>
                <p:cNvPr id="434" name="文本框 433" descr="{&quot;isTemplate&quot;:true,&quot;type&quot;:&quot;text&quot;}"/>
                <p:cNvSpPr txBox="1"/>
                <p:nvPr/>
              </p:nvSpPr>
              <p:spPr>
                <a:xfrm>
                  <a:off x="11025" y="5258"/>
                  <a:ext cx="556" cy="348"/>
                </a:xfrm>
                <a:prstGeom prst="rect">
                  <a:avLst/>
                </a:prstGeom>
              </p:spPr>
              <p:txBody>
                <a:bodyPr wrap="none" lIns="0" tIns="0" rIns="0" bIns="0"/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zh-CN" sz="1400" dirty="0">
                      <a:solidFill>
                        <a:srgbClr val="1E3A8A"/>
                      </a:solidFill>
                      <a:latin typeface="Times New Roman" panose="02020603050405020304" charset="0"/>
                      <a:ea typeface="微软雅黑" panose="020B0503020204020204" charset="-122"/>
                    </a:rPr>
                    <a:t>米家</a:t>
                  </a:r>
                </a:p>
              </p:txBody>
            </p:sp>
          </p:grpSp>
          <p:grpSp>
            <p:nvGrpSpPr>
              <p:cNvPr id="115" name="组合 114"/>
              <p:cNvGrpSpPr/>
              <p:nvPr/>
            </p:nvGrpSpPr>
            <p:grpSpPr>
              <a:xfrm>
                <a:off x="13066" y="5171"/>
                <a:ext cx="1518" cy="488"/>
                <a:chOff x="14202" y="5188"/>
                <a:chExt cx="1518" cy="488"/>
              </a:xfrm>
            </p:grpSpPr>
            <p:sp>
              <p:nvSpPr>
                <p:cNvPr id="435" name="圆角矩形 434"/>
                <p:cNvSpPr/>
                <p:nvPr/>
              </p:nvSpPr>
              <p:spPr>
                <a:xfrm>
                  <a:off x="14202" y="5188"/>
                  <a:ext cx="1518" cy="488"/>
                </a:xfrm>
                <a:prstGeom prst="roundRect">
                  <a:avLst>
                    <a:gd name="adj" fmla="val 19048"/>
                  </a:avLst>
                </a:prstGeom>
                <a:solidFill>
                  <a:srgbClr val="EFF6FF"/>
                </a:solidFill>
                <a:ln w="12700">
                  <a:solidFill>
                    <a:srgbClr val="BFDBFE"/>
                  </a:solidFill>
                  <a:prstDash val="solid"/>
                </a:ln>
              </p:spPr>
              <p:txBody>
                <a:bodyPr/>
                <a:lstStyle/>
                <a:p>
                  <a:pPr algn="ctr"/>
                  <a:endParaRPr sz="1400"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endParaRPr>
                </a:p>
              </p:txBody>
            </p:sp>
            <p:sp>
              <p:nvSpPr>
                <p:cNvPr id="436" name="文本框 435" descr="{&quot;isTemplate&quot;:true,&quot;type&quot;:&quot;text&quot;}"/>
                <p:cNvSpPr txBox="1"/>
                <p:nvPr/>
              </p:nvSpPr>
              <p:spPr>
                <a:xfrm>
                  <a:off x="14448" y="5258"/>
                  <a:ext cx="1027" cy="348"/>
                </a:xfrm>
                <a:prstGeom prst="rect">
                  <a:avLst/>
                </a:prstGeom>
              </p:spPr>
              <p:txBody>
                <a:bodyPr wrap="none" lIns="0" tIns="0" rIns="0" bIns="0"/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zh-CN" sz="1400" dirty="0">
                      <a:solidFill>
                        <a:srgbClr val="1E3A8A"/>
                      </a:solidFill>
                      <a:latin typeface="Times New Roman" panose="02020603050405020304" charset="0"/>
                      <a:ea typeface="微软雅黑" panose="020B0503020204020204" charset="-122"/>
                    </a:rPr>
                    <a:t>涂鸦智能</a:t>
                  </a:r>
                </a:p>
              </p:txBody>
            </p:sp>
          </p:grpSp>
          <p:grpSp>
            <p:nvGrpSpPr>
              <p:cNvPr id="116" name="组合 115"/>
              <p:cNvGrpSpPr/>
              <p:nvPr/>
            </p:nvGrpSpPr>
            <p:grpSpPr>
              <a:xfrm>
                <a:off x="14738" y="5171"/>
                <a:ext cx="2272" cy="488"/>
                <a:chOff x="5518" y="7126"/>
                <a:chExt cx="2272" cy="488"/>
              </a:xfrm>
            </p:grpSpPr>
            <p:sp>
              <p:nvSpPr>
                <p:cNvPr id="117" name="圆角矩形 116"/>
                <p:cNvSpPr/>
                <p:nvPr/>
              </p:nvSpPr>
              <p:spPr>
                <a:xfrm>
                  <a:off x="5518" y="7126"/>
                  <a:ext cx="2273" cy="488"/>
                </a:xfrm>
                <a:prstGeom prst="roundRect">
                  <a:avLst>
                    <a:gd name="adj" fmla="val 19048"/>
                  </a:avLst>
                </a:prstGeom>
                <a:solidFill>
                  <a:srgbClr val="EFF6FF"/>
                </a:solidFill>
                <a:ln w="12700">
                  <a:solidFill>
                    <a:srgbClr val="BFDBFE"/>
                  </a:solidFill>
                  <a:prstDash val="solid"/>
                </a:ln>
              </p:spPr>
              <p:txBody>
                <a:bodyPr/>
                <a:lstStyle/>
                <a:p>
                  <a:pPr algn="ctr"/>
                  <a:endParaRPr sz="1400"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endParaRPr>
                </a:p>
              </p:txBody>
            </p:sp>
            <p:sp>
              <p:nvSpPr>
                <p:cNvPr id="118" name="文本框 117"/>
                <p:cNvSpPr txBox="1"/>
                <p:nvPr/>
              </p:nvSpPr>
              <p:spPr>
                <a:xfrm>
                  <a:off x="5554" y="7129"/>
                  <a:ext cx="2201" cy="483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lstStyle/>
                <a:p>
                  <a:pPr algn="ctr">
                    <a:lnSpc>
                      <a:spcPct val="100000"/>
                    </a:lnSpc>
                    <a:buClrTx/>
                    <a:buSzTx/>
                    <a:buFontTx/>
                    <a:buNone/>
                  </a:pPr>
                  <a:r>
                    <a:rPr lang="en-US" sz="1400" dirty="0" smtClean="0">
                      <a:solidFill>
                        <a:srgbClr val="1E3A8A"/>
                      </a:solidFill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  <a:sym typeface="+mn-ea"/>
                    </a:rPr>
                    <a:t>Home Assistant</a:t>
                  </a:r>
                  <a:endParaRPr lang="en-US" sz="1400" dirty="0">
                    <a:solidFill>
                      <a:srgbClr val="1E3A8A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  <a:sym typeface="+mn-ea"/>
                  </a:endParaRPr>
                </a:p>
              </p:txBody>
            </p:sp>
          </p:grpSp>
          <p:grpSp>
            <p:nvGrpSpPr>
              <p:cNvPr id="119" name="组合 118"/>
              <p:cNvGrpSpPr/>
              <p:nvPr/>
            </p:nvGrpSpPr>
            <p:grpSpPr>
              <a:xfrm>
                <a:off x="17164" y="5171"/>
                <a:ext cx="1788" cy="488"/>
                <a:chOff x="10707" y="6981"/>
                <a:chExt cx="1788" cy="488"/>
              </a:xfrm>
            </p:grpSpPr>
            <p:sp>
              <p:nvSpPr>
                <p:cNvPr id="120" name="圆角矩形 119"/>
                <p:cNvSpPr/>
                <p:nvPr/>
              </p:nvSpPr>
              <p:spPr>
                <a:xfrm>
                  <a:off x="10707" y="6981"/>
                  <a:ext cx="1789" cy="488"/>
                </a:xfrm>
                <a:prstGeom prst="roundRect">
                  <a:avLst>
                    <a:gd name="adj" fmla="val 19048"/>
                  </a:avLst>
                </a:prstGeom>
                <a:solidFill>
                  <a:srgbClr val="EFF6FF"/>
                </a:solidFill>
                <a:ln w="12700">
                  <a:solidFill>
                    <a:srgbClr val="BFDBFE"/>
                  </a:solidFill>
                  <a:prstDash val="solid"/>
                </a:ln>
              </p:spPr>
              <p:txBody>
                <a:bodyPr/>
                <a:lstStyle/>
                <a:p>
                  <a:pPr algn="ctr"/>
                  <a:endParaRPr sz="1400"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endParaRPr>
                </a:p>
              </p:txBody>
            </p:sp>
            <p:sp>
              <p:nvSpPr>
                <p:cNvPr id="121" name="文本框 120"/>
                <p:cNvSpPr txBox="1"/>
                <p:nvPr/>
              </p:nvSpPr>
              <p:spPr>
                <a:xfrm>
                  <a:off x="10780" y="6998"/>
                  <a:ext cx="1644" cy="454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buClrTx/>
                    <a:buSzTx/>
                    <a:buFontTx/>
                    <a:buNone/>
                  </a:pPr>
                  <a:r>
                    <a:rPr lang="en-US" sz="1400" dirty="0" err="1">
                      <a:solidFill>
                        <a:srgbClr val="1E3A8A"/>
                      </a:solidFill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  <a:sym typeface="+mn-ea"/>
                    </a:rPr>
                    <a:t>OpenHAB</a:t>
                  </a:r>
                  <a:endParaRPr lang="en-US" sz="1400" dirty="0">
                    <a:solidFill>
                      <a:srgbClr val="1E3A8A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  <a:sym typeface="+mn-ea"/>
                  </a:endParaRPr>
                </a:p>
              </p:txBody>
            </p:sp>
          </p:grpSp>
        </p:grpSp>
      </p:grpSp>
      <p:grpSp>
        <p:nvGrpSpPr>
          <p:cNvPr id="130" name="组合 129"/>
          <p:cNvGrpSpPr/>
          <p:nvPr/>
        </p:nvGrpSpPr>
        <p:grpSpPr>
          <a:xfrm>
            <a:off x="373380" y="2282190"/>
            <a:ext cx="5452110" cy="861060"/>
            <a:chOff x="588" y="3594"/>
            <a:chExt cx="8586" cy="1356"/>
          </a:xfrm>
        </p:grpSpPr>
        <p:sp>
          <p:nvSpPr>
            <p:cNvPr id="41" name="圆角矩形 40"/>
            <p:cNvSpPr/>
            <p:nvPr>
              <p:custDataLst>
                <p:tags r:id="rId1"/>
              </p:custDataLst>
            </p:nvPr>
          </p:nvSpPr>
          <p:spPr>
            <a:xfrm>
              <a:off x="588" y="3594"/>
              <a:ext cx="8587" cy="1356"/>
            </a:xfrm>
            <a:prstGeom prst="roundRect">
              <a:avLst>
                <a:gd name="adj" fmla="val 13889"/>
              </a:avLst>
            </a:prstGeom>
            <a:solidFill>
              <a:srgbClr val="ECFEFF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2" name="圆角矩形 41"/>
            <p:cNvSpPr/>
            <p:nvPr>
              <p:custDataLst>
                <p:tags r:id="rId2"/>
              </p:custDataLst>
            </p:nvPr>
          </p:nvSpPr>
          <p:spPr>
            <a:xfrm>
              <a:off x="854" y="3858"/>
              <a:ext cx="828" cy="828"/>
            </a:xfrm>
            <a:prstGeom prst="roundRect">
              <a:avLst>
                <a:gd name="adj" fmla="val 22727"/>
              </a:avLst>
            </a:prstGeom>
            <a:solidFill>
              <a:srgbClr val="06B6D4"/>
            </a:solidFill>
          </p:spPr>
          <p:txBody>
            <a:bodyPr/>
            <a:lstStyle/>
            <a:p>
              <a:endParaRPr/>
            </a:p>
          </p:txBody>
        </p:sp>
        <p:pic>
          <p:nvPicPr>
            <p:cNvPr id="66" name="图片 65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/>
            <a:stretch>
              <a:fillRect/>
            </a:stretch>
          </p:blipFill>
          <p:spPr>
            <a:xfrm>
              <a:off x="1100" y="4103"/>
              <a:ext cx="338" cy="338"/>
            </a:xfrm>
            <a:prstGeom prst="rect">
              <a:avLst/>
            </a:prstGeom>
          </p:spPr>
        </p:pic>
        <p:grpSp>
          <p:nvGrpSpPr>
            <p:cNvPr id="129" name="组合 128"/>
            <p:cNvGrpSpPr/>
            <p:nvPr/>
          </p:nvGrpSpPr>
          <p:grpSpPr>
            <a:xfrm>
              <a:off x="1832" y="3843"/>
              <a:ext cx="5668" cy="858"/>
              <a:chOff x="1832" y="3793"/>
              <a:chExt cx="5668" cy="858"/>
            </a:xfrm>
          </p:grpSpPr>
          <p:sp>
            <p:nvSpPr>
              <p:cNvPr id="43" name="文本框 42" descr="{&quot;isTemplate&quot;:true,&quot;type&quot;:&quot;text&quot;}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1832" y="3858"/>
                <a:ext cx="3175" cy="397"/>
              </a:xfrm>
              <a:prstGeom prst="rect">
                <a:avLst/>
              </a:prstGeom>
            </p:spPr>
            <p:txBody>
              <a:bodyPr wrap="none" lIns="0" tIns="0" rIns="0" bIns="0"/>
              <a:lstStyle/>
              <a:p>
                <a:pPr>
                  <a:lnSpc>
                    <a:spcPct val="100000"/>
                  </a:lnSpc>
                </a:pPr>
                <a:r>
                  <a:rPr lang="zh-CN" altLang="en-US" sz="1600" b="1" dirty="0">
                    <a:solidFill>
                      <a:srgbClr val="06B6D4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管家</a:t>
                </a:r>
                <a:r>
                  <a:rPr lang="en-US" sz="1600" b="1" dirty="0" smtClean="0">
                    <a:solidFill>
                      <a:srgbClr val="06B6D4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AI</a:t>
                </a:r>
                <a:r>
                  <a:rPr lang="zh-CN" sz="1600" b="1" dirty="0">
                    <a:solidFill>
                      <a:srgbClr val="06B6D4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智能服务层</a:t>
                </a:r>
              </a:p>
            </p:txBody>
          </p:sp>
          <p:sp>
            <p:nvSpPr>
              <p:cNvPr id="44" name="文本框 43" descr="{&quot;isTemplate&quot;:true,&quot;type&quot;:&quot;text&quot;}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1832" y="4311"/>
                <a:ext cx="5669" cy="340"/>
              </a:xfrm>
              <a:prstGeom prst="rect">
                <a:avLst/>
              </a:prstGeom>
            </p:spPr>
            <p:txBody>
              <a:bodyPr wrap="none" lIns="0" tIns="0" rIns="0" bIns="0"/>
              <a:lstStyle/>
              <a:p>
                <a:pPr>
                  <a:lnSpc>
                    <a:spcPct val="100000"/>
                  </a:lnSpc>
                </a:pPr>
                <a:r>
                  <a:rPr lang="zh-CN" sz="1400" dirty="0">
                    <a:solidFill>
                      <a:srgbClr val="64748B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大模型推理与知识赋能，理解并服务家庭需求</a:t>
                </a:r>
              </a:p>
            </p:txBody>
          </p:sp>
          <p:grpSp>
            <p:nvGrpSpPr>
              <p:cNvPr id="126" name="组合 125"/>
              <p:cNvGrpSpPr/>
              <p:nvPr/>
            </p:nvGrpSpPr>
            <p:grpSpPr>
              <a:xfrm>
                <a:off x="5919" y="3793"/>
                <a:ext cx="1510" cy="526"/>
                <a:chOff x="10604" y="632"/>
                <a:chExt cx="1510" cy="526"/>
              </a:xfrm>
            </p:grpSpPr>
            <p:sp>
              <p:nvSpPr>
                <p:cNvPr id="127" name="圆角矩形 126"/>
                <p:cNvSpPr/>
                <p:nvPr/>
              </p:nvSpPr>
              <p:spPr>
                <a:xfrm>
                  <a:off x="10604" y="632"/>
                  <a:ext cx="1510" cy="526"/>
                </a:xfrm>
                <a:prstGeom prst="roundRect">
                  <a:avLst>
                    <a:gd name="adj" fmla="val 19048"/>
                  </a:avLst>
                </a:prstGeom>
                <a:solidFill>
                  <a:srgbClr val="06B6D4"/>
                </a:solidFill>
              </p:spPr>
              <p:txBody>
                <a:bodyPr/>
                <a:lstStyle/>
                <a:p>
                  <a:endParaRPr sz="1600"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endParaRPr>
                </a:p>
              </p:txBody>
            </p:sp>
            <p:sp>
              <p:nvSpPr>
                <p:cNvPr id="128" name="文本框 127" descr="{&quot;isTemplate&quot;:true,&quot;type&quot;:&quot;text&quot;}"/>
                <p:cNvSpPr txBox="1"/>
                <p:nvPr/>
              </p:nvSpPr>
              <p:spPr>
                <a:xfrm>
                  <a:off x="10687" y="655"/>
                  <a:ext cx="1344" cy="481"/>
                </a:xfrm>
                <a:prstGeom prst="rect">
                  <a:avLst/>
                </a:prstGeom>
              </p:spPr>
              <p:txBody>
                <a:bodyPr wrap="none" lIns="0" tIns="0" rIns="0" bIns="0"/>
                <a:lstStyle/>
                <a:p>
                  <a:pPr>
                    <a:lnSpc>
                      <a:spcPct val="100000"/>
                    </a:lnSpc>
                  </a:pPr>
                  <a:r>
                    <a:rPr lang="zh-CN" sz="1600" b="1" dirty="0">
                      <a:solidFill>
                        <a:srgbClr val="FFFFFF"/>
                      </a:solidFill>
                      <a:latin typeface="Times New Roman" panose="02020603050405020304" charset="0"/>
                      <a:ea typeface="微软雅黑" panose="020B0503020204020204" charset="-122"/>
                    </a:rPr>
                    <a:t>核心大脑</a:t>
                  </a:r>
                </a:p>
              </p:txBody>
            </p:sp>
          </p:grp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'20px 60px 20px 60px' }}&gt;&#10;    {/* Title block */}&#10;    &lt;Box style={{ height: 80, flexDirection: 'column', justifyContent: 'center' }}&gt;&#10;        &lt;Text style={{ fontSize: 32, fontWeight: 'bold', color: '#1E3A8A' }}&gt;方向三：家庭微脑多Agent技术方案&lt;/Text&gt;&#10;        &lt;Text style={{ fontSize: 16, color: '#64748B', marginTop: 4 }}&gt;四大AI Agent协同运作，MCP协议统一调度，实现自主决策、动态调度与故障自愈&lt;/Text&gt;&#10;    &lt;/Box&gt;&#10;    {/* Content - Agent collaboration diagram */}&#10;    &lt;Box style={{ flex: 1, marginTop: 8, position: 'relative' }}&gt;&#10;        {/* Central MCP hub */}&#10;        &lt;Box style={{ alignItems: 'center', marginBottom: 16 }}&gt;&#10;            &lt;Box style={{ background: 'linear-gradient(135deg, #1E3A8A 0%, #2563EB 100%)', borderRadius: 16, padding: '16px 40px', boxShadow: '0 4px 24px rgba(30,58,138,0.2)' }}&gt;&#10;                &lt;Box style={{ flexDirection: 'row', alignItems: 'center', gap: 12 }}&gt;&#10;                    &lt;FAIcon name='project-diagram' style={{ fill: '#06B6D4', width: 28, height: 28 }} /&gt;&#10;                    &lt;Box&gt;&#10;                        &lt;Text style={{ fontSize: 20, fontWeight: 'bold', color: '#FFFFFF' }}&gt;MCP 协议统一调度总线&lt;/Text&gt;&#10;                        &lt;Text style={{ fontSize: 14, color: 'rgba(255,255,255,0.7)' }}&gt;OpenClaw龙虾AI · 大模型/路由/HA三者中间桥梁&lt;/Text&gt;&#10;                    &lt;/Box&gt;&#10;                &lt;/Box&gt;&#10;            &lt;/Box&gt;&#10;        &lt;/Box&gt;&#10;        {/* Four Agent cards */}&#10;        &lt;Box style={{ flexDirection: 'row', gap: 16 }}&gt;&#10;            {/* Agent 1 */}&#10;            &lt;Box style={{ flex: 1, background: '#EFF6FF', borderRadius: 14, padding: 20, border: '2px solid #1E3A8A', minHeight: 320 }}&gt;&#10;                &lt;Box style={{ alignItems: 'center', marginBottom: 12 }}&gt;&#10;                    &lt;Box style={{ width: 56, height: 56, borderRadius: 14, background: '#1E3A8A', justifyContent: 'center', alignItems: 'center' }}&gt;&#10;                        &lt;FAIcon name='cogs' style={{ fill: '#FFFFFF', width: 28, height: 28 }} /&gt;&#10;                    &lt;/Box&gt;&#10;                &lt;/Box&gt;&#10;                &lt;Text style={{ fontSize: 18, fontWeight: 'bold', color: '#1E3A8A', textAlign: 'center', marginBottom: 8 }}&gt;协议解析 Agent&lt;/Text&gt;&#10;                &lt;Text style={{ fontSize: 13, color: '#64748B', textAlign: 'center', marginBottom: 12 }}&gt;识别小众设备私有报文，生成Schema映射规则&lt;/Text&gt;&#10;                &lt;Box style={{ gap: 6 }}&gt;&#10;                    &lt;Box style={{ flexDirection: 'row', gap: 6, alignItems: 'center' }}&gt;&#10;                        &lt;FAIcon name='arrow-right' style={{ fill: '#94A3B8', width: 12, height: 12 }} /&gt;&#10;                        &lt;Text style={{ fontSize: 13, color: '#64748B' }}&gt;数据源：HA协议转换日志&lt;/Text&gt;&#10;                    &lt;/Box&gt;&#10;                    &lt;Box style={{ flexDirection: 'row', gap: 6, alignItems: 'center' }}&gt;&#10;                        &lt;FAIcon name='arrow-right' style={{ fill: '#94A3B8', width: 12, height: 12 }} /&gt;&#10;                        &lt;Text style={{ fontSize: 13, color: '#64748B' }}&gt;输出：修复字段缺失/单位报错&lt;/Text&gt;&#10;                    &lt;/Box&gt;&#10;                    &lt;Box style={{ flexDirection: 'row', gap: 6, alignItems: 'center' }}&gt;&#10;                        &lt;FAIcon name='arrow-right' style={{ fill: '#94A3B8', width: 12, height: 12 }} /&gt;&#10;                        &lt;Text style={{ fontSize: 13, color: '#64748B' }}&gt;自动生成临时适配规则&lt;/Text&gt;&#10;                    &lt;/Box&gt;&#10;                &lt;/Box&gt;&#10;            &lt;/Box&gt;&#10;            {/* Agent 2 */}&#10;            &lt;Box style={{ flex: 1, background: '#ECFEFF', borderRadius: 14, padding: 20, border: '2px solid #06B6D4', minHeight: 320 }}&gt;&#10;                &lt;Box style={{ alignItems: 'center', marginBottom: 12 }}&gt;&#10;                    &lt;Box style={{ width: 56, height: 56, borderRadius: 14, background: '#06B6D4', justifyContent: 'center', alignItems: 'center' }}&gt;&#10;                        &lt;FAIcon name='wifi' style={{ fill: '#FFFFFF', width: 28, height: 28 }} /&gt;&#10;                    &lt;/Box&gt;&#10;                &lt;/Box&gt;&#10;                &lt;Text style={{ fontSize: 18, fontWeight: 'bold', color: '#06B6D4', textAlign: 'center', marginBottom: 8 }}&gt;组网优化 Agent&lt;/Text&gt;&#10;                &lt;Text style={{ fontSize: 13, color: '#64748B', textAlign: 'center', marginBottom: 12 }}&gt;分析全网无线干扰/网关负载/设备信号&lt;/Text&gt;&#10;                &lt;Box style={{ gap: 6 }}&gt;&#10;                    &lt;Box style={{ flexDirection: 'row', gap: 6, alignItems: 'center' }}&gt;&#10;                        &lt;FAIcon name='arrow-right' style={{ fill: '#94A3B8', width: 12, height: 12 }} /&gt;&#10;                        &lt;Text style={{ fontSize: 13, color: '#64748B' }}&gt;数据源：飞流OS网络指标+Thread拓扑&lt;/Text&gt;&#10;                    &lt;/Box&gt;&#10;                    &lt;Box style={{ flexDirection: 'row', gap: 6, alignItems: 'center' }}&gt;&#10;                        &lt;FAIcon name='arrow-right' style={{ fill: '#94A3B8', width: 12, height: 12 }} /&gt;&#10;                        &lt;Text style={{ fontSize: 13, color: '#64748B' }}&gt;WiFi信道智能重分配&lt;/Text&gt;&#10;                    &lt;/Box&gt;&#10;                    &lt;Box style={{ flexDirection: 'row', gap: 6, alignItems: 'center' }}&gt;&#10;                        &lt;FAIcon name='arrow-right' style={{ fill: '#94A3B8', width: 12, height: 12 }} /&gt;&#10;                        &lt;Text style={{ fontSize: 13, color: '#64748B' }}&gt;Thread/Zigbee拓扑动态重构&lt;/Text&gt;&#10;                    &lt;/Box&gt;&#10;                &lt;/Box&gt;&#10;            &lt;/Box&gt;&#10;            {/* Agent 3 */}&#10;            &lt;Box style={{ flex: 1, background: '#FFF7ED', borderRadius: 14, padding: 20, border: '2px solid #F59E0B', minHeight: 320 }}&gt;&#10;                &lt;Box style={{ alignItems: 'center', marginBottom: 12 }}&gt;&#10;                    &lt;Box style={{ width: 56, height: 56, borderRadius: 14, background: '#F59E0B', justifyContent: 'center', alignItems: 'center' }}&gt;&#10;                        &lt;FAIcon name='lightbulb' style={{ fill: '#FFFFFF', width: 28, height: 28 }} /&gt;&#10;                    &lt;/Box&gt;&#10;                &lt;/Box&gt;&#10;                &lt;Text style={{ fontSize: 18, fontWeight: 'bold', color: '#F59E0B', textAlign: 'center', marginBottom: 8 }}&gt;场景规划 Agent&lt;/Text&gt;&#10;                &lt;Box style={{ background: '#F59E0B', borderRadius: 4, padding: '2px 10px', alignSelf: 'center', marginBottom: 8 }}&gt;&#10;                    &lt;Text style={{ fontSize: 12, color: '#FFFFFF', fontWeight: 600 }}&gt;核心Agent&lt;/Text&gt;&#10;                &lt;/Box&gt;&#10;                &lt;Text style={{ fontSize: 13, color: '#64748B', textAlign: 'center', marginBottom: 12 }}&gt;解析模糊自然语言，自主生成多设备联动计划&lt;/Text&gt;&#10;                &lt;Box style={{ gap: 6 }}&gt;&#10;                    &lt;Box style={{ flexDirection: 'row', gap: 6, alignItems: 'center' }}&gt;&#10;                        &lt;FAIcon name='arrow-right' style={{ fill: '#94A3B8', width: 12, height: 12 }} /&gt;&#10;                        &lt;Text style={{ fontSize: 13, color: '#64748B' }}&gt;数据源：语音/微信指令+时序数据&lt;/Text&gt;&#10;                    &lt;/Box&gt;&#10;                    &lt;Box style={{ flexDirection: 'row', gap: 6, alignItems: 'center' }}&gt;&#10;                        &lt;FAIcon name='arrow-right' style={{ fill: '#94A3B8', width: 12, height: 12 }} /&gt;&#10;                        &lt;Text style={{ fontSize: 13, color: '#64748B' }}&gt;跨协议下发灯光/空调/窗帘控制&lt;/Text&gt;&#10;                    &lt;/Box&gt;&#10;                    &lt;Box style={{ flexDirection: 'row', gap: 6, alignItems: 'center' }}&gt;&#10;                        &lt;FAIcon name='arrow-right' style={{ fill: '#94A3B8', width: 12, height: 12 }} /&gt;&#10;                        &lt;Text style={{ fontSize: 13, color: '#64748B' }}&gt;AI自动记忆参数复用&lt;/Text&gt;&#10;                    &lt;/Box&gt;&#10;                &lt;/Box&gt;&#10;            &lt;/Box&gt;&#10;            {/* Agent 4 */}&#10;            &lt;Box style={{ flex: 1, background: '#F0FDF4', borderRadius: 14, padding: 20, border: '2px solid #10B981', minHeight: 320 }}&gt;&#10;                &lt;Box style={{ alignItems: 'center', marginBottom: 12 }}&gt;&#10;                    &lt;Box style={{ width: 56, height: 56, borderRadius: 14, background: '#10B981', justifyContent: 'center', alignItems: 'center' }}&gt;&#10;                        &lt;FAIcon name='stethoscope' style={{ fill: '#FFFFFF', width: 28, height: 28 }} /&gt;&#10;                    &lt;/Box&gt;&#10;                &lt;/Box&gt;&#10;                &lt;Text style={{ fontSize: 18, fontWeight: 'bold', color: '#10B981', textAlign: 'center', marginBottom: 8 }}&gt;故障诊断 Agent&lt;/Text&gt;&#10;                &lt;Text style={{ fontSize: 13, color: '#64748B', textAlign: 'center', marginBottom: 12 }}&gt;实时采集协议/网络/容器日志，定位故障根因&lt;/Text&gt;&#10;                &lt;Box style={{ gap: 6 }}&gt;&#10;                    &lt;Box style={{ flexDirection: 'row', gap: 6, alignItems: 'center' }}&gt;&#10;                        &lt;FAIcon name='arrow-right' style={{ fill: '#94A3B8', width: 12, height: 12 }} /&gt;&#10;                        &lt;Text style={{ fontSize: 13, color: '#64748B' }}&gt;数据源：HA日志+MQTT状态+路由日志&lt;/Text&gt;&#10;                    &lt;/Box&gt;&#10;                    &lt;Box style={{ flexDirection: 'row', gap: 6, alignItems: 'center' }}&gt;&#10;                        &lt;FAIcon name='arrow-right' style={{ fill: '#94A3B8', width: 12, height: 12 }} /&gt;&#10;                        &lt;Text style={{ fontSize: 13, color: '#64748B' }}&gt;推送可视化修复建议至HA面板&lt;/Text&gt;&#10;                    &lt;/Box&gt;&#10;                    &lt;Box style={{ flexDirection: 'row', gap: 6, alignItems: 'center' }}&gt;&#10;                        &lt;FAIcon name='arrow-right' style={{ fill: '#94A3B8', width: 12, height: 12 }} /&gt;&#10;                        &lt;Text style={{ fontSize: 13, color: '#64748B' }}&gt;自动生成修复指令下发重连&lt;/Text&gt;&#10;                    &lt;/Box&gt;&#10;                &lt;/Box&gt;&#10;            &lt;/Box&gt;&#10;        &lt;/Box&gt;&#10;        {/* Bottom - Memory system */}&#10;        &lt;Box style={{ marginTop: 16, background: '#F8FAFC', borderRadius: 10, padding: 14, border: '1px solid #E2E8F0', flexDirection: 'row', alignItems: 'center', gap: 16 }}&gt;&#10;            &lt;FAIcon name='memory' style={{ fill: '#64748B', width: 24, height: 24 }} /&gt;&#10;            &lt;Text style={{ fontSize: 15, color: '#64748B', flex: 1 }}&gt;&#10;                &lt;span style={{ fontWeight: 'bold', color: '#1E3A8A' }}&gt;记忆系统支撑&lt;/span&gt;：OpenClaw文档式记忆(Markdown+SQLite混合索引) / Cognee知识图谱(实体关联推理) · 短期会话+长期偏好+IoT联动记忆 · 多成员隔离&#10;            &lt;/Text&gt;&#10;        &lt;/Box&gt;&#10;    &lt;/Box&gt;&#10;    {/* Footer */}&#10;    &lt;Box style={{ height: 40, flexDirection: 'row', justifyContent: 'space-between', alignItems: 'center', borderTop: '1px solid #E2E8F0', paddingTop: 8 }}&gt;&#10;        &lt;Text style={{ fontSize: 14, color: '#94A3B8' }}&gt;家庭微脑技术方案&lt;/Text&gt;&#10;        &lt;Text style={{ fontSize: 14, color: '#94A3B8' }}&gt;07 / 13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Box 1"/>
          <p:cNvSpPr txBox="1"/>
          <p:nvPr/>
        </p:nvSpPr>
        <p:spPr>
          <a:xfrm>
            <a:off x="172720" y="140970"/>
            <a:ext cx="4014470" cy="460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zh-CN" altLang="en-US" sz="2400" b="1" dirty="0">
                <a:solidFill>
                  <a:srgbClr val="063591"/>
                </a:solidFill>
                <a:latin typeface="Times New Roman" panose="02020603050405020304" charset="0"/>
                <a:ea typeface="微软雅黑" panose="020B0503020204020204" charset="-122"/>
              </a:rPr>
              <a:t>家庭微</a:t>
            </a:r>
            <a:r>
              <a:rPr lang="zh-CN" altLang="en-US" sz="2400" b="1" dirty="0" smtClean="0">
                <a:solidFill>
                  <a:srgbClr val="063591"/>
                </a:solidFill>
                <a:latin typeface="Times New Roman" panose="02020603050405020304" charset="0"/>
                <a:ea typeface="微软雅黑" panose="020B0503020204020204" charset="-122"/>
              </a:rPr>
              <a:t>脑</a:t>
            </a:r>
            <a:r>
              <a:rPr lang="en-US" altLang="zh-CN" sz="2400" dirty="0">
                <a:solidFill>
                  <a:srgbClr val="06359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Agent</a:t>
            </a:r>
            <a:r>
              <a:rPr lang="zh-CN" altLang="en-US" sz="2400" b="1" dirty="0" smtClean="0">
                <a:solidFill>
                  <a:srgbClr val="063591"/>
                </a:solidFill>
                <a:latin typeface="Times New Roman" panose="02020603050405020304" charset="0"/>
                <a:ea typeface="微软雅黑" panose="020B0503020204020204" charset="-122"/>
              </a:rPr>
              <a:t>编排</a:t>
            </a:r>
            <a:r>
              <a:rPr lang="zh-CN" altLang="en-US" sz="2400" b="1" dirty="0" smtClean="0">
                <a:solidFill>
                  <a:srgbClr val="063591"/>
                </a:solidFill>
                <a:latin typeface="Times New Roman" panose="02020603050405020304" charset="0"/>
                <a:ea typeface="微软雅黑" panose="020B0503020204020204" charset="-122"/>
              </a:rPr>
              <a:t>引擎</a:t>
            </a:r>
            <a:endParaRPr lang="zh-CN" altLang="en-US" sz="2400" b="1" dirty="0">
              <a:solidFill>
                <a:srgbClr val="063591"/>
              </a:solidFill>
              <a:latin typeface="Times New Roman" panose="02020603050405020304" charset="0"/>
              <a:ea typeface="微软雅黑" panose="020B0503020204020204" charset="-122"/>
            </a:endParaRPr>
          </a:p>
        </p:txBody>
      </p:sp>
      <p:sp>
        <p:nvSpPr>
          <p:cNvPr id="104" name="TextBox 2"/>
          <p:cNvSpPr txBox="1"/>
          <p:nvPr/>
        </p:nvSpPr>
        <p:spPr>
          <a:xfrm>
            <a:off x="172720" y="601345"/>
            <a:ext cx="9267825" cy="3067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zh-CN" altLang="en-US" sz="1400" b="0" dirty="0">
                <a:solidFill>
                  <a:srgbClr val="06359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家庭微脑多</a:t>
            </a:r>
            <a:r>
              <a:rPr lang="en-US" altLang="zh-CN" sz="1400" b="0" dirty="0">
                <a:solidFill>
                  <a:srgbClr val="06359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Agent——</a:t>
            </a:r>
            <a:r>
              <a:rPr lang="zh-CN" altLang="en-US" sz="1400" b="0" dirty="0">
                <a:solidFill>
                  <a:srgbClr val="06359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场景规划负责理解与拆解，协议解析和组网优化负责执行路径，故障诊断负责持续恢复</a:t>
            </a:r>
          </a:p>
        </p:txBody>
      </p:sp>
      <p:grpSp>
        <p:nvGrpSpPr>
          <p:cNvPr id="107" name="组合 106"/>
          <p:cNvGrpSpPr/>
          <p:nvPr/>
        </p:nvGrpSpPr>
        <p:grpSpPr>
          <a:xfrm>
            <a:off x="915035" y="1109345"/>
            <a:ext cx="2988310" cy="4319270"/>
            <a:chOff x="1194" y="1927"/>
            <a:chExt cx="4706" cy="6802"/>
          </a:xfrm>
        </p:grpSpPr>
        <p:sp>
          <p:nvSpPr>
            <p:cNvPr id="505" name="圆角矩形 504"/>
            <p:cNvSpPr>
              <a:spLocks noGrp="1"/>
            </p:cNvSpPr>
            <p:nvPr>
              <p:custDataLst>
                <p:tags r:id="rId7"/>
              </p:custDataLst>
            </p:nvPr>
          </p:nvSpPr>
          <p:spPr>
            <a:xfrm>
              <a:off x="1194" y="1927"/>
              <a:ext cx="4706" cy="6803"/>
            </a:xfrm>
            <a:prstGeom prst="roundRect">
              <a:avLst>
                <a:gd name="adj" fmla="val 5036"/>
              </a:avLst>
            </a:prstGeom>
            <a:solidFill>
              <a:srgbClr val="EFF6FF"/>
            </a:solidFill>
            <a:ln w="25400">
              <a:solidFill>
                <a:srgbClr val="1E3A8A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" name="TextBox 23"/>
            <p:cNvSpPr txBox="1"/>
            <p:nvPr>
              <p:custDataLst>
                <p:tags r:id="rId8"/>
              </p:custDataLst>
            </p:nvPr>
          </p:nvSpPr>
          <p:spPr>
            <a:xfrm>
              <a:off x="1743" y="1990"/>
              <a:ext cx="3608" cy="5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lang="zh-CN" altLang="en-US" b="1">
                  <a:solidFill>
                    <a:srgbClr val="0E4CBA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设备连接层</a:t>
              </a:r>
              <a:r>
                <a:rPr lang="en-US" altLang="zh-CN" b="1">
                  <a:solidFill>
                    <a:srgbClr val="0E4CBA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 · MCP</a:t>
              </a:r>
            </a:p>
          </p:txBody>
        </p:sp>
        <p:sp>
          <p:nvSpPr>
            <p:cNvPr id="79" name="文本框 78"/>
            <p:cNvSpPr txBox="1"/>
            <p:nvPr/>
          </p:nvSpPr>
          <p:spPr>
            <a:xfrm>
              <a:off x="1308" y="2937"/>
              <a:ext cx="4479" cy="130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 sz="1600" b="1">
                  <a:solidFill>
                    <a:srgbClr val="0E4CBA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设备能力统一接入</a:t>
              </a:r>
              <a:endParaRPr lang="zh-CN" altLang="en-US" sz="1600" b="1">
                <a:solidFill>
                  <a:srgbClr val="0E4CBA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  <a:p>
              <a:r>
                <a:rPr lang="zh-CN" altLang="en-US" sz="1600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支持多种设备与系统接入</a:t>
              </a:r>
              <a:endPara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  <a:p>
              <a:r>
                <a:rPr lang="zh-CN" altLang="en-US" sz="1600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家电</a:t>
              </a:r>
              <a:r>
                <a:rPr lang="en-US" altLang="zh-CN" sz="1600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 · </a:t>
              </a:r>
              <a:r>
                <a:rPr lang="zh-CN" altLang="en-US" sz="1600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传感器</a:t>
              </a:r>
              <a:r>
                <a:rPr lang="en-US" altLang="zh-CN" sz="1600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 · IoT · </a:t>
              </a:r>
              <a:r>
                <a:rPr lang="zh-CN" altLang="en-US" sz="1600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业务系统</a:t>
              </a:r>
            </a:p>
          </p:txBody>
        </p:sp>
        <p:sp>
          <p:nvSpPr>
            <p:cNvPr id="80" name="文本框 79"/>
            <p:cNvSpPr txBox="1"/>
            <p:nvPr/>
          </p:nvSpPr>
          <p:spPr>
            <a:xfrm>
              <a:off x="1365" y="4638"/>
              <a:ext cx="4365" cy="1195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algn="l">
                <a:buClrTx/>
                <a:buSzTx/>
                <a:buFontTx/>
              </a:pPr>
              <a:r>
                <a:rPr lang="zh-CN" altLang="en-US" sz="1600" b="1">
                  <a:solidFill>
                    <a:srgbClr val="0E4CBA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工具能力封装</a:t>
              </a:r>
              <a:endParaRPr lang="zh-CN" altLang="en-US" sz="1600" b="1">
                <a:solidFill>
                  <a:srgbClr val="0E4CBA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  <a:p>
              <a:r>
                <a:rPr lang="zh-CN" altLang="en-US" sz="1600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将设备能力封装为标准工具</a:t>
              </a:r>
              <a:endPara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  <a:p>
              <a:r>
                <a:rPr lang="zh-CN" altLang="en-US" sz="1600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开关控制</a:t>
              </a:r>
              <a:r>
                <a:rPr lang="en-US" altLang="zh-CN" sz="1600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 · </a:t>
              </a:r>
              <a:r>
                <a:rPr lang="zh-CN" altLang="en-US" sz="1600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状态查询</a:t>
              </a:r>
              <a:r>
                <a:rPr lang="en-US" altLang="zh-CN" sz="1600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 · </a:t>
              </a:r>
              <a:r>
                <a:rPr lang="zh-CN" altLang="en-US" sz="1600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数报集</a:t>
              </a:r>
            </a:p>
          </p:txBody>
        </p:sp>
        <p:sp>
          <p:nvSpPr>
            <p:cNvPr id="81" name="文本框 80"/>
            <p:cNvSpPr txBox="1"/>
            <p:nvPr/>
          </p:nvSpPr>
          <p:spPr>
            <a:xfrm>
              <a:off x="1365" y="6227"/>
              <a:ext cx="4365" cy="130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l">
                <a:buClrTx/>
                <a:buSzTx/>
                <a:buFontTx/>
              </a:pPr>
              <a:r>
                <a:rPr lang="zh-CN" altLang="en-US" sz="1600" b="1">
                  <a:solidFill>
                    <a:srgbClr val="0E4CBA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A</a:t>
              </a:r>
              <a:r>
                <a:rPr lang="en-US" altLang="zh-CN" sz="1600" b="1">
                  <a:solidFill>
                    <a:srgbClr val="0E4CBA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I</a:t>
              </a:r>
              <a:r>
                <a:rPr lang="zh-CN" altLang="en-US" sz="1600" b="1">
                  <a:solidFill>
                    <a:srgbClr val="0E4CBA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自然调用</a:t>
              </a:r>
              <a:endParaRPr lang="zh-CN" altLang="en-US" sz="1600" b="1">
                <a:solidFill>
                  <a:srgbClr val="0E4CBA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  <a:p>
              <a:r>
                <a:rPr lang="en-US" altLang="zh-CN" sz="1600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Agent</a:t>
              </a:r>
              <a:r>
                <a:rPr lang="zh-CN" altLang="en-US" sz="1600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无需关心底层协议</a:t>
              </a:r>
              <a:endPara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  <a:p>
              <a:r>
                <a:rPr lang="zh-CN" altLang="en-US" sz="1600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即可调用设备能力完成任务</a:t>
              </a:r>
            </a:p>
          </p:txBody>
        </p:sp>
        <p:sp>
          <p:nvSpPr>
            <p:cNvPr id="91" name="TextBox 23"/>
            <p:cNvSpPr txBox="1"/>
            <p:nvPr>
              <p:custDataLst>
                <p:tags r:id="rId9"/>
              </p:custDataLst>
            </p:nvPr>
          </p:nvSpPr>
          <p:spPr>
            <a:xfrm>
              <a:off x="1498" y="7743"/>
              <a:ext cx="4099" cy="919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lang="zh-CN" altLang="en-US" sz="1600" b="1">
                  <a:solidFill>
                    <a:srgbClr val="0E4CBA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支持多协议接入，打通设备与</a:t>
              </a:r>
              <a:r>
                <a:rPr lang="en-US" altLang="zh-CN" sz="1600" b="1">
                  <a:solidFill>
                    <a:srgbClr val="0E4CBA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AI</a:t>
              </a:r>
              <a:r>
                <a:rPr lang="zh-CN" altLang="en-US" sz="1600" b="1">
                  <a:solidFill>
                    <a:srgbClr val="0E4CBA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的连接</a:t>
              </a:r>
            </a:p>
          </p:txBody>
        </p:sp>
      </p:grpSp>
      <p:grpSp>
        <p:nvGrpSpPr>
          <p:cNvPr id="106" name="组合 105"/>
          <p:cNvGrpSpPr/>
          <p:nvPr/>
        </p:nvGrpSpPr>
        <p:grpSpPr>
          <a:xfrm>
            <a:off x="4601845" y="1108710"/>
            <a:ext cx="2988310" cy="4319270"/>
            <a:chOff x="7050" y="1926"/>
            <a:chExt cx="4706" cy="6802"/>
          </a:xfrm>
        </p:grpSpPr>
        <p:sp>
          <p:nvSpPr>
            <p:cNvPr id="516" name="圆角矩形 515"/>
            <p:cNvSpPr>
              <a:spLocks noGrp="1"/>
            </p:cNvSpPr>
            <p:nvPr>
              <p:custDataLst>
                <p:tags r:id="rId4"/>
              </p:custDataLst>
            </p:nvPr>
          </p:nvSpPr>
          <p:spPr>
            <a:xfrm>
              <a:off x="7050" y="1926"/>
              <a:ext cx="4706" cy="6803"/>
            </a:xfrm>
            <a:prstGeom prst="roundRect">
              <a:avLst>
                <a:gd name="adj" fmla="val 5036"/>
              </a:avLst>
            </a:prstGeom>
            <a:solidFill>
              <a:srgbClr val="ECFEFF"/>
            </a:solidFill>
            <a:ln w="25400">
              <a:solidFill>
                <a:srgbClr val="06B6D4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TextBox 23"/>
            <p:cNvSpPr txBox="1"/>
            <p:nvPr>
              <p:custDataLst>
                <p:tags r:id="rId5"/>
              </p:custDataLst>
            </p:nvPr>
          </p:nvSpPr>
          <p:spPr>
            <a:xfrm>
              <a:off x="7599" y="1990"/>
              <a:ext cx="3608" cy="5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lang="zh-CN" b="1">
                  <a:solidFill>
                    <a:srgbClr val="08A1A7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协同通信层</a:t>
              </a:r>
              <a:r>
                <a:rPr lang="en-US" altLang="zh-CN" b="1">
                  <a:solidFill>
                    <a:srgbClr val="08A1A7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 · A2A</a:t>
              </a:r>
            </a:p>
          </p:txBody>
        </p:sp>
        <p:sp>
          <p:nvSpPr>
            <p:cNvPr id="82" name="文本框 81"/>
            <p:cNvSpPr txBox="1"/>
            <p:nvPr/>
          </p:nvSpPr>
          <p:spPr>
            <a:xfrm>
              <a:off x="7498" y="2937"/>
              <a:ext cx="3811" cy="91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zh-CN" sz="1600" b="1">
                  <a:solidFill>
                    <a:srgbClr val="08A1A7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Agent</a:t>
              </a:r>
              <a:r>
                <a:rPr lang="zh-CN" altLang="en-US" sz="1600" b="1">
                  <a:solidFill>
                    <a:srgbClr val="08A1A7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发现</a:t>
              </a:r>
              <a:endParaRPr lang="zh-CN" altLang="en-US" sz="1600" b="1">
                <a:solidFill>
                  <a:srgbClr val="08A1A7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  <a:p>
              <a:r>
                <a:rPr lang="zh-CN" altLang="en-US" sz="1600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识别可用智能体及其能力</a:t>
              </a:r>
            </a:p>
          </p:txBody>
        </p:sp>
        <p:sp>
          <p:nvSpPr>
            <p:cNvPr id="83" name="文本框 82"/>
            <p:cNvSpPr txBox="1"/>
            <p:nvPr/>
          </p:nvSpPr>
          <p:spPr>
            <a:xfrm>
              <a:off x="7498" y="4163"/>
              <a:ext cx="3811" cy="91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l">
                <a:buClrTx/>
                <a:buSzTx/>
                <a:buFontTx/>
              </a:pPr>
              <a:r>
                <a:rPr lang="en-US" altLang="zh-CN" sz="1600" b="1">
                  <a:solidFill>
                    <a:srgbClr val="08A1A7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任务协作</a:t>
              </a:r>
              <a:endParaRPr lang="en-US" altLang="zh-CN" sz="1600" b="1">
                <a:solidFill>
                  <a:srgbClr val="08A1A7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  <a:p>
              <a:r>
                <a:rPr lang="zh-CN" altLang="en-US" sz="1600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自动拆解复杂任务</a:t>
              </a:r>
            </a:p>
          </p:txBody>
        </p:sp>
        <p:sp>
          <p:nvSpPr>
            <p:cNvPr id="85" name="文本框 84"/>
            <p:cNvSpPr txBox="1"/>
            <p:nvPr/>
          </p:nvSpPr>
          <p:spPr>
            <a:xfrm>
              <a:off x="7498" y="5389"/>
              <a:ext cx="3811" cy="91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l">
                <a:buClrTx/>
                <a:buSzTx/>
                <a:buFontTx/>
              </a:pPr>
              <a:r>
                <a:rPr lang="en-US" altLang="zh-CN" sz="1600" b="1">
                  <a:solidFill>
                    <a:srgbClr val="08A1A7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信息共享</a:t>
              </a:r>
            </a:p>
            <a:p>
              <a:r>
                <a:rPr lang="zh-CN" altLang="en-US" sz="1600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传递任务状态与结果信息</a:t>
              </a:r>
            </a:p>
          </p:txBody>
        </p:sp>
        <p:sp>
          <p:nvSpPr>
            <p:cNvPr id="86" name="文本框 85"/>
            <p:cNvSpPr txBox="1"/>
            <p:nvPr/>
          </p:nvSpPr>
          <p:spPr>
            <a:xfrm>
              <a:off x="7498" y="6615"/>
              <a:ext cx="3811" cy="91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l">
                <a:buClrTx/>
                <a:buSzTx/>
                <a:buFontTx/>
              </a:pPr>
              <a:r>
                <a:rPr lang="en-US" altLang="zh-CN" sz="1600" b="1">
                  <a:solidFill>
                    <a:srgbClr val="08A1A7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协同完成</a:t>
              </a:r>
              <a:endParaRPr lang="en-US" altLang="zh-CN" sz="1600" b="1">
                <a:solidFill>
                  <a:srgbClr val="08A1A7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  <a:p>
              <a:r>
                <a:rPr lang="zh-CN" altLang="en-US" sz="1600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多智能体共同完成目标</a:t>
              </a:r>
            </a:p>
          </p:txBody>
        </p:sp>
        <p:sp>
          <p:nvSpPr>
            <p:cNvPr id="92" name="TextBox 23"/>
            <p:cNvSpPr txBox="1"/>
            <p:nvPr>
              <p:custDataLst>
                <p:tags r:id="rId6"/>
              </p:custDataLst>
            </p:nvPr>
          </p:nvSpPr>
          <p:spPr>
            <a:xfrm>
              <a:off x="7354" y="7743"/>
              <a:ext cx="4099" cy="919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lang="zh-CN" altLang="en-US" sz="1600" b="1">
                  <a:solidFill>
                    <a:srgbClr val="08A1A7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标准化通信协议，实现智能体高效协同</a:t>
              </a:r>
            </a:p>
          </p:txBody>
        </p:sp>
      </p:grpSp>
      <p:grpSp>
        <p:nvGrpSpPr>
          <p:cNvPr id="105" name="组合 104"/>
          <p:cNvGrpSpPr/>
          <p:nvPr/>
        </p:nvGrpSpPr>
        <p:grpSpPr>
          <a:xfrm>
            <a:off x="8288655" y="1108710"/>
            <a:ext cx="2988310" cy="4319270"/>
            <a:chOff x="12805" y="1926"/>
            <a:chExt cx="4706" cy="6802"/>
          </a:xfrm>
        </p:grpSpPr>
        <p:sp>
          <p:nvSpPr>
            <p:cNvPr id="527" name="圆角矩形 526"/>
            <p:cNvSpPr>
              <a:spLocks noGrp="1"/>
            </p:cNvSpPr>
            <p:nvPr>
              <p:custDataLst>
                <p:tags r:id="rId1"/>
              </p:custDataLst>
            </p:nvPr>
          </p:nvSpPr>
          <p:spPr>
            <a:xfrm>
              <a:off x="12805" y="1926"/>
              <a:ext cx="4706" cy="6803"/>
            </a:xfrm>
            <a:prstGeom prst="roundRect">
              <a:avLst>
                <a:gd name="adj" fmla="val 5036"/>
              </a:avLst>
            </a:prstGeom>
            <a:solidFill>
              <a:srgbClr val="FFF7ED"/>
            </a:solidFill>
            <a:ln w="25400">
              <a:solidFill>
                <a:srgbClr val="F59E0B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TextBox 23"/>
            <p:cNvSpPr txBox="1"/>
            <p:nvPr>
              <p:custDataLst>
                <p:tags r:id="rId2"/>
              </p:custDataLst>
            </p:nvPr>
          </p:nvSpPr>
          <p:spPr>
            <a:xfrm>
              <a:off x="13354" y="1990"/>
              <a:ext cx="3608" cy="5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lang="zh-CN" b="1">
                  <a:solidFill>
                    <a:srgbClr val="EB8F00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任务编排层</a:t>
              </a:r>
              <a:endParaRPr lang="zh-CN" altLang="zh-CN" b="1">
                <a:solidFill>
                  <a:srgbClr val="EB8F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endParaRPr>
            </a:p>
          </p:txBody>
        </p:sp>
        <p:sp>
          <p:nvSpPr>
            <p:cNvPr id="88" name="文本框 87"/>
            <p:cNvSpPr txBox="1"/>
            <p:nvPr/>
          </p:nvSpPr>
          <p:spPr>
            <a:xfrm>
              <a:off x="13207" y="2937"/>
              <a:ext cx="3902" cy="130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 sz="1600" b="1">
                  <a:solidFill>
                    <a:srgbClr val="EB8F00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自动流程模式</a:t>
              </a:r>
            </a:p>
            <a:p>
              <a:r>
                <a:rPr lang="zh-CN" altLang="en-US" sz="1600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适用可固定场景流程</a:t>
              </a:r>
            </a:p>
            <a:p>
              <a:r>
                <a:rPr lang="zh-CN" altLang="en-US" sz="1600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如：回家模式、离家模式</a:t>
              </a:r>
            </a:p>
          </p:txBody>
        </p:sp>
        <p:sp>
          <p:nvSpPr>
            <p:cNvPr id="89" name="文本框 88"/>
            <p:cNvSpPr txBox="1"/>
            <p:nvPr/>
          </p:nvSpPr>
          <p:spPr>
            <a:xfrm>
              <a:off x="13207" y="4582"/>
              <a:ext cx="3902" cy="130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l">
                <a:buClrTx/>
                <a:buSzTx/>
                <a:buFontTx/>
              </a:pPr>
              <a:r>
                <a:rPr lang="zh-CN" altLang="en-US" sz="1600" b="1">
                  <a:solidFill>
                    <a:srgbClr val="EB8F00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多</a:t>
              </a:r>
              <a:r>
                <a:rPr lang="en-US" altLang="zh-CN" sz="1600" b="1">
                  <a:solidFill>
                    <a:srgbClr val="EB8F00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Agent</a:t>
              </a:r>
              <a:r>
                <a:rPr lang="zh-CN" altLang="en-US" sz="1600" b="1">
                  <a:solidFill>
                    <a:srgbClr val="EB8F00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协作模式</a:t>
              </a:r>
              <a:endParaRPr lang="zh-CN" altLang="en-US" sz="1600" b="1">
                <a:solidFill>
                  <a:srgbClr val="EB8F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  <a:p>
              <a:r>
                <a:rPr lang="zh-CN" altLang="en-US" sz="1600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适用于复杂任务处理</a:t>
              </a:r>
            </a:p>
            <a:p>
              <a:r>
                <a:rPr lang="zh-CN" altLang="en-US" sz="1600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如：健康管理、能耗优化</a:t>
              </a:r>
            </a:p>
          </p:txBody>
        </p:sp>
        <p:sp>
          <p:nvSpPr>
            <p:cNvPr id="90" name="文本框 89"/>
            <p:cNvSpPr txBox="1"/>
            <p:nvPr/>
          </p:nvSpPr>
          <p:spPr>
            <a:xfrm>
              <a:off x="13207" y="6227"/>
              <a:ext cx="3902" cy="130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l">
                <a:buClrTx/>
                <a:buSzTx/>
                <a:buFontTx/>
              </a:pPr>
              <a:r>
                <a:rPr lang="zh-CN" altLang="en-US" sz="1600" b="1">
                  <a:solidFill>
                    <a:srgbClr val="EB8F00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事件触发模式</a:t>
              </a:r>
            </a:p>
            <a:p>
              <a:r>
                <a:rPr lang="zh-CN" altLang="en-US" sz="1600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适用于实时事件响应</a:t>
              </a:r>
            </a:p>
            <a:p>
              <a:r>
                <a:rPr lang="zh-CN" altLang="en-US" sz="1600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如：异常报警、设备故障</a:t>
              </a:r>
            </a:p>
          </p:txBody>
        </p:sp>
        <p:sp>
          <p:nvSpPr>
            <p:cNvPr id="93" name="TextBox 23"/>
            <p:cNvSpPr txBox="1"/>
            <p:nvPr>
              <p:custDataLst>
                <p:tags r:id="rId3"/>
              </p:custDataLst>
            </p:nvPr>
          </p:nvSpPr>
          <p:spPr>
            <a:xfrm>
              <a:off x="13109" y="7743"/>
              <a:ext cx="4099" cy="919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lang="zh-CN" altLang="en-US" sz="1600" b="1">
                  <a:solidFill>
                    <a:srgbClr val="EB8F00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灵活编排、状态管理、异常处理、策略优化</a:t>
              </a:r>
            </a:p>
          </p:txBody>
        </p:sp>
      </p:grpSp>
      <p:cxnSp>
        <p:nvCxnSpPr>
          <p:cNvPr id="109" name="直接箭头连接符 108"/>
          <p:cNvCxnSpPr>
            <a:stCxn id="505" idx="3"/>
            <a:endCxn id="516" idx="1"/>
          </p:cNvCxnSpPr>
          <p:nvPr/>
        </p:nvCxnSpPr>
        <p:spPr>
          <a:xfrm flipV="1">
            <a:off x="3903345" y="3268980"/>
            <a:ext cx="698500" cy="635"/>
          </a:xfrm>
          <a:prstGeom prst="straightConnector1">
            <a:avLst/>
          </a:prstGeom>
          <a:ln w="19050">
            <a:solidFill>
              <a:srgbClr val="0E4CBA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0" name="直接箭头连接符 109"/>
          <p:cNvCxnSpPr>
            <a:stCxn id="516" idx="3"/>
            <a:endCxn id="527" idx="1"/>
          </p:cNvCxnSpPr>
          <p:nvPr/>
        </p:nvCxnSpPr>
        <p:spPr>
          <a:xfrm>
            <a:off x="7590155" y="3268980"/>
            <a:ext cx="698500" cy="0"/>
          </a:xfrm>
          <a:prstGeom prst="straightConnector1">
            <a:avLst/>
          </a:prstGeom>
          <a:ln w="19050">
            <a:solidFill>
              <a:srgbClr val="EB8F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8" name="Shape 74"/>
          <p:cNvSpPr/>
          <p:nvPr/>
        </p:nvSpPr>
        <p:spPr>
          <a:xfrm>
            <a:off x="426720" y="5534025"/>
            <a:ext cx="11064240" cy="1051560"/>
          </a:xfrm>
          <a:prstGeom prst="roundRect">
            <a:avLst>
              <a:gd name="adj" fmla="val 4348"/>
            </a:avLst>
          </a:prstGeom>
          <a:solidFill>
            <a:srgbClr val="FFFFFF">
              <a:alpha val="8000"/>
            </a:srgbClr>
          </a:solidFill>
        </p:spPr>
      </p:sp>
      <p:grpSp>
        <p:nvGrpSpPr>
          <p:cNvPr id="113" name="组合 112"/>
          <p:cNvGrpSpPr/>
          <p:nvPr/>
        </p:nvGrpSpPr>
        <p:grpSpPr>
          <a:xfrm>
            <a:off x="563880" y="5509260"/>
            <a:ext cx="11064240" cy="274320"/>
            <a:chOff x="672" y="8550"/>
            <a:chExt cx="17424" cy="432"/>
          </a:xfrm>
        </p:grpSpPr>
        <p:sp>
          <p:nvSpPr>
            <p:cNvPr id="229" name="Shape 75"/>
            <p:cNvSpPr/>
            <p:nvPr/>
          </p:nvSpPr>
          <p:spPr>
            <a:xfrm>
              <a:off x="672" y="8730"/>
              <a:ext cx="6236" cy="72"/>
            </a:xfrm>
            <a:prstGeom prst="rect">
              <a:avLst/>
            </a:prstGeom>
            <a:solidFill>
              <a:srgbClr val="0E4CBA"/>
            </a:solidFill>
            <a:ln>
              <a:solidFill>
                <a:srgbClr val="0E4CBA"/>
              </a:solidFill>
            </a:ln>
          </p:spPr>
        </p:sp>
        <p:sp>
          <p:nvSpPr>
            <p:cNvPr id="230" name="Text 76"/>
            <p:cNvSpPr/>
            <p:nvPr/>
          </p:nvSpPr>
          <p:spPr>
            <a:xfrm>
              <a:off x="7224" y="8550"/>
              <a:ext cx="4320" cy="43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algn="ctr">
                <a:buClrTx/>
                <a:buSzTx/>
                <a:buFontTx/>
                <a:buNone/>
              </a:pPr>
              <a:r>
                <a:rPr lang="zh-CN" altLang="en-US" sz="1800" b="1">
                  <a:solidFill>
                    <a:srgbClr val="0E4CBA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AI智能服务闭环流程示例</a:t>
              </a:r>
            </a:p>
          </p:txBody>
        </p:sp>
        <p:sp>
          <p:nvSpPr>
            <p:cNvPr id="112" name="Shape 75"/>
            <p:cNvSpPr/>
            <p:nvPr/>
          </p:nvSpPr>
          <p:spPr>
            <a:xfrm>
              <a:off x="11860" y="8730"/>
              <a:ext cx="6236" cy="72"/>
            </a:xfrm>
            <a:prstGeom prst="rect">
              <a:avLst/>
            </a:prstGeom>
            <a:solidFill>
              <a:srgbClr val="0E4CBA"/>
            </a:solidFill>
            <a:ln>
              <a:solidFill>
                <a:srgbClr val="0E4CBA"/>
              </a:solidFill>
            </a:ln>
          </p:spPr>
        </p:sp>
      </p:grpSp>
      <p:grpSp>
        <p:nvGrpSpPr>
          <p:cNvPr id="173" name="组合 172"/>
          <p:cNvGrpSpPr/>
          <p:nvPr/>
        </p:nvGrpSpPr>
        <p:grpSpPr>
          <a:xfrm>
            <a:off x="128270" y="5907405"/>
            <a:ext cx="1181100" cy="739140"/>
            <a:chOff x="11" y="9303"/>
            <a:chExt cx="1860" cy="1164"/>
          </a:xfrm>
        </p:grpSpPr>
        <p:sp>
          <p:nvSpPr>
            <p:cNvPr id="231" name="Shape 77"/>
            <p:cNvSpPr/>
            <p:nvPr/>
          </p:nvSpPr>
          <p:spPr>
            <a:xfrm>
              <a:off x="11" y="9303"/>
              <a:ext cx="1860" cy="1164"/>
            </a:xfrm>
            <a:prstGeom prst="roundRect">
              <a:avLst>
                <a:gd name="adj" fmla="val 6154"/>
              </a:avLst>
            </a:prstGeom>
            <a:solidFill>
              <a:srgbClr val="EFF6FF"/>
            </a:solidFill>
          </p:spPr>
        </p:sp>
        <p:grpSp>
          <p:nvGrpSpPr>
            <p:cNvPr id="161" name="组合 160"/>
            <p:cNvGrpSpPr/>
            <p:nvPr/>
          </p:nvGrpSpPr>
          <p:grpSpPr>
            <a:xfrm>
              <a:off x="72" y="9398"/>
              <a:ext cx="1738" cy="975"/>
              <a:chOff x="1260" y="9291"/>
              <a:chExt cx="1738" cy="975"/>
            </a:xfrm>
          </p:grpSpPr>
          <p:sp>
            <p:nvSpPr>
              <p:cNvPr id="232" name="Text 78"/>
              <p:cNvSpPr/>
              <p:nvPr/>
            </p:nvSpPr>
            <p:spPr>
              <a:xfrm>
                <a:off x="1260" y="9291"/>
                <a:ext cx="1739" cy="50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zh-CN" altLang="en-US" sz="1400" b="1" dirty="0">
                    <a:solidFill>
                      <a:srgbClr val="0E4CBA"/>
                    </a:solidFill>
                    <a:latin typeface="Times New Roman" panose="02020603050405020304" charset="0"/>
                    <a:ea typeface="微软雅黑" panose="020B0503020204020204" charset="-122"/>
                  </a:rPr>
                  <a:t>用户需求</a:t>
                </a:r>
              </a:p>
            </p:txBody>
          </p:sp>
          <p:sp>
            <p:nvSpPr>
              <p:cNvPr id="233" name="Text 79"/>
              <p:cNvSpPr/>
              <p:nvPr/>
            </p:nvSpPr>
            <p:spPr>
              <a:xfrm>
                <a:off x="1260" y="9694"/>
                <a:ext cx="1739" cy="57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lnSpc>
                    <a:spcPct val="120000"/>
                  </a:lnSpc>
                  <a:buNone/>
                </a:pPr>
                <a:r>
                  <a:rPr lang="en-US" sz="1400" dirty="0">
                    <a:solidFill>
                      <a:schemeClr val="accent6">
                        <a:lumMod val="50000"/>
                      </a:schemeClr>
                    </a:solidFill>
                    <a:latin typeface="Times New Roman" panose="02020603050405020304" charset="0"/>
                    <a:ea typeface="微软雅黑" panose="020B0503020204020204" charset="-122"/>
                  </a:rPr>
                  <a:t>“</a:t>
                </a:r>
                <a:r>
                  <a:rPr lang="zh-CN" altLang="en-US" sz="1400" dirty="0">
                    <a:solidFill>
                      <a:schemeClr val="accent6">
                        <a:lumMod val="50000"/>
                      </a:schemeClr>
                    </a:solidFill>
                    <a:latin typeface="Times New Roman" panose="02020603050405020304" charset="0"/>
                    <a:ea typeface="微软雅黑" panose="020B0503020204020204" charset="-122"/>
                  </a:rPr>
                  <a:t>我要睡觉了</a:t>
                </a:r>
                <a:r>
                  <a:rPr lang="en-US" sz="1400" dirty="0">
                    <a:solidFill>
                      <a:schemeClr val="accent6">
                        <a:lumMod val="50000"/>
                      </a:schemeClr>
                    </a:solidFill>
                    <a:latin typeface="Times New Roman" panose="02020603050405020304" charset="0"/>
                    <a:ea typeface="微软雅黑" panose="020B0503020204020204" charset="-122"/>
                  </a:rPr>
                  <a:t>”</a:t>
                </a:r>
              </a:p>
            </p:txBody>
          </p:sp>
        </p:grpSp>
      </p:grpSp>
      <p:grpSp>
        <p:nvGrpSpPr>
          <p:cNvPr id="172" name="组合 171"/>
          <p:cNvGrpSpPr/>
          <p:nvPr/>
        </p:nvGrpSpPr>
        <p:grpSpPr>
          <a:xfrm>
            <a:off x="1639570" y="5907405"/>
            <a:ext cx="1225550" cy="739140"/>
            <a:chOff x="2310" y="9303"/>
            <a:chExt cx="1930" cy="1164"/>
          </a:xfrm>
        </p:grpSpPr>
        <p:sp>
          <p:nvSpPr>
            <p:cNvPr id="235" name="Shape 81"/>
            <p:cNvSpPr/>
            <p:nvPr/>
          </p:nvSpPr>
          <p:spPr>
            <a:xfrm>
              <a:off x="2345" y="9303"/>
              <a:ext cx="1860" cy="1164"/>
            </a:xfrm>
            <a:prstGeom prst="roundRect">
              <a:avLst>
                <a:gd name="adj" fmla="val 6154"/>
              </a:avLst>
            </a:prstGeom>
            <a:solidFill>
              <a:srgbClr val="EFF6FF"/>
            </a:solidFill>
          </p:spPr>
        </p:sp>
        <p:grpSp>
          <p:nvGrpSpPr>
            <p:cNvPr id="162" name="组合 161"/>
            <p:cNvGrpSpPr/>
            <p:nvPr/>
          </p:nvGrpSpPr>
          <p:grpSpPr>
            <a:xfrm>
              <a:off x="2310" y="9398"/>
              <a:ext cx="1930" cy="975"/>
              <a:chOff x="3498" y="9291"/>
              <a:chExt cx="1930" cy="975"/>
            </a:xfrm>
          </p:grpSpPr>
          <p:sp>
            <p:nvSpPr>
              <p:cNvPr id="236" name="Text 82"/>
              <p:cNvSpPr/>
              <p:nvPr/>
            </p:nvSpPr>
            <p:spPr>
              <a:xfrm>
                <a:off x="3498" y="9291"/>
                <a:ext cx="1930" cy="50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zh-CN" altLang="en-US" sz="1400" b="1" dirty="0">
                    <a:solidFill>
                      <a:srgbClr val="0E4CBA"/>
                    </a:solidFill>
                    <a:latin typeface="Times New Roman" panose="02020603050405020304" charset="0"/>
                    <a:ea typeface="微软雅黑" panose="020B0503020204020204" charset="-122"/>
                  </a:rPr>
                  <a:t>意图识别</a:t>
                </a:r>
              </a:p>
            </p:txBody>
          </p:sp>
          <p:sp>
            <p:nvSpPr>
              <p:cNvPr id="237" name="Text 83"/>
              <p:cNvSpPr/>
              <p:nvPr/>
            </p:nvSpPr>
            <p:spPr>
              <a:xfrm>
                <a:off x="3498" y="9694"/>
                <a:ext cx="1930" cy="57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lnSpc>
                    <a:spcPct val="120000"/>
                  </a:lnSpc>
                  <a:buNone/>
                </a:pPr>
                <a:r>
                  <a:rPr lang="zh-CN" altLang="en-US" sz="1400" dirty="0">
                    <a:solidFill>
                      <a:schemeClr val="accent6">
                        <a:lumMod val="50000"/>
                      </a:schemeClr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识别用户意愿</a:t>
                </a:r>
              </a:p>
            </p:txBody>
          </p:sp>
        </p:grpSp>
      </p:grpSp>
      <p:grpSp>
        <p:nvGrpSpPr>
          <p:cNvPr id="171" name="组合 170"/>
          <p:cNvGrpSpPr/>
          <p:nvPr/>
        </p:nvGrpSpPr>
        <p:grpSpPr>
          <a:xfrm>
            <a:off x="3195320" y="5907405"/>
            <a:ext cx="1181100" cy="739140"/>
            <a:chOff x="4722" y="9303"/>
            <a:chExt cx="1860" cy="1164"/>
          </a:xfrm>
        </p:grpSpPr>
        <p:sp>
          <p:nvSpPr>
            <p:cNvPr id="239" name="Shape 85"/>
            <p:cNvSpPr/>
            <p:nvPr/>
          </p:nvSpPr>
          <p:spPr>
            <a:xfrm>
              <a:off x="4722" y="9303"/>
              <a:ext cx="1860" cy="1164"/>
            </a:xfrm>
            <a:prstGeom prst="roundRect">
              <a:avLst>
                <a:gd name="adj" fmla="val 6154"/>
              </a:avLst>
            </a:prstGeom>
            <a:solidFill>
              <a:srgbClr val="EFF6FF"/>
            </a:solidFill>
          </p:spPr>
        </p:sp>
        <p:grpSp>
          <p:nvGrpSpPr>
            <p:cNvPr id="163" name="组合 162"/>
            <p:cNvGrpSpPr/>
            <p:nvPr/>
          </p:nvGrpSpPr>
          <p:grpSpPr>
            <a:xfrm>
              <a:off x="4722" y="9398"/>
              <a:ext cx="1860" cy="975"/>
              <a:chOff x="5910" y="9291"/>
              <a:chExt cx="1860" cy="975"/>
            </a:xfrm>
          </p:grpSpPr>
          <p:sp>
            <p:nvSpPr>
              <p:cNvPr id="240" name="Text 86"/>
              <p:cNvSpPr/>
              <p:nvPr/>
            </p:nvSpPr>
            <p:spPr>
              <a:xfrm>
                <a:off x="5910" y="9291"/>
                <a:ext cx="1860" cy="50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zh-CN" altLang="en-US" sz="1400" b="1" dirty="0">
                    <a:solidFill>
                      <a:srgbClr val="0E4CBA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任务规划</a:t>
                </a:r>
              </a:p>
            </p:txBody>
          </p:sp>
          <p:sp>
            <p:nvSpPr>
              <p:cNvPr id="241" name="Text 87"/>
              <p:cNvSpPr/>
              <p:nvPr/>
            </p:nvSpPr>
            <p:spPr>
              <a:xfrm>
                <a:off x="5910" y="9694"/>
                <a:ext cx="1860" cy="57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lnSpc>
                    <a:spcPct val="120000"/>
                  </a:lnSpc>
                  <a:buNone/>
                </a:pPr>
                <a:r>
                  <a:rPr lang="zh-CN" altLang="en-US" sz="1400" dirty="0">
                    <a:solidFill>
                      <a:schemeClr val="accent6">
                        <a:lumMod val="50000"/>
                      </a:schemeClr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任务拆解规划</a:t>
                </a:r>
                <a:endParaRPr lang="en-US" sz="1400" dirty="0">
                  <a:solidFill>
                    <a:schemeClr val="accent6">
                      <a:lumMod val="50000"/>
                    </a:schemeClr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endParaRPr>
              </a:p>
            </p:txBody>
          </p:sp>
        </p:grpSp>
      </p:grpSp>
      <p:grpSp>
        <p:nvGrpSpPr>
          <p:cNvPr id="170" name="组合 169"/>
          <p:cNvGrpSpPr/>
          <p:nvPr/>
        </p:nvGrpSpPr>
        <p:grpSpPr>
          <a:xfrm>
            <a:off x="4706620" y="5907405"/>
            <a:ext cx="1181100" cy="739140"/>
            <a:chOff x="7404" y="9303"/>
            <a:chExt cx="1860" cy="1164"/>
          </a:xfrm>
        </p:grpSpPr>
        <p:sp>
          <p:nvSpPr>
            <p:cNvPr id="243" name="Shape 89"/>
            <p:cNvSpPr/>
            <p:nvPr/>
          </p:nvSpPr>
          <p:spPr>
            <a:xfrm>
              <a:off x="7404" y="9303"/>
              <a:ext cx="1860" cy="1164"/>
            </a:xfrm>
            <a:prstGeom prst="roundRect">
              <a:avLst>
                <a:gd name="adj" fmla="val 6154"/>
              </a:avLst>
            </a:prstGeom>
            <a:solidFill>
              <a:srgbClr val="EFF6FF"/>
            </a:solidFill>
          </p:spPr>
        </p:sp>
        <p:grpSp>
          <p:nvGrpSpPr>
            <p:cNvPr id="164" name="组合 163"/>
            <p:cNvGrpSpPr/>
            <p:nvPr/>
          </p:nvGrpSpPr>
          <p:grpSpPr>
            <a:xfrm>
              <a:off x="7404" y="9398"/>
              <a:ext cx="1860" cy="975"/>
              <a:chOff x="8592" y="9291"/>
              <a:chExt cx="1860" cy="975"/>
            </a:xfrm>
          </p:grpSpPr>
          <p:sp>
            <p:nvSpPr>
              <p:cNvPr id="244" name="Text 90"/>
              <p:cNvSpPr/>
              <p:nvPr/>
            </p:nvSpPr>
            <p:spPr>
              <a:xfrm>
                <a:off x="8592" y="9291"/>
                <a:ext cx="1860" cy="50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400" b="1" dirty="0">
                    <a:solidFill>
                      <a:srgbClr val="0E4CBA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A2A</a:t>
                </a:r>
                <a:r>
                  <a:rPr lang="zh-CN" altLang="en-US" sz="1400" b="1" dirty="0">
                    <a:solidFill>
                      <a:srgbClr val="0E4CBA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协同</a:t>
                </a:r>
              </a:p>
            </p:txBody>
          </p:sp>
          <p:sp>
            <p:nvSpPr>
              <p:cNvPr id="245" name="Text 91"/>
              <p:cNvSpPr/>
              <p:nvPr/>
            </p:nvSpPr>
            <p:spPr>
              <a:xfrm>
                <a:off x="8592" y="9694"/>
                <a:ext cx="1860" cy="57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lnSpc>
                    <a:spcPct val="120000"/>
                  </a:lnSpc>
                  <a:buNone/>
                </a:pPr>
                <a:r>
                  <a:rPr lang="zh-CN" altLang="en-US" sz="1400" dirty="0">
                    <a:solidFill>
                      <a:schemeClr val="accent6">
                        <a:lumMod val="50000"/>
                      </a:schemeClr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多智能体协作</a:t>
                </a:r>
              </a:p>
            </p:txBody>
          </p:sp>
        </p:grpSp>
      </p:grpSp>
      <p:grpSp>
        <p:nvGrpSpPr>
          <p:cNvPr id="169" name="组合 168"/>
          <p:cNvGrpSpPr/>
          <p:nvPr/>
        </p:nvGrpSpPr>
        <p:grpSpPr>
          <a:xfrm>
            <a:off x="6217920" y="5907405"/>
            <a:ext cx="1181100" cy="739140"/>
            <a:chOff x="9919" y="9303"/>
            <a:chExt cx="1860" cy="1164"/>
          </a:xfrm>
        </p:grpSpPr>
        <p:sp>
          <p:nvSpPr>
            <p:cNvPr id="114" name="Shape 89"/>
            <p:cNvSpPr/>
            <p:nvPr/>
          </p:nvSpPr>
          <p:spPr>
            <a:xfrm>
              <a:off x="9919" y="9303"/>
              <a:ext cx="1860" cy="1164"/>
            </a:xfrm>
            <a:prstGeom prst="roundRect">
              <a:avLst>
                <a:gd name="adj" fmla="val 6154"/>
              </a:avLst>
            </a:prstGeom>
            <a:solidFill>
              <a:srgbClr val="EFF6FF"/>
            </a:solidFill>
          </p:spPr>
        </p:sp>
        <p:grpSp>
          <p:nvGrpSpPr>
            <p:cNvPr id="153" name="组合 152"/>
            <p:cNvGrpSpPr/>
            <p:nvPr/>
          </p:nvGrpSpPr>
          <p:grpSpPr>
            <a:xfrm>
              <a:off x="9919" y="9398"/>
              <a:ext cx="1860" cy="975"/>
              <a:chOff x="11107" y="9303"/>
              <a:chExt cx="1860" cy="975"/>
            </a:xfrm>
          </p:grpSpPr>
          <p:sp>
            <p:nvSpPr>
              <p:cNvPr id="115" name="Text 90"/>
              <p:cNvSpPr/>
              <p:nvPr/>
            </p:nvSpPr>
            <p:spPr>
              <a:xfrm>
                <a:off x="11107" y="9303"/>
                <a:ext cx="1860" cy="50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400" b="1" dirty="0">
                    <a:solidFill>
                      <a:srgbClr val="0E4CBA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MCP调用</a:t>
                </a:r>
              </a:p>
            </p:txBody>
          </p:sp>
          <p:sp>
            <p:nvSpPr>
              <p:cNvPr id="116" name="Text 91"/>
              <p:cNvSpPr/>
              <p:nvPr/>
            </p:nvSpPr>
            <p:spPr>
              <a:xfrm>
                <a:off x="11107" y="9706"/>
                <a:ext cx="1860" cy="57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lnSpc>
                    <a:spcPct val="120000"/>
                  </a:lnSpc>
                  <a:buNone/>
                </a:pPr>
                <a:r>
                  <a:rPr lang="zh-CN" altLang="en-US" sz="1400" dirty="0">
                    <a:solidFill>
                      <a:schemeClr val="accent6">
                        <a:lumMod val="50000"/>
                      </a:schemeClr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调用设备能力</a:t>
                </a:r>
              </a:p>
            </p:txBody>
          </p:sp>
        </p:grpSp>
      </p:grpSp>
      <p:grpSp>
        <p:nvGrpSpPr>
          <p:cNvPr id="168" name="组合 167"/>
          <p:cNvGrpSpPr/>
          <p:nvPr/>
        </p:nvGrpSpPr>
        <p:grpSpPr>
          <a:xfrm>
            <a:off x="7729220" y="5907405"/>
            <a:ext cx="1188720" cy="739140"/>
            <a:chOff x="12417" y="9303"/>
            <a:chExt cx="1872" cy="1164"/>
          </a:xfrm>
        </p:grpSpPr>
        <p:sp>
          <p:nvSpPr>
            <p:cNvPr id="247" name="Shape 93"/>
            <p:cNvSpPr/>
            <p:nvPr/>
          </p:nvSpPr>
          <p:spPr>
            <a:xfrm>
              <a:off x="12423" y="9303"/>
              <a:ext cx="1860" cy="1164"/>
            </a:xfrm>
            <a:prstGeom prst="roundRect">
              <a:avLst>
                <a:gd name="adj" fmla="val 6154"/>
              </a:avLst>
            </a:prstGeom>
            <a:solidFill>
              <a:srgbClr val="EFF6FF"/>
            </a:solidFill>
          </p:spPr>
        </p:sp>
        <p:grpSp>
          <p:nvGrpSpPr>
            <p:cNvPr id="158" name="组合 157"/>
            <p:cNvGrpSpPr/>
            <p:nvPr/>
          </p:nvGrpSpPr>
          <p:grpSpPr>
            <a:xfrm>
              <a:off x="12417" y="9398"/>
              <a:ext cx="1872" cy="975"/>
              <a:chOff x="13605" y="9303"/>
              <a:chExt cx="1872" cy="975"/>
            </a:xfrm>
          </p:grpSpPr>
          <p:sp>
            <p:nvSpPr>
              <p:cNvPr id="248" name="Text 94"/>
              <p:cNvSpPr/>
              <p:nvPr/>
            </p:nvSpPr>
            <p:spPr>
              <a:xfrm>
                <a:off x="13605" y="9303"/>
                <a:ext cx="1873" cy="50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zh-CN" altLang="en-US" sz="1400" b="1" dirty="0">
                    <a:solidFill>
                      <a:srgbClr val="0E4CBA"/>
                    </a:solidFill>
                    <a:latin typeface="Times New Roman" panose="02020603050405020304" charset="0"/>
                    <a:ea typeface="微软雅黑" panose="020B0503020204020204" charset="-122"/>
                  </a:rPr>
                  <a:t>设备执行</a:t>
                </a:r>
              </a:p>
            </p:txBody>
          </p:sp>
          <p:sp>
            <p:nvSpPr>
              <p:cNvPr id="249" name="Text 95"/>
              <p:cNvSpPr/>
              <p:nvPr/>
            </p:nvSpPr>
            <p:spPr>
              <a:xfrm>
                <a:off x="13605" y="9706"/>
                <a:ext cx="1873" cy="57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lnSpc>
                    <a:spcPct val="120000"/>
                  </a:lnSpc>
                  <a:buNone/>
                </a:pPr>
                <a:r>
                  <a:rPr lang="zh-CN" altLang="en-US" sz="1400" dirty="0">
                    <a:solidFill>
                      <a:schemeClr val="accent6">
                        <a:lumMod val="50000"/>
                      </a:schemeClr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设备控制操作</a:t>
                </a:r>
              </a:p>
            </p:txBody>
          </p:sp>
        </p:grpSp>
      </p:grpSp>
      <p:grpSp>
        <p:nvGrpSpPr>
          <p:cNvPr id="167" name="组合 166"/>
          <p:cNvGrpSpPr/>
          <p:nvPr/>
        </p:nvGrpSpPr>
        <p:grpSpPr>
          <a:xfrm>
            <a:off x="9248140" y="5907405"/>
            <a:ext cx="1285240" cy="739140"/>
            <a:chOff x="14883" y="9303"/>
            <a:chExt cx="2024" cy="1164"/>
          </a:xfrm>
        </p:grpSpPr>
        <p:sp>
          <p:nvSpPr>
            <p:cNvPr id="117" name="Shape 93"/>
            <p:cNvSpPr/>
            <p:nvPr/>
          </p:nvSpPr>
          <p:spPr>
            <a:xfrm>
              <a:off x="14965" y="9303"/>
              <a:ext cx="1860" cy="1164"/>
            </a:xfrm>
            <a:prstGeom prst="roundRect">
              <a:avLst>
                <a:gd name="adj" fmla="val 6154"/>
              </a:avLst>
            </a:prstGeom>
            <a:solidFill>
              <a:srgbClr val="EFF6FF"/>
            </a:solidFill>
          </p:spPr>
        </p:sp>
        <p:grpSp>
          <p:nvGrpSpPr>
            <p:cNvPr id="159" name="组合 158"/>
            <p:cNvGrpSpPr/>
            <p:nvPr/>
          </p:nvGrpSpPr>
          <p:grpSpPr>
            <a:xfrm>
              <a:off x="14883" y="9398"/>
              <a:ext cx="2024" cy="975"/>
              <a:chOff x="16071" y="9315"/>
              <a:chExt cx="2024" cy="975"/>
            </a:xfrm>
          </p:grpSpPr>
          <p:sp>
            <p:nvSpPr>
              <p:cNvPr id="118" name="Text 94"/>
              <p:cNvSpPr/>
              <p:nvPr/>
            </p:nvSpPr>
            <p:spPr>
              <a:xfrm>
                <a:off x="16071" y="9315"/>
                <a:ext cx="2025" cy="50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zh-CN" altLang="en-US" sz="1400" b="1" dirty="0">
                    <a:solidFill>
                      <a:srgbClr val="0E4CBA"/>
                    </a:solidFill>
                    <a:latin typeface="Times New Roman" panose="02020603050405020304" charset="0"/>
                    <a:ea typeface="微软雅黑" panose="020B0503020204020204" charset="-122"/>
                  </a:rPr>
                  <a:t>结果反馈</a:t>
                </a:r>
              </a:p>
            </p:txBody>
          </p:sp>
          <p:sp>
            <p:nvSpPr>
              <p:cNvPr id="119" name="Text 95"/>
              <p:cNvSpPr/>
              <p:nvPr/>
            </p:nvSpPr>
            <p:spPr>
              <a:xfrm>
                <a:off x="16071" y="9718"/>
                <a:ext cx="2025" cy="57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lnSpc>
                    <a:spcPct val="120000"/>
                  </a:lnSpc>
                  <a:buNone/>
                </a:pPr>
                <a:r>
                  <a:rPr lang="zh-CN" altLang="en-US" sz="1400" dirty="0">
                    <a:solidFill>
                      <a:schemeClr val="accent6">
                        <a:lumMod val="50000"/>
                      </a:schemeClr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状态反馈记录</a:t>
                </a:r>
              </a:p>
            </p:txBody>
          </p:sp>
        </p:grpSp>
      </p:grpSp>
      <p:grpSp>
        <p:nvGrpSpPr>
          <p:cNvPr id="166" name="组合 165"/>
          <p:cNvGrpSpPr/>
          <p:nvPr/>
        </p:nvGrpSpPr>
        <p:grpSpPr>
          <a:xfrm>
            <a:off x="10863580" y="5907405"/>
            <a:ext cx="1200150" cy="739140"/>
            <a:chOff x="17271" y="9303"/>
            <a:chExt cx="1890" cy="1164"/>
          </a:xfrm>
        </p:grpSpPr>
        <p:sp>
          <p:nvSpPr>
            <p:cNvPr id="120" name="Shape 93"/>
            <p:cNvSpPr/>
            <p:nvPr/>
          </p:nvSpPr>
          <p:spPr>
            <a:xfrm>
              <a:off x="17286" y="9303"/>
              <a:ext cx="1860" cy="1164"/>
            </a:xfrm>
            <a:prstGeom prst="roundRect">
              <a:avLst>
                <a:gd name="adj" fmla="val 6154"/>
              </a:avLst>
            </a:prstGeom>
            <a:solidFill>
              <a:srgbClr val="EFF6FF"/>
            </a:solidFill>
          </p:spPr>
        </p:sp>
        <p:grpSp>
          <p:nvGrpSpPr>
            <p:cNvPr id="160" name="组合 159"/>
            <p:cNvGrpSpPr/>
            <p:nvPr/>
          </p:nvGrpSpPr>
          <p:grpSpPr>
            <a:xfrm>
              <a:off x="17271" y="9398"/>
              <a:ext cx="1890" cy="975"/>
              <a:chOff x="18459" y="9315"/>
              <a:chExt cx="1890" cy="975"/>
            </a:xfrm>
          </p:grpSpPr>
          <p:sp>
            <p:nvSpPr>
              <p:cNvPr id="121" name="Text 94"/>
              <p:cNvSpPr/>
              <p:nvPr/>
            </p:nvSpPr>
            <p:spPr>
              <a:xfrm>
                <a:off x="18459" y="9315"/>
                <a:ext cx="1890" cy="50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zh-CN" altLang="en-US" sz="1400" b="1" dirty="0">
                    <a:solidFill>
                      <a:srgbClr val="0E4CBA"/>
                    </a:solidFill>
                    <a:latin typeface="Times New Roman" panose="02020603050405020304" charset="0"/>
                    <a:ea typeface="微软雅黑" panose="020B0503020204020204" charset="-122"/>
                  </a:rPr>
                  <a:t>持续优化</a:t>
                </a:r>
              </a:p>
            </p:txBody>
          </p:sp>
          <p:sp>
            <p:nvSpPr>
              <p:cNvPr id="122" name="Text 95"/>
              <p:cNvSpPr/>
              <p:nvPr/>
            </p:nvSpPr>
            <p:spPr>
              <a:xfrm>
                <a:off x="18459" y="9718"/>
                <a:ext cx="1890" cy="57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lnSpc>
                    <a:spcPct val="120000"/>
                  </a:lnSpc>
                  <a:buNone/>
                </a:pPr>
                <a:r>
                  <a:rPr lang="zh-CN" altLang="en-US" sz="1400" dirty="0">
                    <a:solidFill>
                      <a:schemeClr val="accent6">
                        <a:lumMod val="50000"/>
                      </a:schemeClr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学习优化体验</a:t>
                </a:r>
              </a:p>
            </p:txBody>
          </p:sp>
        </p:grpSp>
      </p:grpSp>
      <p:sp>
        <p:nvSpPr>
          <p:cNvPr id="191" name="Down Arrow 89"/>
          <p:cNvSpPr/>
          <p:nvPr/>
        </p:nvSpPr>
        <p:spPr>
          <a:xfrm rot="16200000">
            <a:off x="1372235" y="6181725"/>
            <a:ext cx="204470" cy="191135"/>
          </a:xfrm>
          <a:prstGeom prst="downArrow">
            <a:avLst/>
          </a:prstGeom>
          <a:solidFill>
            <a:srgbClr val="EFF6FF"/>
          </a:solidFill>
          <a:ln>
            <a:solidFill>
              <a:srgbClr val="0E4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75" name="Down Arrow 89"/>
          <p:cNvSpPr/>
          <p:nvPr/>
        </p:nvSpPr>
        <p:spPr>
          <a:xfrm rot="16200000">
            <a:off x="2927985" y="6181725"/>
            <a:ext cx="204470" cy="191135"/>
          </a:xfrm>
          <a:prstGeom prst="downArrow">
            <a:avLst/>
          </a:prstGeom>
          <a:solidFill>
            <a:srgbClr val="EFF6FF"/>
          </a:solidFill>
          <a:ln>
            <a:solidFill>
              <a:srgbClr val="0E4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76" name="Down Arrow 89"/>
          <p:cNvSpPr/>
          <p:nvPr/>
        </p:nvSpPr>
        <p:spPr>
          <a:xfrm rot="16200000">
            <a:off x="4439285" y="6181725"/>
            <a:ext cx="204470" cy="191135"/>
          </a:xfrm>
          <a:prstGeom prst="downArrow">
            <a:avLst/>
          </a:prstGeom>
          <a:solidFill>
            <a:srgbClr val="EFF6FF"/>
          </a:solidFill>
          <a:ln>
            <a:solidFill>
              <a:srgbClr val="0E4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77" name="Down Arrow 89"/>
          <p:cNvSpPr/>
          <p:nvPr/>
        </p:nvSpPr>
        <p:spPr>
          <a:xfrm rot="16200000">
            <a:off x="5950585" y="6181725"/>
            <a:ext cx="204470" cy="191135"/>
          </a:xfrm>
          <a:prstGeom prst="downArrow">
            <a:avLst/>
          </a:prstGeom>
          <a:solidFill>
            <a:srgbClr val="EFF6FF"/>
          </a:solidFill>
          <a:ln>
            <a:solidFill>
              <a:srgbClr val="0E4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78" name="Down Arrow 89"/>
          <p:cNvSpPr/>
          <p:nvPr/>
        </p:nvSpPr>
        <p:spPr>
          <a:xfrm rot="16200000">
            <a:off x="7461885" y="6181725"/>
            <a:ext cx="204470" cy="191135"/>
          </a:xfrm>
          <a:prstGeom prst="downArrow">
            <a:avLst/>
          </a:prstGeom>
          <a:solidFill>
            <a:srgbClr val="EFF6FF"/>
          </a:solidFill>
          <a:ln>
            <a:solidFill>
              <a:srgbClr val="0E4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79" name="Down Arrow 89"/>
          <p:cNvSpPr/>
          <p:nvPr/>
        </p:nvSpPr>
        <p:spPr>
          <a:xfrm rot="16200000">
            <a:off x="8980805" y="6181725"/>
            <a:ext cx="204470" cy="191135"/>
          </a:xfrm>
          <a:prstGeom prst="downArrow">
            <a:avLst/>
          </a:prstGeom>
          <a:solidFill>
            <a:srgbClr val="EFF6FF"/>
          </a:solidFill>
          <a:ln>
            <a:solidFill>
              <a:srgbClr val="0E4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80" name="Down Arrow 89"/>
          <p:cNvSpPr/>
          <p:nvPr/>
        </p:nvSpPr>
        <p:spPr>
          <a:xfrm rot="16200000">
            <a:off x="10596245" y="6181725"/>
            <a:ext cx="204470" cy="191135"/>
          </a:xfrm>
          <a:prstGeom prst="downArrow">
            <a:avLst/>
          </a:prstGeom>
          <a:solidFill>
            <a:srgbClr val="EFF6FF"/>
          </a:solidFill>
          <a:ln>
            <a:solidFill>
              <a:srgbClr val="0E4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'20px 60px 20px 60px' }}&gt;&#10;    {/* Title block */}&#10;    &lt;Box style={{ height: 80, flexDirection: 'column', justifyContent: 'center' }}&gt;&#10;        &lt;Text style={{ fontSize: 32, fontWeight: 'bold', color: '#1E3A8A' }}&gt;方向三：家庭微脑多Agent技术方案&lt;/Text&gt;&#10;        &lt;Text style={{ fontSize: 16, color: '#64748B', marginTop: 4 }}&gt;四大AI Agent协同运作，MCP协议统一调度，实现自主决策、动态调度与故障自愈&lt;/Text&gt;&#10;    &lt;/Box&gt;&#10;    {/* Content - Agent collaboration diagram */}&#10;    &lt;Box style={{ flex: 1, marginTop: 8, position: 'relative' }}&gt;&#10;        {/* Central MCP hub */}&#10;        &lt;Box style={{ alignItems: 'center', marginBottom: 16 }}&gt;&#10;            &lt;Box style={{ background: 'linear-gradient(135deg, #1E3A8A 0%, #2563EB 100%)', borderRadius: 16, padding: '16px 40px', boxShadow: '0 4px 24px rgba(30,58,138,0.2)' }}&gt;&#10;                &lt;Box style={{ flexDirection: 'row', alignItems: 'center', gap: 12 }}&gt;&#10;                    &lt;FAIcon name='project-diagram' style={{ fill: '#06B6D4', width: 28, height: 28 }} /&gt;&#10;                    &lt;Box&gt;&#10;                        &lt;Text style={{ fontSize: 20, fontWeight: 'bold', color: '#FFFFFF' }}&gt;MCP 协议统一调度总线&lt;/Text&gt;&#10;                        &lt;Text style={{ fontSize: 14, color: 'rgba(255,255,255,0.7)' }}&gt;OpenClaw龙虾AI · 大模型/路由/HA三者中间桥梁&lt;/Text&gt;&#10;                    &lt;/Box&gt;&#10;                &lt;/Box&gt;&#10;            &lt;/Box&gt;&#10;        &lt;/Box&gt;&#10;        {/* Four Agent cards */}&#10;        &lt;Box style={{ flexDirection: 'row', gap: 16 }}&gt;&#10;            {/* Agent 1 */}&#10;            &lt;Box style={{ flex: 1, background: '#EFF6FF', borderRadius: 14, padding: 20, border: '2px solid #1E3A8A', minHeight: 320 }}&gt;&#10;                &lt;Box style={{ alignItems: 'center', marginBottom: 12 }}&gt;&#10;                    &lt;Box style={{ width: 56, height: 56, borderRadius: 14, background: '#1E3A8A', justifyContent: 'center', alignItems: 'center' }}&gt;&#10;                        &lt;FAIcon name='cogs' style={{ fill: '#FFFFFF', width: 28, height: 28 }} /&gt;&#10;                    &lt;/Box&gt;&#10;                &lt;/Box&gt;&#10;                &lt;Text style={{ fontSize: 18, fontWeight: 'bold', color: '#1E3A8A', textAlign: 'center', marginBottom: 8 }}&gt;协议解析 Agent&lt;/Text&gt;&#10;                &lt;Text style={{ fontSize: 13, color: '#64748B', textAlign: 'center', marginBottom: 12 }}&gt;识别小众设备私有报文，生成Schema映射规则&lt;/Text&gt;&#10;                &lt;Box style={{ gap: 6 }}&gt;&#10;                    &lt;Box style={{ flexDirection: 'row', gap: 6, alignItems: 'center' }}&gt;&#10;                        &lt;FAIcon name='arrow-right' style={{ fill: '#94A3B8', width: 12, height: 12 }} /&gt;&#10;                        &lt;Text style={{ fontSize: 13, color: '#64748B' }}&gt;数据源：HA协议转换日志&lt;/Text&gt;&#10;                    &lt;/Box&gt;&#10;                    &lt;Box style={{ flexDirection: 'row', gap: 6, alignItems: 'center' }}&gt;&#10;                        &lt;FAIcon name='arrow-right' style={{ fill: '#94A3B8', width: 12, height: 12 }} /&gt;&#10;                        &lt;Text style={{ fontSize: 13, color: '#64748B' }}&gt;输出：修复字段缺失/单位报错&lt;/Text&gt;&#10;                    &lt;/Box&gt;&#10;                    &lt;Box style={{ flexDirection: 'row', gap: 6, alignItems: 'center' }}&gt;&#10;                        &lt;FAIcon name='arrow-right' style={{ fill: '#94A3B8', width: 12, height: 12 }} /&gt;&#10;                        &lt;Text style={{ fontSize: 13, color: '#64748B' }}&gt;自动生成临时适配规则&lt;/Text&gt;&#10;                    &lt;/Box&gt;&#10;                &lt;/Box&gt;&#10;            &lt;/Box&gt;&#10;            {/* Agent 2 */}&#10;            &lt;Box style={{ flex: 1, background: '#ECFEFF', borderRadius: 14, padding: 20, border: '2px solid #06B6D4', minHeight: 320 }}&gt;&#10;                &lt;Box style={{ alignItems: 'center', marginBottom: 12 }}&gt;&#10;                    &lt;Box style={{ width: 56, height: 56, borderRadius: 14, background: '#06B6D4', justifyContent: 'center', alignItems: 'center' }}&gt;&#10;                        &lt;FAIcon name='wifi' style={{ fill: '#FFFFFF', width: 28, height: 28 }} /&gt;&#10;                    &lt;/Box&gt;&#10;                &lt;/Box&gt;&#10;                &lt;Text style={{ fontSize: 18, fontWeight: 'bold', color: '#06B6D4', textAlign: 'center', marginBottom: 8 }}&gt;组网优化 Agent&lt;/Text&gt;&#10;                &lt;Text style={{ fontSize: 13, color: '#64748B', textAlign: 'center', marginBottom: 12 }}&gt;分析全网无线干扰/网关负载/设备信号&lt;/Text&gt;&#10;                &lt;Box style={{ gap: 6 }}&gt;&#10;                    &lt;Box style={{ flexDirection: 'row', gap: 6, alignItems: 'center' }}&gt;&#10;                        &lt;FAIcon name='arrow-right' style={{ fill: '#94A3B8', width: 12, height: 12 }} /&gt;&#10;                        &lt;Text style={{ fontSize: 13, color: '#64748B' }}&gt;数据源：飞流OS网络指标+Thread拓扑&lt;/Text&gt;&#10;                    &lt;/Box&gt;&#10;                    &lt;Box style={{ flexDirection: 'row', gap: 6, alignItems: 'center' }}&gt;&#10;                        &lt;FAIcon name='arrow-right' style={{ fill: '#94A3B8', width: 12, height: 12 }} /&gt;&#10;                        &lt;Text style={{ fontSize: 13, color: '#64748B' }}&gt;WiFi信道智能重分配&lt;/Text&gt;&#10;                    &lt;/Box&gt;&#10;                    &lt;Box style={{ flexDirection: 'row', gap: 6, alignItems: 'center' }}&gt;&#10;                        &lt;FAIcon name='arrow-right' style={{ fill: '#94A3B8', width: 12, height: 12 }} /&gt;&#10;                        &lt;Text style={{ fontSize: 13, color: '#64748B' }}&gt;Thread/Zigbee拓扑动态重构&lt;/Text&gt;&#10;                    &lt;/Box&gt;&#10;                &lt;/Box&gt;&#10;            &lt;/Box&gt;&#10;            {/* Agent 3 */}&#10;            &lt;Box style={{ flex: 1, background: '#FFF7ED', borderRadius: 14, padding: 20, border: '2px solid #F59E0B', minHeight: 320 }}&gt;&#10;                &lt;Box style={{ alignItems: 'center', marginBottom: 12 }}&gt;&#10;                    &lt;Box style={{ width: 56, height: 56, borderRadius: 14, background: '#F59E0B', justifyContent: 'center', alignItems: 'center' }}&gt;&#10;                        &lt;FAIcon name='lightbulb' style={{ fill: '#FFFFFF', width: 28, height: 28 }} /&gt;&#10;                    &lt;/Box&gt;&#10;                &lt;/Box&gt;&#10;                &lt;Text style={{ fontSize: 18, fontWeight: 'bold', color: '#F59E0B', textAlign: 'center', marginBottom: 8 }}&gt;场景规划 Agent&lt;/Text&gt;&#10;                &lt;Box style={{ background: '#F59E0B', borderRadius: 4, padding: '2px 10px', alignSelf: 'center', marginBottom: 8 }}&gt;&#10;                    &lt;Text style={{ fontSize: 12, color: '#FFFFFF', fontWeight: 600 }}&gt;核心Agent&lt;/Text&gt;&#10;                &lt;/Box&gt;&#10;                &lt;Text style={{ fontSize: 13, color: '#64748B', textAlign: 'center', marginBottom: 12 }}&gt;解析模糊自然语言，自主生成多设备联动计划&lt;/Text&gt;&#10;                &lt;Box style={{ gap: 6 }}&gt;&#10;                    &lt;Box style={{ flexDirection: 'row', gap: 6, alignItems: 'center' }}&gt;&#10;                        &lt;FAIcon name='arrow-right' style={{ fill: '#94A3B8', width: 12, height: 12 }} /&gt;&#10;                        &lt;Text style={{ fontSize: 13, color: '#64748B' }}&gt;数据源：语音/微信指令+时序数据&lt;/Text&gt;&#10;                    &lt;/Box&gt;&#10;                    &lt;Box style={{ flexDirection: 'row', gap: 6, alignItems: 'center' }}&gt;&#10;                        &lt;FAIcon name='arrow-right' style={{ fill: '#94A3B8', width: 12, height: 12 }} /&gt;&#10;                        &lt;Text style={{ fontSize: 13, color: '#64748B' }}&gt;跨协议下发灯光/空调/窗帘控制&lt;/Text&gt;&#10;                    &lt;/Box&gt;&#10;                    &lt;Box style={{ flexDirection: 'row', gap: 6, alignItems: 'center' }}&gt;&#10;                        &lt;FAIcon name='arrow-right' style={{ fill: '#94A3B8', width: 12, height: 12 }} /&gt;&#10;                        &lt;Text style={{ fontSize: 13, color: '#64748B' }}&gt;AI自动记忆参数复用&lt;/Text&gt;&#10;                    &lt;/Box&gt;&#10;                &lt;/Box&gt;&#10;            &lt;/Box&gt;&#10;            {/* Agent 4 */}&#10;            &lt;Box style={{ flex: 1, background: '#F0FDF4', borderRadius: 14, padding: 20, border: '2px solid #10B981', minHeight: 320 }}&gt;&#10;                &lt;Box style={{ alignItems: 'center', marginBottom: 12 }}&gt;&#10;                    &lt;Box style={{ width: 56, height: 56, borderRadius: 14, background: '#10B981', justifyContent: 'center', alignItems: 'center' }}&gt;&#10;                        &lt;FAIcon name='stethoscope' style={{ fill: '#FFFFFF', width: 28, height: 28 }} /&gt;&#10;                    &lt;/Box&gt;&#10;                &lt;/Box&gt;&#10;                &lt;Text style={{ fontSize: 18, fontWeight: 'bold', color: '#10B981', textAlign: 'center', marginBottom: 8 }}&gt;故障诊断 Agent&lt;/Text&gt;&#10;                &lt;Text style={{ fontSize: 13, color: '#64748B', textAlign: 'center', marginBottom: 12 }}&gt;实时采集协议/网络/容器日志，定位故障根因&lt;/Text&gt;&#10;                &lt;Box style={{ gap: 6 }}&gt;&#10;                    &lt;Box style={{ flexDirection: 'row', gap: 6, alignItems: 'center' }}&gt;&#10;                        &lt;FAIcon name='arrow-right' style={{ fill: '#94A3B8', width: 12, height: 12 }} /&gt;&#10;                        &lt;Text style={{ fontSize: 13, color: '#64748B' }}&gt;数据源：HA日志+MQTT状态+路由日志&lt;/Text&gt;&#10;                    &lt;/Box&gt;&#10;                    &lt;Box style={{ flexDirection: 'row', gap: 6, alignItems: 'center' }}&gt;&#10;                        &lt;FAIcon name='arrow-right' style={{ fill: '#94A3B8', width: 12, height: 12 }} /&gt;&#10;                        &lt;Text style={{ fontSize: 13, color: '#64748B' }}&gt;推送可视化修复建议至HA面板&lt;/Text&gt;&#10;                    &lt;/Box&gt;&#10;                    &lt;Box style={{ flexDirection: 'row', gap: 6, alignItems: 'center' }}&gt;&#10;                        &lt;FAIcon name='arrow-right' style={{ fill: '#94A3B8', width: 12, height: 12 }} /&gt;&#10;                        &lt;Text style={{ fontSize: 13, color: '#64748B' }}&gt;自动生成修复指令下发重连&lt;/Text&gt;&#10;                    &lt;/Box&gt;&#10;                &lt;/Box&gt;&#10;            &lt;/Box&gt;&#10;        &lt;/Box&gt;&#10;        {/* Bottom - Memory system */}&#10;        &lt;Box style={{ marginTop: 16, background: '#F8FAFC', borderRadius: 10, padding: 14, border: '1px solid #E2E8F0', flexDirection: 'row', alignItems: 'center', gap: 16 }}&gt;&#10;            &lt;FAIcon name='memory' style={{ fill: '#64748B', width: 24, height: 24 }} /&gt;&#10;            &lt;Text style={{ fontSize: 15, color: '#64748B', flex: 1 }}&gt;&#10;                &lt;span style={{ fontWeight: 'bold', color: '#1E3A8A' }}&gt;记忆系统支撑&lt;/span&gt;：OpenClaw文档式记忆(Markdown+SQLite混合索引) / Cognee知识图谱(实体关联推理) · 短期会话+长期偏好+IoT联动记忆 · 多成员隔离&#10;            &lt;/Text&gt;&#10;        &lt;/Box&gt;&#10;    &lt;/Box&gt;&#10;    {/* Footer */}&#10;    &lt;Box style={{ height: 40, flexDirection: 'row', justifyContent: 'space-between', alignItems: 'center', borderTop: '1px solid #E2E8F0', paddingTop: 8 }}&gt;&#10;        &lt;Text style={{ fontSize: 14, color: '#94A3B8' }}&gt;家庭微脑技术方案&lt;/Text&gt;&#10;        &lt;Text style={{ fontSize: 14, color: '#94A3B8' }}&gt;07 / 13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Box 1"/>
          <p:cNvSpPr txBox="1"/>
          <p:nvPr/>
        </p:nvSpPr>
        <p:spPr>
          <a:xfrm>
            <a:off x="172720" y="140970"/>
            <a:ext cx="4603115" cy="460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zh-CN" altLang="en-US" sz="2400" b="1">
                <a:solidFill>
                  <a:srgbClr val="063591"/>
                </a:solidFill>
                <a:latin typeface="Times New Roman" panose="02020603050405020304" charset="0"/>
                <a:ea typeface="微软雅黑" panose="020B0503020204020204" charset="-122"/>
              </a:rPr>
              <a:t>六大</a:t>
            </a:r>
            <a:r>
              <a:rPr lang="en-US" altLang="zh-CN" sz="2400" b="1">
                <a:solidFill>
                  <a:srgbClr val="063591"/>
                </a:solidFill>
                <a:latin typeface="Times New Roman" panose="02020603050405020304" charset="0"/>
                <a:ea typeface="微软雅黑" panose="020B0503020204020204" charset="-122"/>
              </a:rPr>
              <a:t> Agent </a:t>
            </a:r>
            <a:r>
              <a:rPr lang="zh-CN" altLang="en-US" sz="2400" b="1">
                <a:solidFill>
                  <a:srgbClr val="063591"/>
                </a:solidFill>
                <a:latin typeface="Times New Roman" panose="02020603050405020304" charset="0"/>
                <a:ea typeface="微软雅黑" panose="020B0503020204020204" charset="-122"/>
              </a:rPr>
              <a:t>覆盖家庭核心服务域</a:t>
            </a:r>
          </a:p>
        </p:txBody>
      </p:sp>
      <p:sp>
        <p:nvSpPr>
          <p:cNvPr id="104" name="TextBox 2"/>
          <p:cNvSpPr txBox="1"/>
          <p:nvPr/>
        </p:nvSpPr>
        <p:spPr>
          <a:xfrm>
            <a:off x="172720" y="601345"/>
            <a:ext cx="6819900" cy="3067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zh-CN" altLang="en-US" sz="1400" b="0">
                <a:solidFill>
                  <a:srgbClr val="06359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从设备连接扩展到安全、健康、能源、生活与运维，形成可持续运营的家庭智能服务</a:t>
            </a:r>
          </a:p>
        </p:txBody>
      </p:sp>
      <p:sp>
        <p:nvSpPr>
          <p:cNvPr id="8" name="Shape 3"/>
          <p:cNvSpPr/>
          <p:nvPr/>
        </p:nvSpPr>
        <p:spPr>
          <a:xfrm>
            <a:off x="548640" y="969736"/>
            <a:ext cx="3566160" cy="25146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4"/>
          <p:cNvSpPr/>
          <p:nvPr/>
        </p:nvSpPr>
        <p:spPr>
          <a:xfrm>
            <a:off x="548640" y="969736"/>
            <a:ext cx="54864" cy="2514600"/>
          </a:xfrm>
          <a:prstGeom prst="rect">
            <a:avLst/>
          </a:prstGeom>
          <a:solidFill>
            <a:srgbClr val="0891B2"/>
          </a:solidFill>
        </p:spPr>
      </p:sp>
      <p:grpSp>
        <p:nvGrpSpPr>
          <p:cNvPr id="91" name="组合 90"/>
          <p:cNvGrpSpPr/>
          <p:nvPr/>
        </p:nvGrpSpPr>
        <p:grpSpPr>
          <a:xfrm>
            <a:off x="1371600" y="1143318"/>
            <a:ext cx="2560320" cy="475615"/>
            <a:chOff x="2160" y="1743"/>
            <a:chExt cx="4032" cy="749"/>
          </a:xfrm>
        </p:grpSpPr>
        <p:sp>
          <p:nvSpPr>
            <p:cNvPr id="12" name="Text 7"/>
            <p:cNvSpPr/>
            <p:nvPr/>
          </p:nvSpPr>
          <p:spPr>
            <a:xfrm>
              <a:off x="2160" y="1743"/>
              <a:ext cx="4032" cy="43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E293B"/>
                  </a:solidFill>
                  <a:latin typeface="Times New Roman" panose="02020603050405020304" charset="0"/>
                  <a:ea typeface="微软雅黑" panose="020B0503020204020204" charset="-122"/>
                </a:rPr>
                <a:t>设备管家</a:t>
              </a:r>
            </a:p>
          </p:txBody>
        </p:sp>
        <p:sp>
          <p:nvSpPr>
            <p:cNvPr id="13" name="Text 8"/>
            <p:cNvSpPr/>
            <p:nvPr/>
          </p:nvSpPr>
          <p:spPr>
            <a:xfrm>
              <a:off x="2160" y="2132"/>
              <a:ext cx="4032" cy="36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891B2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Device Steward</a:t>
              </a:r>
            </a:p>
          </p:txBody>
        </p:sp>
      </p:grpSp>
      <p:sp>
        <p:nvSpPr>
          <p:cNvPr id="14" name="Shape 9"/>
          <p:cNvSpPr/>
          <p:nvPr/>
        </p:nvSpPr>
        <p:spPr>
          <a:xfrm>
            <a:off x="731520" y="1856704"/>
            <a:ext cx="73152" cy="73152"/>
          </a:xfrm>
          <a:prstGeom prst="ellipse">
            <a:avLst/>
          </a:prstGeom>
          <a:solidFill>
            <a:srgbClr val="0891B2"/>
          </a:solidFill>
        </p:spPr>
      </p:sp>
      <p:sp>
        <p:nvSpPr>
          <p:cNvPr id="15" name="Text 10"/>
          <p:cNvSpPr/>
          <p:nvPr/>
        </p:nvSpPr>
        <p:spPr>
          <a:xfrm>
            <a:off x="868680" y="1746976"/>
            <a:ext cx="3063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设备状态全量感知（在线/开关/电量）</a:t>
            </a:r>
          </a:p>
        </p:txBody>
      </p:sp>
      <p:sp>
        <p:nvSpPr>
          <p:cNvPr id="16" name="Shape 11"/>
          <p:cNvSpPr/>
          <p:nvPr/>
        </p:nvSpPr>
        <p:spPr>
          <a:xfrm>
            <a:off x="731520" y="2204176"/>
            <a:ext cx="73152" cy="73152"/>
          </a:xfrm>
          <a:prstGeom prst="ellipse">
            <a:avLst/>
          </a:prstGeom>
          <a:solidFill>
            <a:srgbClr val="0891B2"/>
          </a:solidFill>
        </p:spPr>
      </p:sp>
      <p:sp>
        <p:nvSpPr>
          <p:cNvPr id="17" name="Text 12"/>
          <p:cNvSpPr/>
          <p:nvPr/>
        </p:nvSpPr>
        <p:spPr>
          <a:xfrm>
            <a:off x="868680" y="2094448"/>
            <a:ext cx="3063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603050405020304" charset="0"/>
                <a:ea typeface="微软雅黑" panose="020B0503020204020204" charset="-122"/>
              </a:rPr>
              <a:t>结合用户习惯执行智能控制</a:t>
            </a:r>
          </a:p>
        </p:txBody>
      </p:sp>
      <p:sp>
        <p:nvSpPr>
          <p:cNvPr id="18" name="Shape 13"/>
          <p:cNvSpPr/>
          <p:nvPr/>
        </p:nvSpPr>
        <p:spPr>
          <a:xfrm>
            <a:off x="731520" y="2551648"/>
            <a:ext cx="73152" cy="73152"/>
          </a:xfrm>
          <a:prstGeom prst="ellipse">
            <a:avLst/>
          </a:prstGeom>
          <a:solidFill>
            <a:srgbClr val="0891B2"/>
          </a:solidFill>
        </p:spPr>
      </p:sp>
      <p:sp>
        <p:nvSpPr>
          <p:cNvPr id="19" name="Text 14"/>
          <p:cNvSpPr/>
          <p:nvPr/>
        </p:nvSpPr>
        <p:spPr>
          <a:xfrm>
            <a:off x="868680" y="2441920"/>
            <a:ext cx="3063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603050405020304" charset="0"/>
                <a:ea typeface="微软雅黑" panose="020B0503020204020204" charset="-122"/>
              </a:rPr>
              <a:t>自然语言指令解析与多设备联动</a:t>
            </a:r>
          </a:p>
        </p:txBody>
      </p:sp>
      <p:sp>
        <p:nvSpPr>
          <p:cNvPr id="20" name="Shape 15"/>
          <p:cNvSpPr/>
          <p:nvPr/>
        </p:nvSpPr>
        <p:spPr>
          <a:xfrm>
            <a:off x="731520" y="2798536"/>
            <a:ext cx="3200400" cy="182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1" name="Text 16"/>
          <p:cNvSpPr/>
          <p:nvPr/>
        </p:nvSpPr>
        <p:spPr>
          <a:xfrm>
            <a:off x="731520" y="2885404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MCP</a:t>
            </a:r>
          </a:p>
        </p:txBody>
      </p:sp>
      <p:sp>
        <p:nvSpPr>
          <p:cNvPr id="22" name="Text 17"/>
          <p:cNvSpPr/>
          <p:nvPr/>
        </p:nvSpPr>
        <p:spPr>
          <a:xfrm>
            <a:off x="1188720" y="2862544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Resources: 设备状态  |  Tools: light, climate, curtain, lock</a:t>
            </a:r>
          </a:p>
        </p:txBody>
      </p:sp>
      <p:sp>
        <p:nvSpPr>
          <p:cNvPr id="23" name="Text 18"/>
          <p:cNvSpPr/>
          <p:nvPr/>
        </p:nvSpPr>
        <p:spPr>
          <a:xfrm>
            <a:off x="731520" y="3212556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Times New Roman" panose="02020603050405020304" charset="0"/>
                <a:ea typeface="微软雅黑" panose="020B0503020204020204" charset="-122"/>
              </a:rPr>
              <a:t>协议</a:t>
            </a:r>
          </a:p>
        </p:txBody>
      </p:sp>
      <p:sp>
        <p:nvSpPr>
          <p:cNvPr id="24" name="Text 19"/>
          <p:cNvSpPr/>
          <p:nvPr/>
        </p:nvSpPr>
        <p:spPr>
          <a:xfrm>
            <a:off x="1188720" y="3189696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Matter · Zigbee · Wi-Fi · cuLink</a:t>
            </a:r>
          </a:p>
        </p:txBody>
      </p:sp>
      <p:sp>
        <p:nvSpPr>
          <p:cNvPr id="25" name="Shape 20"/>
          <p:cNvSpPr/>
          <p:nvPr/>
        </p:nvSpPr>
        <p:spPr>
          <a:xfrm>
            <a:off x="4251960" y="969736"/>
            <a:ext cx="3566160" cy="25146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4251960" y="969736"/>
            <a:ext cx="54864" cy="2514600"/>
          </a:xfrm>
          <a:prstGeom prst="rect">
            <a:avLst/>
          </a:prstGeom>
          <a:solidFill>
            <a:srgbClr val="F96167"/>
          </a:solidFill>
        </p:spPr>
      </p:sp>
      <p:grpSp>
        <p:nvGrpSpPr>
          <p:cNvPr id="92" name="组合 91"/>
          <p:cNvGrpSpPr/>
          <p:nvPr/>
        </p:nvGrpSpPr>
        <p:grpSpPr>
          <a:xfrm>
            <a:off x="5074920" y="1143318"/>
            <a:ext cx="2560320" cy="475615"/>
            <a:chOff x="7992" y="1743"/>
            <a:chExt cx="4032" cy="749"/>
          </a:xfrm>
        </p:grpSpPr>
        <p:sp>
          <p:nvSpPr>
            <p:cNvPr id="29" name="Text 24"/>
            <p:cNvSpPr/>
            <p:nvPr/>
          </p:nvSpPr>
          <p:spPr>
            <a:xfrm>
              <a:off x="7992" y="1743"/>
              <a:ext cx="4032" cy="43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E293B"/>
                  </a:solidFill>
                  <a:latin typeface="Times New Roman" panose="02020603050405020304" charset="0"/>
                  <a:ea typeface="微软雅黑" panose="020B0503020204020204" charset="-122"/>
                </a:rPr>
                <a:t>安全守护</a:t>
              </a:r>
            </a:p>
          </p:txBody>
        </p:sp>
        <p:sp>
          <p:nvSpPr>
            <p:cNvPr id="30" name="Text 25"/>
            <p:cNvSpPr/>
            <p:nvPr/>
          </p:nvSpPr>
          <p:spPr>
            <a:xfrm>
              <a:off x="7992" y="2132"/>
              <a:ext cx="4032" cy="36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F96167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Security Guardian</a:t>
              </a:r>
            </a:p>
          </p:txBody>
        </p:sp>
      </p:grpSp>
      <p:sp>
        <p:nvSpPr>
          <p:cNvPr id="31" name="Shape 26"/>
          <p:cNvSpPr/>
          <p:nvPr/>
        </p:nvSpPr>
        <p:spPr>
          <a:xfrm>
            <a:off x="4434840" y="1856704"/>
            <a:ext cx="73152" cy="73152"/>
          </a:xfrm>
          <a:prstGeom prst="ellipse">
            <a:avLst/>
          </a:prstGeom>
          <a:solidFill>
            <a:srgbClr val="F96167"/>
          </a:solidFill>
        </p:spPr>
      </p:sp>
      <p:sp>
        <p:nvSpPr>
          <p:cNvPr id="32" name="Text 27"/>
          <p:cNvSpPr/>
          <p:nvPr/>
        </p:nvSpPr>
        <p:spPr>
          <a:xfrm>
            <a:off x="4572000" y="1746976"/>
            <a:ext cx="3063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7×24视频巡检，AI识别入侵/跨栏/包裹</a:t>
            </a:r>
          </a:p>
        </p:txBody>
      </p:sp>
      <p:sp>
        <p:nvSpPr>
          <p:cNvPr id="33" name="Shape 28"/>
          <p:cNvSpPr/>
          <p:nvPr/>
        </p:nvSpPr>
        <p:spPr>
          <a:xfrm>
            <a:off x="4434840" y="2204176"/>
            <a:ext cx="73152" cy="73152"/>
          </a:xfrm>
          <a:prstGeom prst="ellipse">
            <a:avLst/>
          </a:prstGeom>
          <a:solidFill>
            <a:srgbClr val="F96167"/>
          </a:solidFill>
        </p:spPr>
      </p:sp>
      <p:sp>
        <p:nvSpPr>
          <p:cNvPr id="34" name="Text 29"/>
          <p:cNvSpPr/>
          <p:nvPr/>
        </p:nvSpPr>
        <p:spPr>
          <a:xfrm>
            <a:off x="4572000" y="2094448"/>
            <a:ext cx="3063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603050405020304" charset="0"/>
                <a:ea typeface="微软雅黑" panose="020B0503020204020204" charset="-122"/>
              </a:rPr>
              <a:t>跌倒检测（毫米波雷达），老人守护</a:t>
            </a:r>
          </a:p>
        </p:txBody>
      </p:sp>
      <p:sp>
        <p:nvSpPr>
          <p:cNvPr id="35" name="Shape 30"/>
          <p:cNvSpPr/>
          <p:nvPr/>
        </p:nvSpPr>
        <p:spPr>
          <a:xfrm>
            <a:off x="4434840" y="2551648"/>
            <a:ext cx="73152" cy="73152"/>
          </a:xfrm>
          <a:prstGeom prst="ellipse">
            <a:avLst/>
          </a:prstGeom>
          <a:solidFill>
            <a:srgbClr val="F96167"/>
          </a:solidFill>
        </p:spPr>
      </p:sp>
      <p:sp>
        <p:nvSpPr>
          <p:cNvPr id="36" name="Text 31"/>
          <p:cNvSpPr/>
          <p:nvPr/>
        </p:nvSpPr>
        <p:spPr>
          <a:xfrm>
            <a:off x="4572000" y="2441920"/>
            <a:ext cx="3063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603050405020304" charset="0"/>
                <a:ea typeface="微软雅黑" panose="020B0503020204020204" charset="-122"/>
              </a:rPr>
              <a:t>紧急呼叫与多渠道推送</a:t>
            </a:r>
          </a:p>
        </p:txBody>
      </p:sp>
      <p:sp>
        <p:nvSpPr>
          <p:cNvPr id="37" name="Shape 32"/>
          <p:cNvSpPr/>
          <p:nvPr/>
        </p:nvSpPr>
        <p:spPr>
          <a:xfrm>
            <a:off x="4434840" y="2798536"/>
            <a:ext cx="3200400" cy="182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8" name="Text 33"/>
          <p:cNvSpPr/>
          <p:nvPr/>
        </p:nvSpPr>
        <p:spPr>
          <a:xfrm>
            <a:off x="4434840" y="2885404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MCP</a:t>
            </a:r>
          </a:p>
        </p:txBody>
      </p:sp>
      <p:sp>
        <p:nvSpPr>
          <p:cNvPr id="39" name="Text 34"/>
          <p:cNvSpPr/>
          <p:nvPr/>
        </p:nvSpPr>
        <p:spPr>
          <a:xfrm>
            <a:off x="4892040" y="2862544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Resources: 摄像头/传感器  |  Tools: camera.arm, siren, notify</a:t>
            </a:r>
          </a:p>
        </p:txBody>
      </p:sp>
      <p:sp>
        <p:nvSpPr>
          <p:cNvPr id="40" name="Text 35"/>
          <p:cNvSpPr/>
          <p:nvPr/>
        </p:nvSpPr>
        <p:spPr>
          <a:xfrm>
            <a:off x="4434840" y="3212556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Times New Roman" panose="02020603050405020304" charset="0"/>
                <a:ea typeface="微软雅黑" panose="020B0503020204020204" charset="-122"/>
              </a:rPr>
              <a:t>协议</a:t>
            </a:r>
          </a:p>
        </p:txBody>
      </p:sp>
      <p:sp>
        <p:nvSpPr>
          <p:cNvPr id="41" name="Text 36"/>
          <p:cNvSpPr/>
          <p:nvPr/>
        </p:nvSpPr>
        <p:spPr>
          <a:xfrm>
            <a:off x="4892040" y="3189696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6167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摄像头 · 门磁 · PIR · 毫米波雷达</a:t>
            </a:r>
          </a:p>
        </p:txBody>
      </p:sp>
      <p:sp>
        <p:nvSpPr>
          <p:cNvPr id="42" name="Shape 37"/>
          <p:cNvSpPr/>
          <p:nvPr/>
        </p:nvSpPr>
        <p:spPr>
          <a:xfrm>
            <a:off x="7955280" y="969736"/>
            <a:ext cx="3566160" cy="25146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Shape 38"/>
          <p:cNvSpPr/>
          <p:nvPr/>
        </p:nvSpPr>
        <p:spPr>
          <a:xfrm>
            <a:off x="7955280" y="969736"/>
            <a:ext cx="54864" cy="2514600"/>
          </a:xfrm>
          <a:prstGeom prst="rect">
            <a:avLst/>
          </a:prstGeom>
          <a:solidFill>
            <a:srgbClr val="7C3AED"/>
          </a:solidFill>
        </p:spPr>
      </p:sp>
      <p:grpSp>
        <p:nvGrpSpPr>
          <p:cNvPr id="93" name="组合 92"/>
          <p:cNvGrpSpPr/>
          <p:nvPr/>
        </p:nvGrpSpPr>
        <p:grpSpPr>
          <a:xfrm>
            <a:off x="8778240" y="1143318"/>
            <a:ext cx="2560320" cy="475615"/>
            <a:chOff x="13824" y="1743"/>
            <a:chExt cx="4032" cy="749"/>
          </a:xfrm>
        </p:grpSpPr>
        <p:sp>
          <p:nvSpPr>
            <p:cNvPr id="46" name="Text 41"/>
            <p:cNvSpPr/>
            <p:nvPr/>
          </p:nvSpPr>
          <p:spPr>
            <a:xfrm>
              <a:off x="13824" y="1743"/>
              <a:ext cx="4032" cy="43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E293B"/>
                  </a:solidFill>
                  <a:latin typeface="Times New Roman" panose="02020603050405020304" charset="0"/>
                  <a:ea typeface="微软雅黑" panose="020B0503020204020204" charset="-122"/>
                </a:rPr>
                <a:t>健康教练</a:t>
              </a:r>
            </a:p>
          </p:txBody>
        </p:sp>
        <p:sp>
          <p:nvSpPr>
            <p:cNvPr id="47" name="Text 42"/>
            <p:cNvSpPr/>
            <p:nvPr/>
          </p:nvSpPr>
          <p:spPr>
            <a:xfrm>
              <a:off x="13824" y="2132"/>
              <a:ext cx="4032" cy="36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7C3AED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Health Coach</a:t>
              </a:r>
            </a:p>
          </p:txBody>
        </p:sp>
      </p:grpSp>
      <p:sp>
        <p:nvSpPr>
          <p:cNvPr id="48" name="Shape 43"/>
          <p:cNvSpPr/>
          <p:nvPr/>
        </p:nvSpPr>
        <p:spPr>
          <a:xfrm>
            <a:off x="8138160" y="1856704"/>
            <a:ext cx="73152" cy="73152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49" name="Text 44"/>
          <p:cNvSpPr/>
          <p:nvPr/>
        </p:nvSpPr>
        <p:spPr>
          <a:xfrm>
            <a:off x="8275320" y="1746976"/>
            <a:ext cx="3063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睡眠监测：心率/呼吸率/体动识别</a:t>
            </a:r>
          </a:p>
        </p:txBody>
      </p:sp>
      <p:sp>
        <p:nvSpPr>
          <p:cNvPr id="50" name="Shape 45"/>
          <p:cNvSpPr/>
          <p:nvPr/>
        </p:nvSpPr>
        <p:spPr>
          <a:xfrm>
            <a:off x="8138160" y="2204176"/>
            <a:ext cx="73152" cy="73152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51" name="Text 46"/>
          <p:cNvSpPr/>
          <p:nvPr/>
        </p:nvSpPr>
        <p:spPr>
          <a:xfrm>
            <a:off x="8275320" y="2094448"/>
            <a:ext cx="3063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603050405020304" charset="0"/>
                <a:ea typeface="微软雅黑" panose="020B0503020204020204" charset="-122"/>
              </a:rPr>
              <a:t>睡眠质量评分与改善建议</a:t>
            </a:r>
          </a:p>
        </p:txBody>
      </p:sp>
      <p:sp>
        <p:nvSpPr>
          <p:cNvPr id="52" name="Shape 47"/>
          <p:cNvSpPr/>
          <p:nvPr/>
        </p:nvSpPr>
        <p:spPr>
          <a:xfrm>
            <a:off x="8138160" y="2551648"/>
            <a:ext cx="73152" cy="73152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53" name="Text 48"/>
          <p:cNvSpPr/>
          <p:nvPr/>
        </p:nvSpPr>
        <p:spPr>
          <a:xfrm>
            <a:off x="8275320" y="2441920"/>
            <a:ext cx="3063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603050405020304" charset="0"/>
                <a:ea typeface="微软雅黑" panose="020B0503020204020204" charset="-122"/>
              </a:rPr>
              <a:t>卡路里识别与饮食记录分析</a:t>
            </a:r>
          </a:p>
        </p:txBody>
      </p:sp>
      <p:sp>
        <p:nvSpPr>
          <p:cNvPr id="54" name="Shape 49"/>
          <p:cNvSpPr/>
          <p:nvPr/>
        </p:nvSpPr>
        <p:spPr>
          <a:xfrm>
            <a:off x="8138160" y="2798536"/>
            <a:ext cx="3200400" cy="182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5" name="Text 50"/>
          <p:cNvSpPr/>
          <p:nvPr/>
        </p:nvSpPr>
        <p:spPr>
          <a:xfrm>
            <a:off x="8138160" y="2885404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MCP</a:t>
            </a:r>
          </a:p>
        </p:txBody>
      </p:sp>
      <p:sp>
        <p:nvSpPr>
          <p:cNvPr id="56" name="Text 51"/>
          <p:cNvSpPr/>
          <p:nvPr/>
        </p:nvSpPr>
        <p:spPr>
          <a:xfrm>
            <a:off x="8595360" y="2862544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Resources: radar.sleep_data, heart_rate  |  Tools: report.generate</a:t>
            </a:r>
          </a:p>
        </p:txBody>
      </p:sp>
      <p:sp>
        <p:nvSpPr>
          <p:cNvPr id="57" name="Text 52"/>
          <p:cNvSpPr/>
          <p:nvPr/>
        </p:nvSpPr>
        <p:spPr>
          <a:xfrm>
            <a:off x="8138160" y="3212556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Times New Roman" panose="02020603050405020304" charset="0"/>
                <a:ea typeface="微软雅黑" panose="020B0503020204020204" charset="-122"/>
              </a:rPr>
              <a:t>协议</a:t>
            </a:r>
          </a:p>
        </p:txBody>
      </p:sp>
      <p:sp>
        <p:nvSpPr>
          <p:cNvPr id="58" name="Text 53"/>
          <p:cNvSpPr/>
          <p:nvPr/>
        </p:nvSpPr>
        <p:spPr>
          <a:xfrm>
            <a:off x="8595360" y="3189696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毫米波雷达 · 穿戴设备 · 体重秤</a:t>
            </a:r>
          </a:p>
        </p:txBody>
      </p:sp>
      <p:sp>
        <p:nvSpPr>
          <p:cNvPr id="59" name="Shape 54"/>
          <p:cNvSpPr/>
          <p:nvPr/>
        </p:nvSpPr>
        <p:spPr>
          <a:xfrm>
            <a:off x="548640" y="3621496"/>
            <a:ext cx="3566160" cy="25146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0" name="Shape 55"/>
          <p:cNvSpPr/>
          <p:nvPr/>
        </p:nvSpPr>
        <p:spPr>
          <a:xfrm>
            <a:off x="548640" y="3621496"/>
            <a:ext cx="54864" cy="2514600"/>
          </a:xfrm>
          <a:prstGeom prst="rect">
            <a:avLst/>
          </a:prstGeom>
          <a:solidFill>
            <a:srgbClr val="F59E0B"/>
          </a:solidFill>
        </p:spPr>
      </p:sp>
      <p:grpSp>
        <p:nvGrpSpPr>
          <p:cNvPr id="107" name="组合 106"/>
          <p:cNvGrpSpPr/>
          <p:nvPr/>
        </p:nvGrpSpPr>
        <p:grpSpPr>
          <a:xfrm>
            <a:off x="1371600" y="3795078"/>
            <a:ext cx="2560320" cy="475615"/>
            <a:chOff x="2160" y="5919"/>
            <a:chExt cx="4032" cy="749"/>
          </a:xfrm>
        </p:grpSpPr>
        <p:sp>
          <p:nvSpPr>
            <p:cNvPr id="63" name="Text 58"/>
            <p:cNvSpPr/>
            <p:nvPr/>
          </p:nvSpPr>
          <p:spPr>
            <a:xfrm>
              <a:off x="2160" y="5919"/>
              <a:ext cx="4032" cy="43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E293B"/>
                  </a:solidFill>
                  <a:latin typeface="Times New Roman" panose="02020603050405020304" charset="0"/>
                  <a:ea typeface="微软雅黑" panose="020B0503020204020204" charset="-122"/>
                </a:rPr>
                <a:t>能源管家</a:t>
              </a:r>
            </a:p>
          </p:txBody>
        </p:sp>
        <p:sp>
          <p:nvSpPr>
            <p:cNvPr id="64" name="Text 59"/>
            <p:cNvSpPr/>
            <p:nvPr/>
          </p:nvSpPr>
          <p:spPr>
            <a:xfrm>
              <a:off x="2160" y="6308"/>
              <a:ext cx="4032" cy="36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F59E0B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Energy Manager</a:t>
              </a:r>
            </a:p>
          </p:txBody>
        </p:sp>
      </p:grpSp>
      <p:sp>
        <p:nvSpPr>
          <p:cNvPr id="65" name="Shape 60"/>
          <p:cNvSpPr/>
          <p:nvPr/>
        </p:nvSpPr>
        <p:spPr>
          <a:xfrm>
            <a:off x="731520" y="4508464"/>
            <a:ext cx="73152" cy="73152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66" name="Text 61"/>
          <p:cNvSpPr/>
          <p:nvPr/>
        </p:nvSpPr>
        <p:spPr>
          <a:xfrm>
            <a:off x="868680" y="4398736"/>
            <a:ext cx="3063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603050405020304" charset="0"/>
                <a:ea typeface="微软雅黑" panose="020B0503020204020204" charset="-122"/>
              </a:rPr>
              <a:t>实时功耗监控，家电全景可视化</a:t>
            </a:r>
          </a:p>
        </p:txBody>
      </p:sp>
      <p:sp>
        <p:nvSpPr>
          <p:cNvPr id="67" name="Shape 62"/>
          <p:cNvSpPr/>
          <p:nvPr/>
        </p:nvSpPr>
        <p:spPr>
          <a:xfrm>
            <a:off x="731520" y="4855936"/>
            <a:ext cx="73152" cy="73152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68" name="Text 63"/>
          <p:cNvSpPr/>
          <p:nvPr/>
        </p:nvSpPr>
        <p:spPr>
          <a:xfrm>
            <a:off x="868680" y="4746208"/>
            <a:ext cx="3063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603050405020304" charset="0"/>
                <a:ea typeface="微软雅黑" panose="020B0503020204020204" charset="-122"/>
              </a:rPr>
              <a:t>峰谷电价自动切换，低谷预热</a:t>
            </a:r>
          </a:p>
        </p:txBody>
      </p:sp>
      <p:sp>
        <p:nvSpPr>
          <p:cNvPr id="69" name="Shape 64"/>
          <p:cNvSpPr/>
          <p:nvPr/>
        </p:nvSpPr>
        <p:spPr>
          <a:xfrm>
            <a:off x="731520" y="5203408"/>
            <a:ext cx="73152" cy="73152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70" name="Text 65"/>
          <p:cNvSpPr/>
          <p:nvPr/>
        </p:nvSpPr>
        <p:spPr>
          <a:xfrm>
            <a:off x="868680" y="5093680"/>
            <a:ext cx="3063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待机断电，隐藏能耗消除，节电15-20%</a:t>
            </a:r>
          </a:p>
        </p:txBody>
      </p:sp>
      <p:sp>
        <p:nvSpPr>
          <p:cNvPr id="2" name="Shape 66"/>
          <p:cNvSpPr/>
          <p:nvPr/>
        </p:nvSpPr>
        <p:spPr>
          <a:xfrm>
            <a:off x="731520" y="5450296"/>
            <a:ext cx="3200400" cy="182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2" name="Text 67"/>
          <p:cNvSpPr/>
          <p:nvPr/>
        </p:nvSpPr>
        <p:spPr>
          <a:xfrm>
            <a:off x="731520" y="5537164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MCP</a:t>
            </a:r>
          </a:p>
        </p:txBody>
      </p:sp>
      <p:sp>
        <p:nvSpPr>
          <p:cNvPr id="73" name="Text 68"/>
          <p:cNvSpPr/>
          <p:nvPr/>
        </p:nvSpPr>
        <p:spPr>
          <a:xfrm>
            <a:off x="1188720" y="5514304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Resources: power_meter, tariff  |  Tools: plug.off, water_heater.schedule</a:t>
            </a:r>
          </a:p>
        </p:txBody>
      </p:sp>
      <p:sp>
        <p:nvSpPr>
          <p:cNvPr id="3" name="Text 69"/>
          <p:cNvSpPr/>
          <p:nvPr/>
        </p:nvSpPr>
        <p:spPr>
          <a:xfrm>
            <a:off x="731520" y="5843996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Times New Roman" panose="02020603050405020304" charset="0"/>
                <a:ea typeface="微软雅黑" panose="020B0503020204020204" charset="-122"/>
              </a:rPr>
              <a:t>协议</a:t>
            </a:r>
          </a:p>
        </p:txBody>
      </p:sp>
      <p:sp>
        <p:nvSpPr>
          <p:cNvPr id="75" name="Text 70"/>
          <p:cNvSpPr/>
          <p:nvPr/>
        </p:nvSpPr>
        <p:spPr>
          <a:xfrm>
            <a:off x="1188720" y="5821136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智能插座 · 智能电表 · 光伏面板</a:t>
            </a:r>
          </a:p>
        </p:txBody>
      </p:sp>
      <p:sp>
        <p:nvSpPr>
          <p:cNvPr id="76" name="Shape 71"/>
          <p:cNvSpPr/>
          <p:nvPr/>
        </p:nvSpPr>
        <p:spPr>
          <a:xfrm>
            <a:off x="4251960" y="3621496"/>
            <a:ext cx="3566160" cy="25146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7" name="Shape 72"/>
          <p:cNvSpPr/>
          <p:nvPr/>
        </p:nvSpPr>
        <p:spPr>
          <a:xfrm>
            <a:off x="4251960" y="3621496"/>
            <a:ext cx="54864" cy="2514600"/>
          </a:xfrm>
          <a:prstGeom prst="rect">
            <a:avLst/>
          </a:prstGeom>
          <a:solidFill>
            <a:srgbClr val="0D9488"/>
          </a:solidFill>
        </p:spPr>
      </p:sp>
      <p:grpSp>
        <p:nvGrpSpPr>
          <p:cNvPr id="106" name="组合 105"/>
          <p:cNvGrpSpPr/>
          <p:nvPr/>
        </p:nvGrpSpPr>
        <p:grpSpPr>
          <a:xfrm>
            <a:off x="5074920" y="3795078"/>
            <a:ext cx="2560320" cy="475615"/>
            <a:chOff x="7992" y="5919"/>
            <a:chExt cx="4032" cy="749"/>
          </a:xfrm>
        </p:grpSpPr>
        <p:sp>
          <p:nvSpPr>
            <p:cNvPr id="5" name="Text 75"/>
            <p:cNvSpPr/>
            <p:nvPr/>
          </p:nvSpPr>
          <p:spPr>
            <a:xfrm>
              <a:off x="7992" y="5919"/>
              <a:ext cx="4032" cy="43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E293B"/>
                  </a:solidFill>
                  <a:latin typeface="Times New Roman" panose="02020603050405020304" charset="0"/>
                  <a:ea typeface="微软雅黑" panose="020B0503020204020204" charset="-122"/>
                </a:rPr>
                <a:t>生活秘书</a:t>
              </a:r>
            </a:p>
          </p:txBody>
        </p:sp>
        <p:sp>
          <p:nvSpPr>
            <p:cNvPr id="6" name="Text 76"/>
            <p:cNvSpPr/>
            <p:nvPr/>
          </p:nvSpPr>
          <p:spPr>
            <a:xfrm>
              <a:off x="7992" y="6308"/>
              <a:ext cx="4032" cy="36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D9488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Life Secretary</a:t>
              </a:r>
            </a:p>
          </p:txBody>
        </p:sp>
      </p:grpSp>
      <p:sp>
        <p:nvSpPr>
          <p:cNvPr id="7" name="Shape 77"/>
          <p:cNvSpPr/>
          <p:nvPr/>
        </p:nvSpPr>
        <p:spPr>
          <a:xfrm>
            <a:off x="4434840" y="4508464"/>
            <a:ext cx="73152" cy="73152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84" name="Text 78"/>
          <p:cNvSpPr/>
          <p:nvPr/>
        </p:nvSpPr>
        <p:spPr>
          <a:xfrm>
            <a:off x="4572000" y="4398736"/>
            <a:ext cx="3063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603050405020304" charset="0"/>
                <a:ea typeface="微软雅黑" panose="020B0503020204020204" charset="-122"/>
              </a:rPr>
              <a:t>日程管理与提醒，个性化时间安排</a:t>
            </a:r>
          </a:p>
        </p:txBody>
      </p:sp>
      <p:sp>
        <p:nvSpPr>
          <p:cNvPr id="87" name="Shape 79"/>
          <p:cNvSpPr/>
          <p:nvPr/>
        </p:nvSpPr>
        <p:spPr>
          <a:xfrm>
            <a:off x="4434840" y="4855936"/>
            <a:ext cx="73152" cy="73152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94" name="Text 80"/>
          <p:cNvSpPr/>
          <p:nvPr/>
        </p:nvSpPr>
        <p:spPr>
          <a:xfrm>
            <a:off x="4572000" y="4746208"/>
            <a:ext cx="3063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603050405020304" charset="0"/>
                <a:ea typeface="微软雅黑" panose="020B0503020204020204" charset="-122"/>
              </a:rPr>
              <a:t>天气预报与出行建议，雨天提醒带伞</a:t>
            </a:r>
          </a:p>
        </p:txBody>
      </p:sp>
      <p:sp>
        <p:nvSpPr>
          <p:cNvPr id="95" name="Shape 81"/>
          <p:cNvSpPr/>
          <p:nvPr/>
        </p:nvSpPr>
        <p:spPr>
          <a:xfrm>
            <a:off x="4434840" y="5203408"/>
            <a:ext cx="73152" cy="73152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96" name="Text 82"/>
          <p:cNvSpPr/>
          <p:nvPr/>
        </p:nvSpPr>
        <p:spPr>
          <a:xfrm>
            <a:off x="4572000" y="5093680"/>
            <a:ext cx="3063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603050405020304" charset="0"/>
                <a:ea typeface="微软雅黑" panose="020B0503020204020204" charset="-122"/>
              </a:rPr>
              <a:t>花草宠物照护与生活服务协助</a:t>
            </a:r>
          </a:p>
        </p:txBody>
      </p:sp>
      <p:sp>
        <p:nvSpPr>
          <p:cNvPr id="97" name="Shape 83"/>
          <p:cNvSpPr/>
          <p:nvPr/>
        </p:nvSpPr>
        <p:spPr>
          <a:xfrm>
            <a:off x="4434840" y="5450296"/>
            <a:ext cx="3200400" cy="182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98" name="Text 84"/>
          <p:cNvSpPr/>
          <p:nvPr/>
        </p:nvSpPr>
        <p:spPr>
          <a:xfrm>
            <a:off x="4434840" y="5537164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MCP</a:t>
            </a:r>
          </a:p>
        </p:txBody>
      </p:sp>
      <p:sp>
        <p:nvSpPr>
          <p:cNvPr id="99" name="Text 85"/>
          <p:cNvSpPr/>
          <p:nvPr/>
        </p:nvSpPr>
        <p:spPr>
          <a:xfrm>
            <a:off x="4892040" y="5514304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Resources: calendar, weather  |  Tools: alarm.set, notify, order.place</a:t>
            </a:r>
          </a:p>
        </p:txBody>
      </p:sp>
      <p:sp>
        <p:nvSpPr>
          <p:cNvPr id="100" name="Text 86"/>
          <p:cNvSpPr/>
          <p:nvPr/>
        </p:nvSpPr>
        <p:spPr>
          <a:xfrm>
            <a:off x="4434840" y="5843996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Times New Roman" panose="02020603050405020304" charset="0"/>
                <a:ea typeface="微软雅黑" panose="020B0503020204020204" charset="-122"/>
              </a:rPr>
              <a:t>协议</a:t>
            </a:r>
          </a:p>
        </p:txBody>
      </p:sp>
      <p:sp>
        <p:nvSpPr>
          <p:cNvPr id="101" name="Text 87"/>
          <p:cNvSpPr/>
          <p:nvPr/>
        </p:nvSpPr>
        <p:spPr>
          <a:xfrm>
            <a:off x="4892040" y="5821136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HTTP REST API · 日历 API · 语音助手</a:t>
            </a:r>
          </a:p>
        </p:txBody>
      </p:sp>
      <p:sp>
        <p:nvSpPr>
          <p:cNvPr id="102" name="Shape 88"/>
          <p:cNvSpPr/>
          <p:nvPr/>
        </p:nvSpPr>
        <p:spPr>
          <a:xfrm>
            <a:off x="7955280" y="3621496"/>
            <a:ext cx="3566160" cy="25146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8" name="Shape 89"/>
          <p:cNvSpPr/>
          <p:nvPr/>
        </p:nvSpPr>
        <p:spPr>
          <a:xfrm>
            <a:off x="7955280" y="3621496"/>
            <a:ext cx="54864" cy="2514600"/>
          </a:xfrm>
          <a:prstGeom prst="rect">
            <a:avLst/>
          </a:prstGeom>
          <a:solidFill>
            <a:srgbClr val="3B82F6"/>
          </a:solidFill>
        </p:spPr>
      </p:sp>
      <p:grpSp>
        <p:nvGrpSpPr>
          <p:cNvPr id="105" name="组合 104"/>
          <p:cNvGrpSpPr/>
          <p:nvPr/>
        </p:nvGrpSpPr>
        <p:grpSpPr>
          <a:xfrm>
            <a:off x="8778240" y="3795078"/>
            <a:ext cx="2560320" cy="475615"/>
            <a:chOff x="13824" y="5919"/>
            <a:chExt cx="4032" cy="749"/>
          </a:xfrm>
        </p:grpSpPr>
        <p:sp>
          <p:nvSpPr>
            <p:cNvPr id="124" name="Text 92"/>
            <p:cNvSpPr/>
            <p:nvPr/>
          </p:nvSpPr>
          <p:spPr>
            <a:xfrm>
              <a:off x="13824" y="5919"/>
              <a:ext cx="4032" cy="43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E293B"/>
                  </a:solidFill>
                  <a:latin typeface="Times New Roman" panose="02020603050405020304" charset="0"/>
                  <a:ea typeface="微软雅黑" panose="020B0503020204020204" charset="-122"/>
                </a:rPr>
                <a:t>运维管家</a:t>
              </a:r>
            </a:p>
          </p:txBody>
        </p:sp>
        <p:sp>
          <p:nvSpPr>
            <p:cNvPr id="125" name="Text 93"/>
            <p:cNvSpPr/>
            <p:nvPr/>
          </p:nvSpPr>
          <p:spPr>
            <a:xfrm>
              <a:off x="13824" y="6308"/>
              <a:ext cx="4032" cy="36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3B82F6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Ops Manager</a:t>
              </a:r>
            </a:p>
          </p:txBody>
        </p:sp>
      </p:grpSp>
      <p:sp>
        <p:nvSpPr>
          <p:cNvPr id="126" name="Shape 94"/>
          <p:cNvSpPr/>
          <p:nvPr/>
        </p:nvSpPr>
        <p:spPr>
          <a:xfrm>
            <a:off x="8138160" y="4508464"/>
            <a:ext cx="73152" cy="73152"/>
          </a:xfrm>
          <a:prstGeom prst="ellipse">
            <a:avLst/>
          </a:prstGeom>
          <a:solidFill>
            <a:srgbClr val="3B82F6"/>
          </a:solidFill>
        </p:spPr>
      </p:sp>
      <p:sp>
        <p:nvSpPr>
          <p:cNvPr id="127" name="Text 95"/>
          <p:cNvSpPr/>
          <p:nvPr/>
        </p:nvSpPr>
        <p:spPr>
          <a:xfrm>
            <a:off x="8275320" y="4398736"/>
            <a:ext cx="3063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设备健康监测：电池寿命/信号/固件</a:t>
            </a:r>
          </a:p>
        </p:txBody>
      </p:sp>
      <p:sp>
        <p:nvSpPr>
          <p:cNvPr id="128" name="Shape 96"/>
          <p:cNvSpPr/>
          <p:nvPr/>
        </p:nvSpPr>
        <p:spPr>
          <a:xfrm>
            <a:off x="8138160" y="4855936"/>
            <a:ext cx="73152" cy="73152"/>
          </a:xfrm>
          <a:prstGeom prst="ellipse">
            <a:avLst/>
          </a:prstGeom>
          <a:solidFill>
            <a:srgbClr val="3B82F6"/>
          </a:solidFill>
        </p:spPr>
      </p:sp>
      <p:sp>
        <p:nvSpPr>
          <p:cNvPr id="129" name="Text 97"/>
          <p:cNvSpPr/>
          <p:nvPr/>
        </p:nvSpPr>
        <p:spPr>
          <a:xfrm>
            <a:off x="8275320" y="4746208"/>
            <a:ext cx="3063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603050405020304" charset="0"/>
                <a:ea typeface="微软雅黑" panose="020B0503020204020204" charset="-122"/>
              </a:rPr>
              <a:t>异常预警与自愈，卡死自动重启</a:t>
            </a:r>
          </a:p>
        </p:txBody>
      </p:sp>
      <p:sp>
        <p:nvSpPr>
          <p:cNvPr id="130" name="Shape 98"/>
          <p:cNvSpPr/>
          <p:nvPr/>
        </p:nvSpPr>
        <p:spPr>
          <a:xfrm>
            <a:off x="8138160" y="5203408"/>
            <a:ext cx="73152" cy="73152"/>
          </a:xfrm>
          <a:prstGeom prst="ellipse">
            <a:avLst/>
          </a:prstGeom>
          <a:solidFill>
            <a:srgbClr val="3B82F6"/>
          </a:solidFill>
        </p:spPr>
      </p:sp>
      <p:sp>
        <p:nvSpPr>
          <p:cNvPr id="131" name="Text 99"/>
          <p:cNvSpPr/>
          <p:nvPr/>
        </p:nvSpPr>
        <p:spPr>
          <a:xfrm>
            <a:off x="8275320" y="5093680"/>
            <a:ext cx="3063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OTA远程升级与版本管理</a:t>
            </a:r>
          </a:p>
        </p:txBody>
      </p:sp>
      <p:sp>
        <p:nvSpPr>
          <p:cNvPr id="133" name="Shape 100"/>
          <p:cNvSpPr/>
          <p:nvPr/>
        </p:nvSpPr>
        <p:spPr>
          <a:xfrm>
            <a:off x="8138160" y="5450296"/>
            <a:ext cx="3200400" cy="182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34" name="Text 101"/>
          <p:cNvSpPr/>
          <p:nvPr/>
        </p:nvSpPr>
        <p:spPr>
          <a:xfrm>
            <a:off x="8138160" y="5537164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MCP</a:t>
            </a:r>
          </a:p>
        </p:txBody>
      </p:sp>
      <p:sp>
        <p:nvSpPr>
          <p:cNvPr id="135" name="Text 102"/>
          <p:cNvSpPr/>
          <p:nvPr/>
        </p:nvSpPr>
        <p:spPr>
          <a:xfrm>
            <a:off x="8595360" y="5514304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Resources: device.health, firmware  |  Tools: reboot, ota.upgrade, backup</a:t>
            </a:r>
          </a:p>
        </p:txBody>
      </p:sp>
      <p:sp>
        <p:nvSpPr>
          <p:cNvPr id="136" name="Text 103"/>
          <p:cNvSpPr/>
          <p:nvPr/>
        </p:nvSpPr>
        <p:spPr>
          <a:xfrm>
            <a:off x="8138160" y="5843996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Times New Roman" panose="02020603050405020304" charset="0"/>
                <a:ea typeface="微软雅黑" panose="020B0503020204020204" charset="-122"/>
              </a:rPr>
              <a:t>协议</a:t>
            </a:r>
          </a:p>
        </p:txBody>
      </p:sp>
      <p:sp>
        <p:nvSpPr>
          <p:cNvPr id="137" name="Text 104"/>
          <p:cNvSpPr/>
          <p:nvPr/>
        </p:nvSpPr>
        <p:spPr>
          <a:xfrm>
            <a:off x="8595360" y="5821136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设备诊断协议 · OTA · SNMP</a:t>
            </a:r>
          </a:p>
        </p:txBody>
      </p:sp>
      <p:grpSp>
        <p:nvGrpSpPr>
          <p:cNvPr id="74" name="组合 73"/>
          <p:cNvGrpSpPr/>
          <p:nvPr/>
        </p:nvGrpSpPr>
        <p:grpSpPr>
          <a:xfrm>
            <a:off x="8138160" y="1106805"/>
            <a:ext cx="548640" cy="548640"/>
            <a:chOff x="12816" y="1743"/>
            <a:chExt cx="864" cy="864"/>
          </a:xfrm>
        </p:grpSpPr>
        <p:sp>
          <p:nvSpPr>
            <p:cNvPr id="44" name="Shape 39"/>
            <p:cNvSpPr/>
            <p:nvPr/>
          </p:nvSpPr>
          <p:spPr>
            <a:xfrm>
              <a:off x="12816" y="1743"/>
              <a:ext cx="864" cy="864"/>
            </a:xfrm>
            <a:prstGeom prst="ellipse">
              <a:avLst/>
            </a:prstGeom>
            <a:solidFill>
              <a:srgbClr val="7C3AED"/>
            </a:solidFill>
          </p:spPr>
        </p:sp>
        <p:sp>
          <p:nvSpPr>
            <p:cNvPr id="45" name="Text 40"/>
            <p:cNvSpPr/>
            <p:nvPr/>
          </p:nvSpPr>
          <p:spPr>
            <a:xfrm>
              <a:off x="12816" y="1743"/>
              <a:ext cx="864" cy="86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endParaRPr lang="en-US" sz="1600" dirty="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</p:txBody>
        </p:sp>
        <p:pic>
          <p:nvPicPr>
            <p:cNvPr id="71" name="图片 12" descr="343439383331313b343532303032383bbfcdbba7b9dcc0ed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2965" y="1892"/>
              <a:ext cx="567" cy="567"/>
            </a:xfrm>
            <a:prstGeom prst="rect">
              <a:avLst/>
            </a:prstGeom>
          </p:spPr>
        </p:pic>
      </p:grpSp>
      <p:grpSp>
        <p:nvGrpSpPr>
          <p:cNvPr id="80" name="组合 79"/>
          <p:cNvGrpSpPr/>
          <p:nvPr/>
        </p:nvGrpSpPr>
        <p:grpSpPr>
          <a:xfrm>
            <a:off x="731520" y="3758565"/>
            <a:ext cx="548640" cy="548640"/>
            <a:chOff x="1152" y="5919"/>
            <a:chExt cx="864" cy="864"/>
          </a:xfrm>
        </p:grpSpPr>
        <p:sp>
          <p:nvSpPr>
            <p:cNvPr id="61" name="Shape 56"/>
            <p:cNvSpPr/>
            <p:nvPr/>
          </p:nvSpPr>
          <p:spPr>
            <a:xfrm>
              <a:off x="1152" y="5919"/>
              <a:ext cx="864" cy="864"/>
            </a:xfrm>
            <a:prstGeom prst="ellipse">
              <a:avLst/>
            </a:prstGeom>
            <a:solidFill>
              <a:srgbClr val="F59E0B"/>
            </a:solidFill>
          </p:spPr>
        </p:sp>
        <p:pic>
          <p:nvPicPr>
            <p:cNvPr id="79" name="图片 3" descr="343439383331313b343532303031393bd2b5bca8b9dcc0ed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301" y="6068"/>
              <a:ext cx="567" cy="567"/>
            </a:xfrm>
            <a:prstGeom prst="rect">
              <a:avLst/>
            </a:prstGeom>
          </p:spPr>
        </p:pic>
      </p:grpSp>
      <p:grpSp>
        <p:nvGrpSpPr>
          <p:cNvPr id="82" name="组合 81"/>
          <p:cNvGrpSpPr/>
          <p:nvPr/>
        </p:nvGrpSpPr>
        <p:grpSpPr>
          <a:xfrm>
            <a:off x="731520" y="1106805"/>
            <a:ext cx="548640" cy="548640"/>
            <a:chOff x="1152" y="1743"/>
            <a:chExt cx="864" cy="864"/>
          </a:xfrm>
        </p:grpSpPr>
        <p:sp>
          <p:nvSpPr>
            <p:cNvPr id="10" name="Shape 5"/>
            <p:cNvSpPr/>
            <p:nvPr/>
          </p:nvSpPr>
          <p:spPr>
            <a:xfrm>
              <a:off x="1152" y="1743"/>
              <a:ext cx="864" cy="864"/>
            </a:xfrm>
            <a:prstGeom prst="ellipse">
              <a:avLst/>
            </a:prstGeom>
            <a:solidFill>
              <a:srgbClr val="0891B2"/>
            </a:solidFill>
          </p:spPr>
        </p:sp>
        <p:pic>
          <p:nvPicPr>
            <p:cNvPr id="81" name="图片 16" descr="343439383331313b343532303033323bd3a6d3c3b9dcc0ed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2">
              <a:extLs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301" y="1892"/>
              <a:ext cx="567" cy="567"/>
            </a:xfrm>
            <a:prstGeom prst="rect">
              <a:avLst/>
            </a:prstGeom>
          </p:spPr>
        </p:pic>
      </p:grpSp>
      <p:grpSp>
        <p:nvGrpSpPr>
          <p:cNvPr id="85" name="组合 84"/>
          <p:cNvGrpSpPr/>
          <p:nvPr/>
        </p:nvGrpSpPr>
        <p:grpSpPr>
          <a:xfrm>
            <a:off x="8138160" y="3758565"/>
            <a:ext cx="548640" cy="548640"/>
            <a:chOff x="12816" y="5919"/>
            <a:chExt cx="864" cy="864"/>
          </a:xfrm>
        </p:grpSpPr>
        <p:sp>
          <p:nvSpPr>
            <p:cNvPr id="111" name="Shape 90"/>
            <p:cNvSpPr/>
            <p:nvPr/>
          </p:nvSpPr>
          <p:spPr>
            <a:xfrm>
              <a:off x="12816" y="5919"/>
              <a:ext cx="864" cy="864"/>
            </a:xfrm>
            <a:prstGeom prst="ellipse">
              <a:avLst/>
            </a:prstGeom>
            <a:solidFill>
              <a:srgbClr val="3B82F6"/>
            </a:solidFill>
          </p:spPr>
        </p:sp>
        <p:pic>
          <p:nvPicPr>
            <p:cNvPr id="83" name="图片 8" descr="343439383331313b343532303032343bb7a2b2bcb9dcc0ed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4">
              <a:extLst>
                <a:ext uri="{96DAC541-7B7A-43D3-8B79-37D633B846F1}">
                  <asvg:svgBlip xmlns=""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2965" y="6068"/>
              <a:ext cx="567" cy="567"/>
            </a:xfrm>
            <a:prstGeom prst="rect">
              <a:avLst/>
            </a:prstGeom>
          </p:spPr>
        </p:pic>
      </p:grpSp>
      <p:grpSp>
        <p:nvGrpSpPr>
          <p:cNvPr id="88" name="组合 87"/>
          <p:cNvGrpSpPr/>
          <p:nvPr/>
        </p:nvGrpSpPr>
        <p:grpSpPr>
          <a:xfrm>
            <a:off x="4434840" y="3758565"/>
            <a:ext cx="548640" cy="548640"/>
            <a:chOff x="6984" y="5919"/>
            <a:chExt cx="864" cy="864"/>
          </a:xfrm>
        </p:grpSpPr>
        <p:sp>
          <p:nvSpPr>
            <p:cNvPr id="78" name="Shape 73"/>
            <p:cNvSpPr/>
            <p:nvPr/>
          </p:nvSpPr>
          <p:spPr>
            <a:xfrm>
              <a:off x="6984" y="5919"/>
              <a:ext cx="864" cy="864"/>
            </a:xfrm>
            <a:prstGeom prst="ellipse">
              <a:avLst/>
            </a:prstGeom>
            <a:solidFill>
              <a:srgbClr val="0D9488"/>
            </a:solidFill>
          </p:spPr>
        </p:sp>
        <p:pic>
          <p:nvPicPr>
            <p:cNvPr id="86" name="图片 4" descr="343439383331313b343532303032303bb8f6c8cbd0c5cfa2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6">
              <a:extLst>
                <a:ext uri="{96DAC541-7B7A-43D3-8B79-37D633B846F1}">
                  <asvg:svgBlip xmlns=""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7133" y="6068"/>
              <a:ext cx="567" cy="567"/>
            </a:xfrm>
            <a:prstGeom prst="rect">
              <a:avLst/>
            </a:prstGeom>
          </p:spPr>
        </p:pic>
      </p:grpSp>
      <p:grpSp>
        <p:nvGrpSpPr>
          <p:cNvPr id="90" name="组合 89"/>
          <p:cNvGrpSpPr/>
          <p:nvPr/>
        </p:nvGrpSpPr>
        <p:grpSpPr>
          <a:xfrm>
            <a:off x="4434840" y="1106805"/>
            <a:ext cx="548640" cy="548640"/>
            <a:chOff x="6984" y="1743"/>
            <a:chExt cx="864" cy="864"/>
          </a:xfrm>
        </p:grpSpPr>
        <p:sp>
          <p:nvSpPr>
            <p:cNvPr id="27" name="Shape 22"/>
            <p:cNvSpPr/>
            <p:nvPr/>
          </p:nvSpPr>
          <p:spPr>
            <a:xfrm>
              <a:off x="6984" y="1743"/>
              <a:ext cx="864" cy="864"/>
            </a:xfrm>
            <a:prstGeom prst="ellipse">
              <a:avLst/>
            </a:prstGeom>
            <a:solidFill>
              <a:srgbClr val="F96167"/>
            </a:solidFill>
          </p:spPr>
        </p:sp>
        <p:pic>
          <p:nvPicPr>
            <p:cNvPr id="89" name="图片 5" descr="343435383037343b343532333833373bb9abcbbe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18">
              <a:extLst>
                <a:ext uri="{96DAC541-7B7A-43D3-8B79-37D633B846F1}">
                  <asvg:svgBlip xmlns=""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7133" y="1891"/>
              <a:ext cx="567" cy="567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'20px 60px 20px 60px' }}&gt;&#10;    {/* Title block */}&#10;    &lt;Box style={{ height: 80, flexDirection: 'column', justifyContent: 'center' }}&gt;&#10;        &lt;Text style={{ fontSize: 32, fontWeight: 'bold', color: '#1E3A8A' }}&gt;方向四：信创家庭微脑技术栈&lt;/Text&gt;&#10;        &lt;Text style={{ fontSize: 16, color: '#64748B', marginTop: 4 }}&gt;全栈国产化替代：芯片→操作系统→大模型→协议→密码算法，实现自主可控&lt;/Text&gt;&#10;    &lt;/Box&gt;&#10;    {/* Content - Left title block + Right layered stack */}&#10;    &lt;Box style={{ flex: 1, marginTop: 8, flexDirection: 'row', gap: 20 }}&gt;&#10;        {/* Left 35% - Title block */}&#10;        &lt;Box style={{ width: '35%', background: 'linear-gradient(160deg, #1E3A8A 0%, #0F172A 100%)', borderRadius: 16, padding: 28, flexDirection: 'column', justifyContent: 'space-between' }}&gt;&#10;            &lt;Box&gt;&#10;                &lt;Box style={{ flexDirection: 'row', alignItems: 'center', gap: 10, marginBottom: 20 }}&gt;&#10;                    &lt;FAIcon name='shield-halved' style={{ fill: '#06B6D4', width: 36, height: 36 }} /&gt;&#10;                    &lt;Text style={{ fontSize: 28, fontWeight: 'bold', color: '#FFFFFF' }}&gt;信创&lt;/Text&gt;&#10;                &lt;/Box&gt;&#10;                &lt;Text style={{ fontSize: 15, color: 'rgba(255,255,255,0.8)', lineHeight: 1.6 }}&gt;&#10;                    信息技术应用创新，从底层芯片到上层应用全栈国产化替代，消除&quot;卡脖子&quot;风险，满足等保三级强制国密准入要求&#10;                &lt;/Text&gt;&#10;            &lt;/Box&gt;&#10;            &lt;Box style={{ gap: 10 }}&gt;&#10;                &lt;Box style={{ background: 'rgba(6,182,212,0.15)', borderRadius: 8, padding: '8px 14px', flexDirection: 'row', alignItems: 'center', gap: 8 }}&gt;&#10;                    &lt;FAIcon name='circle-check' style={{ fill: '#06B6D4', width: 16, height: 16 }} /&gt;&#10;                    &lt;Text style={{ fontSize: 13, color: '#06B6D4' }}&gt;等保三级 GA/T2380-2026&lt;/Text&gt;&#10;                &lt;/Box&gt;&#10;                &lt;Box style={{ background: 'rgba(6,182,212,0.15)', borderRadius: 8, padding: '8px 14px', flexDirection: 'row', alignItems: 'center', gap: 8 }}&gt;&#10;                    &lt;FAIcon name='circle-check' style={{ fill: '#06B6D4', width: 16, height: 16 }} /&gt;&#10;                    &lt;Text style={{ fontSize: 13, color: '#06B6D4' }}&gt;国密算法 SM2/SM3/SM4&lt;/Text&gt;&#10;                &lt;/Box&gt;&#10;                &lt;Box style={{ background: 'rgba(6,182,212,0.15)', borderRadius: 8, padding: '8px 14px', flexDirection: 'row', alignItems: 'center', gap: 8 }}&gt;&#10;                    &lt;FAIcon name='circle-check' style={{ fill: '#06B6D4', width: 16, height: 16 }} /&gt;&#10;                    &lt;Text style={{ fontSize: 13, color: '#06B6D4' }}&gt;开源生态 自主可控&lt;/Text&gt;&#10;                &lt;/Box&gt;&#10;            &lt;/Box&gt;&#10;        &lt;/Box&gt;&#10;        {/* Right 65% - Layered stack */}&#10;        &lt;Box style={{ flex: 1, gap: 10, flexDirection: 'column' }}&gt;&#10;            {/* Layer 1: 芯片层 */}&#10;            &lt;Box style={{ background: '#EFF6FF', borderRadius: 12, padding: '14px 18px', border: '2px solid #1E3A8A', flexDirection: 'row', alignItems: 'center', gap: 14 }}&gt;&#10;                &lt;Box style={{ width: 44, height: 44, borderRadius: 10, background: '#1E3A8A', justifyContent: 'center', alignItems: 'center' }}&gt;&#10;                    &lt;FAIcon name='microchip' style={{ fill: '#FFFFFF', width: 24, height: 24 }} /&gt;&#10;                &lt;/Box&gt;&#10;                &lt;Box style={{ flex: 1 }}&gt;&#10;                    &lt;Text style={{ fontSize: 17, fontWeight: 'bold', color: '#1E3A8A' }}&gt;芯片层 · 国产AI算力&lt;/Text&gt;&#10;                    &lt;Text style={{ fontSize: 13, color: '#64748B', marginTop: 2 }}&gt;瑞芯微RK3588(6TOPS NPU) · 华为昇腾Atlas 200I · 晶晨A311D · 全志T527&lt;/Text&gt;&#10;                &lt;/Box&gt;&#10;                &lt;Box style={{ background: '#1E3A8A', borderRadius: 6, padding: '4px 10px' }}&gt;&#10;                    &lt;Text style={{ fontSize: 12, color: '#FFFFFF', fontWeight: 'bold' }}&gt;L1&lt;/Text&gt;&#10;                &lt;/Box&gt;&#10;            &lt;/Box&gt;&#10;            {/* Layer 2: OS层 */}&#10;            &lt;Box style={{ background: '#ECFEFF', borderRadius: 12, padding: '14px 18px', border: '2px solid #06B6D4', flexDirection: 'row', alignItems: 'center', gap: 14 }}&gt;&#10;                &lt;Box style={{ width: 44, height: 44, borderRadius: 10, background: '#06B6D4', justifyContent: 'center', alignItems: 'center' }}&gt;&#10;                    &lt;FAIcon name='server' style={{ fill: '#FFFFFF', width: 24, height: 24 }} /&gt;&#10;                &lt;/Box&gt;&#10;                &lt;Box style={{ flex: 1 }}&gt;&#10;                    &lt;Text style={{ fontSize: 17, fontWeight: 'bold', color: '#0891B2' }}&gt;操作系统层 · 开源路由OS&lt;/Text&gt;&#10;                    &lt;Text style={{ fontSize: 13, color: '#64748B', marginTop: 2 }}&gt;OpenWrt(飞流OS发行版) · iStoreOS · 银河麒麟嵌入式 · 统信UOS边缘版&lt;/Text&gt;&#10;                &lt;/Box&gt;&#10;                &lt;Box style={{ background: '#06B6D4', borderRadius: 6, padding: '4px 10px' }}&gt;&#10;                    &lt;Text style={{ fontSize: 12, color: '#FFFFFF', fontWeight: 'bold' }}&gt;L2&lt;/Text&gt;&#10;                &lt;/Box&gt;&#10;            &lt;/Box&gt;&#10;            {/* Layer 3: 模型层 */}&#10;            &lt;Box style={{ background: '#FFFBEB', borderRadius: 12, padding: '14px 18px', border: '2px solid #F59E0B', flexDirection: 'row', alignItems: 'center', gap: 14 }}&gt;&#10;                &lt;Box style={{ width: 44, height: 44, borderRadius: 10, background: '#F59E0B', justifyContent: 'center', alignItems: 'center' }}&gt;&#10;                    &lt;FAIcon name='brain' style={{ fill: '#FFFFFF', width: 24, height: 24 }} /&gt;&#10;                &lt;/Box&gt;&#10;                &lt;Box style={{ flex: 1 }}&gt;&#10;                    &lt;Text style={{ fontSize: 17, fontWeight: 'bold', color: '#B45309' }}&gt;大模型层 · 国产开源LLM&lt;/Text&gt;&#10;                    &lt;Text style={{ fontSize: 13, color: '#64748B', marginTop: 2 }}&gt;Qwen3/Qwen3.5(通义千问) · GLM-4(智谱) · DeepSeek-R1 · home-3b-v3(HA微调)&lt;/Text&gt;&#10;                &lt;/Box&gt;&#10;                &lt;Box style={{ background: '#F59E0B', borderRadius: 6, padding: '4px 10px' }}&gt;&#10;                    &lt;Text style={{ fontSize: 12, color: '#FFFFFF', fontWeight: 'bold' }}&gt;L3&lt;/Text&gt;&#10;                &lt;/Box&gt;&#10;            &lt;/Box&gt;&#10;            {/* Layer 4: 协议层 */}&#10;            &lt;Box style={{ background: '#EFF6FF', borderRadius: 12, padding: '14px 18px', border: '2px solid #3B82F6', flexDirection: 'row', alignItems: 'center', gap: 14 }}&gt;&#10;                &lt;Box style={{ width: 44, height: 44, borderRadius: 10, background: '#3B82F6', justifyContent: 'center', alignItems: 'center' }}&gt;&#10;                    &lt;FAIcon name='wifi' style={{ fill: '#FFFFFF', width: 24, height: 24 }} /&gt;&#10;                &lt;/Box&gt;&#10;                &lt;Box style={{ flex: 1 }}&gt;&#10;                    &lt;Text style={{ fontSize: 17, fontWeight: 'bold', color: '#2563EB' }}&gt;协议层 · IoT标准协议&lt;/Text&gt;&#10;                    &lt;Text style={{ fontSize: 13, color: '#64748B', marginTop: 2 }}&gt;Matter 1.5.1(IPSO联盟) · Thread · MQTT 5.0(OASIS) · Zigbee 3.0 · MCP协议&lt;/Text&gt;&#10;                &lt;/Box&gt;&#10;                &lt;Box style={{ background: '#3B82F6', borderRadius: 6, padding: '4px 10px' }}&gt;&#10;                    &lt;Text style={{ fontSize: 12, color: '#FFFFFF', fontWeight: 'bold' }}&gt;L4&lt;/Text&gt;&#10;                &lt;/Box&gt;&#10;            &lt;/Box&gt;&#10;            {/* Layer 5: 密码层 */}&#10;            &lt;Box style={{ background: '#F0FDF4', borderRadius: 12, padding: '14px 18px', border: '2px solid #10B981', flexDirection: 'row', alignItems: 'center', gap: 14 }}&gt;&#10;                &lt;Box style={{ width: 44, height: 44, borderRadius: 10, background: '#10B981', justifyContent: 'center', alignItems: 'center' }}&gt;&#10;                    &lt;FAIcon name='lock' style={{ fill: '#FFFFFF', width: 24, height: 24 }} /&gt;&#10;                &lt;/Box&gt;&#10;                &lt;Box style={{ flex: 1 }}&gt;&#10;                    &lt;Text style={{ fontSize: 17, fontWeight: 'bold', color: '#059669' }}&gt;密码算法层 · 国密体系&lt;/Text&gt;&#10;                    &lt;Text style={{ fontSize: 13, color: '#64748B', marginTop: 2 }}&gt;SM2(椭圆曲线公钥) · SM3(杂凑) · SM4(分组对称) · TLS 1.3国密套件 · HSM硬件密钥&lt;/Text&gt;&#10;                &lt;/Box&gt;&#10;                &lt;Box style={{ background: '#10B981', borderRadius: 6, padding: '4px 10px' }}&gt;&#10;                    &lt;Text style={{ fontSize: 12, color: '#FFFFFF', fontWeight: 'bold' }}&gt;L5&lt;/Text&gt;&#10;                &lt;/Box&gt;&#10;            &lt;/Box&gt;&#10;        &lt;/Box&gt;&#10;    &lt;/Box&gt;&#10;    {/* Footer */}&#10;    &lt;Box style={{ height: 40, flexDirection: 'row', justifyContent: 'space-between', alignItems: 'center', borderTop: '1px solid #E2E8F0', paddingTop: 8 }}&gt;&#10;        &lt;Text style={{ fontSize: 14, color: '#94A3B8' }}&gt;家庭微脑技术方案&lt;/Text&gt;&#10;        &lt;Text style={{ fontSize: 14, color: '#94A3B8' }}&gt;08 / 13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71500" y="1143000"/>
            <a:ext cx="3867150" cy="3581400"/>
            <a:chOff x="900" y="1752"/>
            <a:chExt cx="6090" cy="5640"/>
          </a:xfrm>
        </p:grpSpPr>
        <p:sp>
          <p:nvSpPr>
            <p:cNvPr id="558" name="圆角矩形 557"/>
            <p:cNvSpPr/>
            <p:nvPr/>
          </p:nvSpPr>
          <p:spPr>
            <a:xfrm>
              <a:off x="900" y="1752"/>
              <a:ext cx="6090" cy="5640"/>
            </a:xfrm>
            <a:prstGeom prst="roundRect">
              <a:avLst>
                <a:gd name="adj" fmla="val 3941"/>
              </a:avLst>
            </a:prstGeom>
            <a:gradFill>
              <a:gsLst>
                <a:gs pos="0">
                  <a:srgbClr val="1E3A8A"/>
                </a:gs>
                <a:gs pos="100000">
                  <a:srgbClr val="0F172A"/>
                </a:gs>
              </a:gsLst>
              <a:lin ang="4200000" scaled="1"/>
            </a:gradFill>
          </p:spPr>
          <p:txBody>
            <a:bodyPr/>
            <a:lstStyle/>
            <a:p>
              <a:endParaRPr/>
            </a:p>
          </p:txBody>
        </p:sp>
        <p:sp>
          <p:nvSpPr>
            <p:cNvPr id="561" name="文本框 560" descr="{&quot;isTemplate&quot;:true,&quot;type&quot;:&quot;text&quot;}"/>
            <p:cNvSpPr txBox="1"/>
            <p:nvPr/>
          </p:nvSpPr>
          <p:spPr>
            <a:xfrm>
              <a:off x="1320" y="2190"/>
              <a:ext cx="5250" cy="2074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/>
            <a:p>
              <a:pPr>
                <a:lnSpc>
                  <a:spcPct val="160000"/>
                </a:lnSpc>
              </a:pPr>
              <a:r>
                <a:rPr lang="zh-CN" sz="1300">
                  <a:solidFill>
                    <a:srgbClr val="FFFFFF">
                      <a:alpha val="80000"/>
                    </a:srgbClr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从底层芯片到上层应用全栈国产化替代，消除</a:t>
              </a:r>
              <a:r>
                <a:rPr lang="en-US" sz="1300">
                  <a:solidFill>
                    <a:srgbClr val="FFFFFF">
                      <a:alpha val="80000"/>
                    </a:srgbClr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"</a:t>
              </a:r>
              <a:r>
                <a:rPr lang="zh-CN" sz="1300">
                  <a:solidFill>
                    <a:srgbClr val="FFFFFF">
                      <a:alpha val="80000"/>
                    </a:srgbClr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卡脖子</a:t>
              </a:r>
              <a:r>
                <a:rPr lang="en-US" sz="1300">
                  <a:solidFill>
                    <a:srgbClr val="FFFFFF">
                      <a:alpha val="80000"/>
                    </a:srgbClr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"</a:t>
              </a:r>
              <a:r>
                <a:rPr lang="zh-CN" sz="1300">
                  <a:solidFill>
                    <a:srgbClr val="FFFFFF">
                      <a:alpha val="80000"/>
                    </a:srgbClr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风险，</a:t>
              </a:r>
              <a:r>
                <a:rPr lang="zh-CN" altLang="en-US" sz="1300">
                  <a:solidFill>
                    <a:srgbClr val="FFFFFF">
                      <a:alpha val="80000"/>
                    </a:srgbClr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优先采用国产与开源技术，降低单一供应商依赖；具体合规边界以项目适用标准和测评结论为准。</a:t>
              </a:r>
            </a:p>
          </p:txBody>
        </p:sp>
        <p:sp>
          <p:nvSpPr>
            <p:cNvPr id="562" name="圆角矩形 561"/>
            <p:cNvSpPr/>
            <p:nvPr/>
          </p:nvSpPr>
          <p:spPr>
            <a:xfrm>
              <a:off x="1320" y="4635"/>
              <a:ext cx="5250" cy="480"/>
            </a:xfrm>
            <a:prstGeom prst="roundRect">
              <a:avLst>
                <a:gd name="adj" fmla="val 25000"/>
              </a:avLst>
            </a:prstGeom>
            <a:solidFill>
              <a:srgbClr val="06B6D4">
                <a:alpha val="15000"/>
              </a:srgbClr>
            </a:solidFill>
          </p:spPr>
          <p:txBody>
            <a:bodyPr/>
            <a:lstStyle/>
            <a:p>
              <a:pPr algn="ctr"/>
              <a:endParaRPr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</p:txBody>
        </p:sp>
        <p:sp>
          <p:nvSpPr>
            <p:cNvPr id="564" name="文本框 563" descr="{&quot;isTemplate&quot;:true,&quot;type&quot;:&quot;text&quot;}"/>
            <p:cNvSpPr txBox="1"/>
            <p:nvPr/>
          </p:nvSpPr>
          <p:spPr>
            <a:xfrm>
              <a:off x="2279" y="4699"/>
              <a:ext cx="3333" cy="352"/>
            </a:xfrm>
            <a:prstGeom prst="rect">
              <a:avLst/>
            </a:prstGeom>
          </p:spPr>
          <p:txBody>
            <a:bodyPr wrap="none" lIns="0" tIns="0" rIns="0" bIns="0"/>
            <a:lstStyle/>
            <a:p>
              <a:pPr algn="ctr">
                <a:lnSpc>
                  <a:spcPct val="100000"/>
                </a:lnSpc>
              </a:pPr>
              <a:r>
                <a:rPr lang="zh-CN" sz="1400">
                  <a:solidFill>
                    <a:srgbClr val="06B6D4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等保三级</a:t>
              </a:r>
              <a:r>
                <a:rPr sz="1400">
                  <a:solidFill>
                    <a:srgbClr val="06B6D4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 · 以适用标准为准</a:t>
              </a:r>
              <a:endParaRPr lang="en-US" sz="1400">
                <a:solidFill>
                  <a:srgbClr val="06B6D4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</p:txBody>
        </p:sp>
        <p:sp>
          <p:nvSpPr>
            <p:cNvPr id="565" name="圆角矩形 564"/>
            <p:cNvSpPr/>
            <p:nvPr/>
          </p:nvSpPr>
          <p:spPr>
            <a:xfrm>
              <a:off x="1320" y="5265"/>
              <a:ext cx="5250" cy="480"/>
            </a:xfrm>
            <a:prstGeom prst="roundRect">
              <a:avLst>
                <a:gd name="adj" fmla="val 25000"/>
              </a:avLst>
            </a:prstGeom>
            <a:solidFill>
              <a:srgbClr val="06B6D4">
                <a:alpha val="15000"/>
              </a:srgbClr>
            </a:solidFill>
          </p:spPr>
          <p:txBody>
            <a:bodyPr/>
            <a:lstStyle/>
            <a:p>
              <a:pPr algn="ctr"/>
              <a:endParaRPr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</p:txBody>
        </p:sp>
        <p:sp>
          <p:nvSpPr>
            <p:cNvPr id="567" name="文本框 566" descr="{&quot;isTemplate&quot;:true,&quot;type&quot;:&quot;text&quot;}"/>
            <p:cNvSpPr txBox="1"/>
            <p:nvPr/>
          </p:nvSpPr>
          <p:spPr>
            <a:xfrm>
              <a:off x="2279" y="5337"/>
              <a:ext cx="3332" cy="336"/>
            </a:xfrm>
            <a:prstGeom prst="rect">
              <a:avLst/>
            </a:prstGeom>
          </p:spPr>
          <p:txBody>
            <a:bodyPr wrap="none" lIns="0" tIns="0" rIns="0" bIns="0"/>
            <a:lstStyle/>
            <a:p>
              <a:pPr algn="ctr">
                <a:lnSpc>
                  <a:spcPct val="100000"/>
                </a:lnSpc>
              </a:pPr>
              <a:r>
                <a:rPr lang="zh-CN" sz="1400">
                  <a:solidFill>
                    <a:srgbClr val="06B6D4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国密算法</a:t>
              </a:r>
              <a:r>
                <a:rPr lang="en-US" sz="1400">
                  <a:solidFill>
                    <a:srgbClr val="06B6D4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 SM2/SM3/SM4</a:t>
              </a:r>
            </a:p>
          </p:txBody>
        </p:sp>
        <p:sp>
          <p:nvSpPr>
            <p:cNvPr id="568" name="圆角矩形 567"/>
            <p:cNvSpPr/>
            <p:nvPr/>
          </p:nvSpPr>
          <p:spPr>
            <a:xfrm>
              <a:off x="1320" y="5895"/>
              <a:ext cx="5250" cy="480"/>
            </a:xfrm>
            <a:prstGeom prst="roundRect">
              <a:avLst>
                <a:gd name="adj" fmla="val 25000"/>
              </a:avLst>
            </a:prstGeom>
            <a:solidFill>
              <a:srgbClr val="06B6D4">
                <a:alpha val="15000"/>
              </a:srgbClr>
            </a:solidFill>
          </p:spPr>
          <p:txBody>
            <a:bodyPr/>
            <a:lstStyle/>
            <a:p>
              <a:pPr algn="ctr"/>
              <a:endParaRPr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</p:txBody>
        </p:sp>
        <p:sp>
          <p:nvSpPr>
            <p:cNvPr id="570" name="文本框 569" descr="{&quot;isTemplate&quot;:true,&quot;type&quot;:&quot;text&quot;}"/>
            <p:cNvSpPr txBox="1"/>
            <p:nvPr/>
          </p:nvSpPr>
          <p:spPr>
            <a:xfrm>
              <a:off x="2279" y="5955"/>
              <a:ext cx="3333" cy="360"/>
            </a:xfrm>
            <a:prstGeom prst="rect">
              <a:avLst/>
            </a:prstGeom>
          </p:spPr>
          <p:txBody>
            <a:bodyPr wrap="none" lIns="0" tIns="0" rIns="0" bIns="0"/>
            <a:lstStyle/>
            <a:p>
              <a:pPr algn="ctr">
                <a:lnSpc>
                  <a:spcPct val="100000"/>
                </a:lnSpc>
              </a:pPr>
              <a:r>
                <a:rPr lang="zh-CN" sz="1400">
                  <a:solidFill>
                    <a:srgbClr val="06B6D4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开源生态</a:t>
              </a:r>
              <a:r>
                <a:rPr lang="en-US" sz="1400">
                  <a:solidFill>
                    <a:srgbClr val="06B6D4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 </a:t>
              </a:r>
              <a:r>
                <a:rPr lang="zh-CN" sz="1400">
                  <a:solidFill>
                    <a:srgbClr val="06B6D4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自主可控</a:t>
              </a:r>
            </a:p>
          </p:txBody>
        </p:sp>
      </p:grpSp>
      <p:sp>
        <p:nvSpPr>
          <p:cNvPr id="56" name="圆角矩形 55"/>
          <p:cNvSpPr/>
          <p:nvPr/>
        </p:nvSpPr>
        <p:spPr>
          <a:xfrm>
            <a:off x="8204200" y="5041900"/>
            <a:ext cx="3422015" cy="1314450"/>
          </a:xfrm>
          <a:prstGeom prst="roundRect">
            <a:avLst>
              <a:gd name="adj" fmla="val 8000"/>
            </a:avLst>
          </a:prstGeom>
          <a:gradFill>
            <a:gsLst>
              <a:gs pos="0">
                <a:srgbClr val="F59E0B"/>
              </a:gs>
              <a:gs pos="100000">
                <a:srgbClr val="D97706"/>
              </a:gs>
            </a:gsLst>
            <a:lin ang="2700000" scaled="1"/>
          </a:gradFill>
        </p:spPr>
        <p:txBody>
          <a:bodyPr/>
          <a:lstStyle/>
          <a:p>
            <a:endParaRPr/>
          </a:p>
        </p:txBody>
      </p:sp>
      <p:grpSp>
        <p:nvGrpSpPr>
          <p:cNvPr id="14" name="组合 13"/>
          <p:cNvGrpSpPr/>
          <p:nvPr/>
        </p:nvGrpSpPr>
        <p:grpSpPr>
          <a:xfrm>
            <a:off x="8390255" y="5255260"/>
            <a:ext cx="3049270" cy="887095"/>
            <a:chOff x="13229" y="8289"/>
            <a:chExt cx="4802" cy="1397"/>
          </a:xfrm>
        </p:grpSpPr>
        <p:sp>
          <p:nvSpPr>
            <p:cNvPr id="58" name="文本框 57" descr="{&quot;isTemplate&quot;:true,&quot;type&quot;:&quot;text&quot;}"/>
            <p:cNvSpPr txBox="1"/>
            <p:nvPr/>
          </p:nvSpPr>
          <p:spPr>
            <a:xfrm>
              <a:off x="13229" y="8289"/>
              <a:ext cx="2438" cy="454"/>
            </a:xfrm>
            <a:prstGeom prst="rect">
              <a:avLst/>
            </a:prstGeom>
          </p:spPr>
          <p:txBody>
            <a:bodyPr wrap="none" lIns="0" tIns="0" rIns="0" bIns="0"/>
            <a:lstStyle/>
            <a:p>
              <a:pPr>
                <a:lnSpc>
                  <a:spcPct val="100000"/>
                </a:lnSpc>
              </a:pPr>
              <a:r>
                <a:rPr lang="zh-CN" sz="160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开源灵活</a:t>
              </a:r>
            </a:p>
          </p:txBody>
        </p:sp>
        <p:sp>
          <p:nvSpPr>
            <p:cNvPr id="59" name="文本框 58" descr="{&quot;isTemplate&quot;:true,&quot;type&quot;:&quot;text&quot;}"/>
            <p:cNvSpPr txBox="1"/>
            <p:nvPr/>
          </p:nvSpPr>
          <p:spPr>
            <a:xfrm>
              <a:off x="13229" y="8780"/>
              <a:ext cx="4802" cy="907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/>
            <a:p>
              <a:pPr>
                <a:lnSpc>
                  <a:spcPct val="150000"/>
                </a:lnSpc>
                <a:buNone/>
              </a:pPr>
              <a:r>
                <a:rPr sz="1200">
                  <a:solidFill>
                    <a:srgbClr val="FFFFFF">
                      <a:alpha val="85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核心能力采用开源技术组合，降低授权成本；商业组件、运维与服务费用单独评估</a:t>
              </a:r>
              <a:endParaRPr lang="zh-CN" sz="1200" dirty="0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60" name="圆角矩形 59"/>
          <p:cNvSpPr/>
          <p:nvPr/>
        </p:nvSpPr>
        <p:spPr>
          <a:xfrm>
            <a:off x="4220210" y="5044440"/>
            <a:ext cx="3713480" cy="1308735"/>
          </a:xfrm>
          <a:prstGeom prst="roundRect">
            <a:avLst>
              <a:gd name="adj" fmla="val 8046"/>
            </a:avLst>
          </a:prstGeom>
          <a:gradFill>
            <a:gsLst>
              <a:gs pos="0">
                <a:srgbClr val="06B6D4"/>
              </a:gs>
              <a:gs pos="100000">
                <a:srgbClr val="0891B2"/>
              </a:gs>
            </a:gsLst>
            <a:lin ang="2700000" scaled="1"/>
          </a:gradFill>
        </p:spPr>
        <p:txBody>
          <a:bodyPr/>
          <a:lstStyle/>
          <a:p>
            <a:endParaRPr/>
          </a:p>
        </p:txBody>
      </p:sp>
      <p:sp>
        <p:nvSpPr>
          <p:cNvPr id="64" name="圆角矩形 63"/>
          <p:cNvSpPr/>
          <p:nvPr/>
        </p:nvSpPr>
        <p:spPr>
          <a:xfrm>
            <a:off x="566420" y="5044440"/>
            <a:ext cx="3382010" cy="1308735"/>
          </a:xfrm>
          <a:prstGeom prst="roundRect">
            <a:avLst>
              <a:gd name="adj" fmla="val 8000"/>
            </a:avLst>
          </a:prstGeom>
          <a:gradFill>
            <a:gsLst>
              <a:gs pos="0">
                <a:srgbClr val="1E3A8A"/>
              </a:gs>
              <a:gs pos="100000">
                <a:srgbClr val="2563EB"/>
              </a:gs>
            </a:gsLst>
            <a:lin ang="2700000" scaled="1"/>
          </a:gradFill>
        </p:spPr>
        <p:txBody>
          <a:bodyPr/>
          <a:lstStyle/>
          <a:p>
            <a:endParaRPr/>
          </a:p>
        </p:txBody>
      </p:sp>
      <p:grpSp>
        <p:nvGrpSpPr>
          <p:cNvPr id="12" name="组合 11"/>
          <p:cNvGrpSpPr/>
          <p:nvPr/>
        </p:nvGrpSpPr>
        <p:grpSpPr>
          <a:xfrm>
            <a:off x="738505" y="5269865"/>
            <a:ext cx="3039745" cy="887730"/>
            <a:chOff x="1202" y="8289"/>
            <a:chExt cx="4787" cy="1398"/>
          </a:xfrm>
        </p:grpSpPr>
        <p:sp>
          <p:nvSpPr>
            <p:cNvPr id="66" name="文本框 65" descr="{&quot;isTemplate&quot;:true,&quot;type&quot;:&quot;text&quot;}"/>
            <p:cNvSpPr txBox="1"/>
            <p:nvPr/>
          </p:nvSpPr>
          <p:spPr>
            <a:xfrm>
              <a:off x="1202" y="8289"/>
              <a:ext cx="2438" cy="454"/>
            </a:xfrm>
            <a:prstGeom prst="rect">
              <a:avLst/>
            </a:prstGeom>
          </p:spPr>
          <p:txBody>
            <a:bodyPr wrap="none" lIns="0" tIns="0" rIns="0" bIns="0"/>
            <a:lstStyle/>
            <a:p>
              <a:pPr>
                <a:lnSpc>
                  <a:spcPct val="100000"/>
                </a:lnSpc>
              </a:pPr>
              <a:r>
                <a:rPr lang="zh-CN" sz="160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自主可控国产化</a:t>
              </a:r>
            </a:p>
          </p:txBody>
        </p:sp>
        <p:sp>
          <p:nvSpPr>
            <p:cNvPr id="67" name="文本框 66" descr="{&quot;isTemplate&quot;:true,&quot;type&quot;:&quot;text&quot;}"/>
            <p:cNvSpPr txBox="1"/>
            <p:nvPr/>
          </p:nvSpPr>
          <p:spPr>
            <a:xfrm>
              <a:off x="1202" y="8780"/>
              <a:ext cx="4787" cy="907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zh-CN" sz="1200" dirty="0">
                  <a:solidFill>
                    <a:srgbClr val="FFFFFF">
                      <a:alpha val="85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</a:rPr>
                <a:t>芯片→</a:t>
              </a:r>
              <a:r>
                <a:rPr lang="en-US" sz="1200" dirty="0">
                  <a:solidFill>
                    <a:srgbClr val="FFFFFF">
                      <a:alpha val="85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</a:rPr>
                <a:t>OS→</a:t>
              </a:r>
              <a:r>
                <a:rPr lang="zh-CN" sz="1200" dirty="0">
                  <a:solidFill>
                    <a:srgbClr val="FFFFFF">
                      <a:alpha val="85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</a:rPr>
                <a:t>模型→协议→密码五层全栈国产化替代</a:t>
              </a:r>
              <a:r>
                <a:rPr lang="zh-CN" sz="1200" dirty="0" smtClean="0">
                  <a:solidFill>
                    <a:srgbClr val="FFFFFF">
                      <a:alpha val="85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</a:rPr>
                <a:t>，</a:t>
              </a:r>
              <a:r>
                <a:rPr sz="120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国产化选型与替换路径</a:t>
              </a:r>
              <a:endParaRPr lang="zh-CN" sz="1200" dirty="0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4417060" y="5269865"/>
            <a:ext cx="3383280" cy="887730"/>
            <a:chOff x="6955" y="8289"/>
            <a:chExt cx="5328" cy="1398"/>
          </a:xfrm>
        </p:grpSpPr>
        <p:sp>
          <p:nvSpPr>
            <p:cNvPr id="62" name="文本框 61" descr="{&quot;isTemplate&quot;:true,&quot;type&quot;:&quot;text&quot;}"/>
            <p:cNvSpPr txBox="1"/>
            <p:nvPr/>
          </p:nvSpPr>
          <p:spPr>
            <a:xfrm>
              <a:off x="6955" y="8289"/>
              <a:ext cx="2438" cy="454"/>
            </a:xfrm>
            <a:prstGeom prst="rect">
              <a:avLst/>
            </a:prstGeom>
          </p:spPr>
          <p:txBody>
            <a:bodyPr wrap="none" lIns="0" tIns="0" rIns="0" bIns="0"/>
            <a:lstStyle/>
            <a:p>
              <a:pPr>
                <a:lnSpc>
                  <a:spcPct val="100000"/>
                </a:lnSpc>
              </a:pPr>
              <a:r>
                <a:rPr lang="zh-CN" sz="160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国密合规</a:t>
              </a:r>
            </a:p>
          </p:txBody>
        </p:sp>
        <p:sp>
          <p:nvSpPr>
            <p:cNvPr id="63" name="文本框 62" descr="{&quot;isTemplate&quot;:true,&quot;type&quot;:&quot;text&quot;}"/>
            <p:cNvSpPr txBox="1"/>
            <p:nvPr/>
          </p:nvSpPr>
          <p:spPr>
            <a:xfrm>
              <a:off x="6955" y="8780"/>
              <a:ext cx="5328" cy="907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rgbClr val="FFFFFF">
                      <a:alpha val="85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</a:rPr>
                <a:t>支持国密能力；按适用标准完成测评整改</a:t>
              </a: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4629150" y="1028700"/>
            <a:ext cx="6991350" cy="3810000"/>
            <a:chOff x="7290" y="1620"/>
            <a:chExt cx="11010" cy="6000"/>
          </a:xfrm>
        </p:grpSpPr>
        <p:grpSp>
          <p:nvGrpSpPr>
            <p:cNvPr id="5" name="组合 4"/>
            <p:cNvGrpSpPr/>
            <p:nvPr/>
          </p:nvGrpSpPr>
          <p:grpSpPr>
            <a:xfrm>
              <a:off x="7290" y="1620"/>
              <a:ext cx="11010" cy="1080"/>
              <a:chOff x="7290" y="1620"/>
              <a:chExt cx="11010" cy="1080"/>
            </a:xfrm>
          </p:grpSpPr>
          <p:sp>
            <p:nvSpPr>
              <p:cNvPr id="571" name="圆角矩形 570"/>
              <p:cNvSpPr/>
              <p:nvPr/>
            </p:nvSpPr>
            <p:spPr>
              <a:xfrm>
                <a:off x="7290" y="1620"/>
                <a:ext cx="11010" cy="1080"/>
              </a:xfrm>
              <a:prstGeom prst="roundRect">
                <a:avLst>
                  <a:gd name="adj" fmla="val 16667"/>
                </a:avLst>
              </a:prstGeom>
              <a:solidFill>
                <a:srgbClr val="EFF6FF"/>
              </a:solidFill>
              <a:ln w="25400">
                <a:solidFill>
                  <a:srgbClr val="1E3A8A"/>
                </a:solidFill>
                <a:prstDash val="soli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72" name="圆角矩形 571"/>
              <p:cNvSpPr/>
              <p:nvPr/>
            </p:nvSpPr>
            <p:spPr>
              <a:xfrm>
                <a:off x="7560" y="1830"/>
                <a:ext cx="660" cy="660"/>
              </a:xfrm>
              <a:prstGeom prst="roundRect">
                <a:avLst>
                  <a:gd name="adj" fmla="val 22727"/>
                </a:avLst>
              </a:prstGeom>
              <a:solidFill>
                <a:srgbClr val="1E3A8A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74" name="文本框 573" descr="{&quot;isTemplate&quot;:true,&quot;type&quot;:&quot;text&quot;}"/>
              <p:cNvSpPr txBox="1"/>
              <p:nvPr/>
            </p:nvSpPr>
            <p:spPr>
              <a:xfrm>
                <a:off x="8430" y="1875"/>
                <a:ext cx="8880" cy="315"/>
              </a:xfrm>
              <a:prstGeom prst="rect">
                <a:avLst/>
              </a:prstGeom>
            </p:spPr>
            <p:txBody>
              <a:bodyPr wrap="none" lIns="0" tIns="0" rIns="0" bIns="0"/>
              <a:lstStyle/>
              <a:p>
                <a:pPr>
                  <a:lnSpc>
                    <a:spcPct val="100000"/>
                  </a:lnSpc>
                </a:pPr>
                <a:r>
                  <a:rPr lang="zh-CN" sz="1600" b="1">
                    <a:solidFill>
                      <a:srgbClr val="1E3A8A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芯片层</a:t>
                </a:r>
                <a:r>
                  <a:rPr lang="en-US" sz="1600" b="1">
                    <a:solidFill>
                      <a:srgbClr val="1E3A8A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 · </a:t>
                </a:r>
                <a:r>
                  <a:rPr lang="zh-CN" sz="1600" b="1">
                    <a:solidFill>
                      <a:srgbClr val="1E3A8A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国产</a:t>
                </a:r>
                <a:r>
                  <a:rPr lang="en-US" sz="1600" b="1">
                    <a:solidFill>
                      <a:srgbClr val="1E3A8A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AI</a:t>
                </a:r>
                <a:r>
                  <a:rPr lang="zh-CN" sz="1600" b="1">
                    <a:solidFill>
                      <a:srgbClr val="1E3A8A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算力</a:t>
                </a:r>
              </a:p>
            </p:txBody>
          </p:sp>
          <p:sp>
            <p:nvSpPr>
              <p:cNvPr id="575" name="文本框 574" descr="{&quot;isTemplate&quot;:true,&quot;type&quot;:&quot;text&quot;}"/>
              <p:cNvSpPr txBox="1"/>
              <p:nvPr/>
            </p:nvSpPr>
            <p:spPr>
              <a:xfrm>
                <a:off x="8430" y="2268"/>
                <a:ext cx="8880" cy="240"/>
              </a:xfrm>
              <a:prstGeom prst="rect">
                <a:avLst/>
              </a:prstGeom>
            </p:spPr>
            <p:txBody>
              <a:bodyPr wrap="none" lIns="0" tIns="0" rIns="0" bIns="0"/>
              <a:lstStyle/>
              <a:p>
                <a:pPr>
                  <a:lnSpc>
                    <a:spcPct val="100000"/>
                  </a:lnSpc>
                </a:pPr>
                <a:r>
                  <a:rPr lang="zh-CN" sz="1080">
                    <a:solidFill>
                      <a:srgbClr val="64748B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瑞芯微</a:t>
                </a:r>
                <a:r>
                  <a:rPr lang="en-US" sz="1080">
                    <a:solidFill>
                      <a:srgbClr val="64748B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RK3588(6TOPS NPU) · </a:t>
                </a:r>
                <a:r>
                  <a:rPr lang="zh-CN" sz="1080">
                    <a:solidFill>
                      <a:srgbClr val="64748B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华为昇腾</a:t>
                </a:r>
                <a:r>
                  <a:rPr lang="en-US" sz="1080">
                    <a:solidFill>
                      <a:srgbClr val="64748B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Atlas 200I · </a:t>
                </a:r>
                <a:r>
                  <a:rPr lang="zh-CN" sz="1080">
                    <a:solidFill>
                      <a:srgbClr val="64748B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晶晨</a:t>
                </a:r>
                <a:r>
                  <a:rPr lang="en-US" sz="1080">
                    <a:solidFill>
                      <a:srgbClr val="64748B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A311D · </a:t>
                </a:r>
                <a:r>
                  <a:rPr lang="zh-CN" sz="1080">
                    <a:solidFill>
                      <a:srgbClr val="64748B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全志</a:t>
                </a:r>
                <a:r>
                  <a:rPr lang="en-US" sz="1080">
                    <a:solidFill>
                      <a:srgbClr val="64748B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T527</a:t>
                </a:r>
              </a:p>
            </p:txBody>
          </p:sp>
          <p:sp>
            <p:nvSpPr>
              <p:cNvPr id="576" name="圆角矩形 575"/>
              <p:cNvSpPr/>
              <p:nvPr/>
            </p:nvSpPr>
            <p:spPr>
              <a:xfrm>
                <a:off x="17520" y="1995"/>
                <a:ext cx="510" cy="345"/>
              </a:xfrm>
              <a:prstGeom prst="roundRect">
                <a:avLst>
                  <a:gd name="adj" fmla="val 26087"/>
                </a:avLst>
              </a:prstGeom>
              <a:solidFill>
                <a:srgbClr val="1E3A8A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77" name="文本框 576" descr="{&quot;isTemplate&quot;:true,&quot;type&quot;:&quot;text&quot;}"/>
              <p:cNvSpPr txBox="1"/>
              <p:nvPr/>
            </p:nvSpPr>
            <p:spPr>
              <a:xfrm>
                <a:off x="17670" y="2055"/>
                <a:ext cx="210" cy="225"/>
              </a:xfrm>
              <a:prstGeom prst="rect">
                <a:avLst/>
              </a:prstGeom>
            </p:spPr>
            <p:txBody>
              <a:bodyPr wrap="none" lIns="0" tIns="0" rIns="0" bIns="0"/>
              <a:lstStyle/>
              <a:p>
                <a:pPr>
                  <a:lnSpc>
                    <a:spcPct val="100000"/>
                  </a:lnSpc>
                </a:pPr>
                <a:r>
                  <a:rPr lang="en-US" sz="900" b="1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L1</a:t>
                </a:r>
              </a:p>
            </p:txBody>
          </p:sp>
          <p:pic>
            <p:nvPicPr>
              <p:cNvPr id="72" name="图片 71"/>
              <p:cNvPicPr>
                <a:picLocks noChangeAspect="1"/>
              </p:cNvPicPr>
              <p:nvPr/>
            </p:nvPicPr>
            <p:blipFill>
              <a:blip/>
              <a:stretch>
                <a:fillRect/>
              </a:stretch>
            </p:blipFill>
            <p:spPr>
              <a:xfrm>
                <a:off x="7742" y="2010"/>
                <a:ext cx="270" cy="270"/>
              </a:xfrm>
              <a:prstGeom prst="rect">
                <a:avLst/>
              </a:prstGeom>
            </p:spPr>
          </p:pic>
        </p:grpSp>
        <p:grpSp>
          <p:nvGrpSpPr>
            <p:cNvPr id="10" name="组合 9"/>
            <p:cNvGrpSpPr/>
            <p:nvPr/>
          </p:nvGrpSpPr>
          <p:grpSpPr>
            <a:xfrm>
              <a:off x="7290" y="2850"/>
              <a:ext cx="11010" cy="1080"/>
              <a:chOff x="7290" y="2850"/>
              <a:chExt cx="11010" cy="1080"/>
            </a:xfrm>
          </p:grpSpPr>
          <p:sp>
            <p:nvSpPr>
              <p:cNvPr id="578" name="圆角矩形 577"/>
              <p:cNvSpPr/>
              <p:nvPr/>
            </p:nvSpPr>
            <p:spPr>
              <a:xfrm>
                <a:off x="7290" y="2850"/>
                <a:ext cx="11010" cy="1080"/>
              </a:xfrm>
              <a:prstGeom prst="roundRect">
                <a:avLst>
                  <a:gd name="adj" fmla="val 16667"/>
                </a:avLst>
              </a:prstGeom>
              <a:solidFill>
                <a:srgbClr val="ECFEFF"/>
              </a:solidFill>
              <a:ln w="25400">
                <a:solidFill>
                  <a:srgbClr val="06B6D4"/>
                </a:solidFill>
                <a:prstDash val="soli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79" name="圆角矩形 578"/>
              <p:cNvSpPr/>
              <p:nvPr/>
            </p:nvSpPr>
            <p:spPr>
              <a:xfrm>
                <a:off x="7560" y="3060"/>
                <a:ext cx="660" cy="660"/>
              </a:xfrm>
              <a:prstGeom prst="roundRect">
                <a:avLst>
                  <a:gd name="adj" fmla="val 22727"/>
                </a:avLst>
              </a:prstGeom>
              <a:solidFill>
                <a:srgbClr val="06B6D4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81" name="文本框 580" descr="{&quot;isTemplate&quot;:true,&quot;type&quot;:&quot;text&quot;}"/>
              <p:cNvSpPr txBox="1"/>
              <p:nvPr/>
            </p:nvSpPr>
            <p:spPr>
              <a:xfrm>
                <a:off x="8430" y="3105"/>
                <a:ext cx="8880" cy="315"/>
              </a:xfrm>
              <a:prstGeom prst="rect">
                <a:avLst/>
              </a:prstGeom>
            </p:spPr>
            <p:txBody>
              <a:bodyPr wrap="none" lIns="0" tIns="0" rIns="0" bIns="0"/>
              <a:lstStyle/>
              <a:p>
                <a:pPr>
                  <a:lnSpc>
                    <a:spcPct val="100000"/>
                  </a:lnSpc>
                </a:pPr>
                <a:r>
                  <a:rPr lang="zh-CN" sz="1600" b="1">
                    <a:solidFill>
                      <a:srgbClr val="0891B2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操作系统层</a:t>
                </a:r>
                <a:r>
                  <a:rPr lang="en-US" sz="1600" b="1">
                    <a:solidFill>
                      <a:srgbClr val="0891B2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 · </a:t>
                </a:r>
                <a:r>
                  <a:rPr lang="zh-CN" sz="1600" b="1">
                    <a:solidFill>
                      <a:srgbClr val="0891B2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开源路由</a:t>
                </a:r>
                <a:r>
                  <a:rPr lang="en-US" sz="1600" b="1">
                    <a:solidFill>
                      <a:srgbClr val="0891B2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OS</a:t>
                </a:r>
              </a:p>
            </p:txBody>
          </p:sp>
          <p:sp>
            <p:nvSpPr>
              <p:cNvPr id="582" name="文本框 581" descr="{&quot;isTemplate&quot;:true,&quot;type&quot;:&quot;text&quot;}"/>
              <p:cNvSpPr txBox="1"/>
              <p:nvPr/>
            </p:nvSpPr>
            <p:spPr>
              <a:xfrm>
                <a:off x="8430" y="3498"/>
                <a:ext cx="8880" cy="240"/>
              </a:xfrm>
              <a:prstGeom prst="rect">
                <a:avLst/>
              </a:prstGeom>
            </p:spPr>
            <p:txBody>
              <a:bodyPr wrap="none" lIns="0" tIns="0" rIns="0" bIns="0"/>
              <a:lstStyle/>
              <a:p>
                <a:pPr>
                  <a:lnSpc>
                    <a:spcPct val="100000"/>
                  </a:lnSpc>
                </a:pPr>
                <a:r>
                  <a:rPr lang="en-US" sz="1080">
                    <a:solidFill>
                      <a:srgbClr val="64748B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OpenWrt(</a:t>
                </a:r>
                <a:r>
                  <a:rPr lang="zh-CN" sz="1080">
                    <a:solidFill>
                      <a:srgbClr val="64748B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飞流</a:t>
                </a:r>
                <a:r>
                  <a:rPr lang="en-US" sz="1080">
                    <a:solidFill>
                      <a:srgbClr val="64748B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OS</a:t>
                </a:r>
                <a:r>
                  <a:rPr lang="zh-CN" sz="1080">
                    <a:solidFill>
                      <a:srgbClr val="64748B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发行版</a:t>
                </a:r>
                <a:r>
                  <a:rPr lang="en-US" sz="1080">
                    <a:solidFill>
                      <a:srgbClr val="64748B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) · iStoreOS · </a:t>
                </a:r>
                <a:r>
                  <a:rPr lang="zh-CN" sz="1080">
                    <a:solidFill>
                      <a:srgbClr val="64748B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银河麒麟嵌入式</a:t>
                </a:r>
                <a:r>
                  <a:rPr lang="en-US" sz="1080">
                    <a:solidFill>
                      <a:srgbClr val="64748B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 · </a:t>
                </a:r>
                <a:r>
                  <a:rPr lang="zh-CN" sz="1080">
                    <a:solidFill>
                      <a:srgbClr val="64748B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统信</a:t>
                </a:r>
                <a:r>
                  <a:rPr lang="en-US" sz="1080">
                    <a:solidFill>
                      <a:srgbClr val="64748B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UOS</a:t>
                </a:r>
                <a:r>
                  <a:rPr lang="zh-CN" sz="1080">
                    <a:solidFill>
                      <a:srgbClr val="64748B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边缘版</a:t>
                </a:r>
              </a:p>
            </p:txBody>
          </p:sp>
          <p:sp>
            <p:nvSpPr>
              <p:cNvPr id="583" name="圆角矩形 582"/>
              <p:cNvSpPr/>
              <p:nvPr/>
            </p:nvSpPr>
            <p:spPr>
              <a:xfrm>
                <a:off x="17520" y="3225"/>
                <a:ext cx="510" cy="345"/>
              </a:xfrm>
              <a:prstGeom prst="roundRect">
                <a:avLst>
                  <a:gd name="adj" fmla="val 26087"/>
                </a:avLst>
              </a:prstGeom>
              <a:solidFill>
                <a:srgbClr val="06B6D4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84" name="文本框 583" descr="{&quot;isTemplate&quot;:true,&quot;type&quot;:&quot;text&quot;}"/>
              <p:cNvSpPr txBox="1"/>
              <p:nvPr/>
            </p:nvSpPr>
            <p:spPr>
              <a:xfrm>
                <a:off x="17670" y="3285"/>
                <a:ext cx="210" cy="225"/>
              </a:xfrm>
              <a:prstGeom prst="rect">
                <a:avLst/>
              </a:prstGeom>
            </p:spPr>
            <p:txBody>
              <a:bodyPr wrap="none" lIns="0" tIns="0" rIns="0" bIns="0"/>
              <a:lstStyle/>
              <a:p>
                <a:pPr>
                  <a:lnSpc>
                    <a:spcPct val="100000"/>
                  </a:lnSpc>
                </a:pPr>
                <a:r>
                  <a:rPr lang="en-US" sz="900" b="1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L2</a:t>
                </a:r>
              </a:p>
            </p:txBody>
          </p:sp>
          <p:pic>
            <p:nvPicPr>
              <p:cNvPr id="73" name="图片 72"/>
              <p:cNvPicPr>
                <a:picLocks noChangeAspect="1"/>
              </p:cNvPicPr>
              <p:nvPr/>
            </p:nvPicPr>
            <p:blipFill>
              <a:blip/>
              <a:stretch>
                <a:fillRect/>
              </a:stretch>
            </p:blipFill>
            <p:spPr>
              <a:xfrm>
                <a:off x="7742" y="3230"/>
                <a:ext cx="270" cy="270"/>
              </a:xfrm>
              <a:prstGeom prst="rect">
                <a:avLst/>
              </a:prstGeom>
            </p:spPr>
          </p:pic>
        </p:grpSp>
        <p:grpSp>
          <p:nvGrpSpPr>
            <p:cNvPr id="9" name="组合 8"/>
            <p:cNvGrpSpPr/>
            <p:nvPr/>
          </p:nvGrpSpPr>
          <p:grpSpPr>
            <a:xfrm>
              <a:off x="7290" y="4080"/>
              <a:ext cx="11010" cy="1080"/>
              <a:chOff x="7290" y="4080"/>
              <a:chExt cx="11010" cy="1080"/>
            </a:xfrm>
          </p:grpSpPr>
          <p:sp>
            <p:nvSpPr>
              <p:cNvPr id="585" name="圆角矩形 584"/>
              <p:cNvSpPr/>
              <p:nvPr/>
            </p:nvSpPr>
            <p:spPr>
              <a:xfrm>
                <a:off x="7290" y="4080"/>
                <a:ext cx="11010" cy="1080"/>
              </a:xfrm>
              <a:prstGeom prst="roundRect">
                <a:avLst>
                  <a:gd name="adj" fmla="val 16667"/>
                </a:avLst>
              </a:prstGeom>
              <a:solidFill>
                <a:srgbClr val="FFFBEB"/>
              </a:solidFill>
              <a:ln w="25400">
                <a:solidFill>
                  <a:srgbClr val="F59E0B"/>
                </a:solidFill>
                <a:prstDash val="soli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86" name="圆角矩形 585"/>
              <p:cNvSpPr/>
              <p:nvPr/>
            </p:nvSpPr>
            <p:spPr>
              <a:xfrm>
                <a:off x="7560" y="4290"/>
                <a:ext cx="660" cy="660"/>
              </a:xfrm>
              <a:prstGeom prst="roundRect">
                <a:avLst>
                  <a:gd name="adj" fmla="val 22727"/>
                </a:avLst>
              </a:prstGeom>
              <a:solidFill>
                <a:srgbClr val="F59E0B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88" name="文本框 587" descr="{&quot;isTemplate&quot;:true,&quot;type&quot;:&quot;text&quot;}"/>
              <p:cNvSpPr txBox="1"/>
              <p:nvPr/>
            </p:nvSpPr>
            <p:spPr>
              <a:xfrm>
                <a:off x="8430" y="4335"/>
                <a:ext cx="8880" cy="315"/>
              </a:xfrm>
              <a:prstGeom prst="rect">
                <a:avLst/>
              </a:prstGeom>
            </p:spPr>
            <p:txBody>
              <a:bodyPr wrap="none" lIns="0" tIns="0" rIns="0" bIns="0"/>
              <a:lstStyle/>
              <a:p>
                <a:pPr>
                  <a:lnSpc>
                    <a:spcPct val="100000"/>
                  </a:lnSpc>
                </a:pPr>
                <a:r>
                  <a:rPr lang="zh-CN" sz="1600" b="1">
                    <a:solidFill>
                      <a:srgbClr val="B45309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大模型层</a:t>
                </a:r>
                <a:r>
                  <a:rPr lang="en-US" sz="1600" b="1">
                    <a:solidFill>
                      <a:srgbClr val="B45309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 · </a:t>
                </a:r>
                <a:r>
                  <a:rPr lang="zh-CN" sz="1600" b="1">
                    <a:solidFill>
                      <a:srgbClr val="B45309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国产开源</a:t>
                </a:r>
                <a:r>
                  <a:rPr lang="en-US" sz="1600" b="1">
                    <a:solidFill>
                      <a:srgbClr val="B45309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LLM</a:t>
                </a:r>
              </a:p>
            </p:txBody>
          </p:sp>
          <p:sp>
            <p:nvSpPr>
              <p:cNvPr id="589" name="文本框 588" descr="{&quot;isTemplate&quot;:true,&quot;type&quot;:&quot;text&quot;}"/>
              <p:cNvSpPr txBox="1"/>
              <p:nvPr/>
            </p:nvSpPr>
            <p:spPr>
              <a:xfrm>
                <a:off x="8430" y="4728"/>
                <a:ext cx="8880" cy="240"/>
              </a:xfrm>
              <a:prstGeom prst="rect">
                <a:avLst/>
              </a:prstGeom>
            </p:spPr>
            <p:txBody>
              <a:bodyPr wrap="none" lIns="0" tIns="0" rIns="0" bIns="0"/>
              <a:lstStyle/>
              <a:p>
                <a:pPr algn="l">
                  <a:lnSpc>
                    <a:spcPct val="100000"/>
                  </a:lnSpc>
                </a:pPr>
                <a:r>
                  <a:rPr lang="zh-CN" altLang="en-US" sz="1080">
                    <a:solidFill>
                      <a:srgbClr val="64748B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医康养大模型</a:t>
                </a:r>
                <a:r>
                  <a:rPr lang="en-US" sz="1080">
                    <a:solidFill>
                      <a:srgbClr val="64748B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 · </a:t>
                </a:r>
                <a:r>
                  <a:rPr lang="en-US" sz="1080">
                    <a:solidFill>
                      <a:srgbClr val="64748B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Qwen3/Qwen3.5 · GLM-4 · DeepSeek-R4 · home-3b-v3(HA</a:t>
                </a:r>
                <a:r>
                  <a:rPr lang="zh-CN" sz="1080">
                    <a:solidFill>
                      <a:srgbClr val="64748B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微调</a:t>
                </a:r>
                <a:r>
                  <a:rPr lang="en-US" sz="1080">
                    <a:solidFill>
                      <a:srgbClr val="64748B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)</a:t>
                </a:r>
              </a:p>
            </p:txBody>
          </p:sp>
          <p:sp>
            <p:nvSpPr>
              <p:cNvPr id="590" name="圆角矩形 589"/>
              <p:cNvSpPr/>
              <p:nvPr/>
            </p:nvSpPr>
            <p:spPr>
              <a:xfrm>
                <a:off x="17520" y="4455"/>
                <a:ext cx="510" cy="345"/>
              </a:xfrm>
              <a:prstGeom prst="roundRect">
                <a:avLst>
                  <a:gd name="adj" fmla="val 26087"/>
                </a:avLst>
              </a:prstGeom>
              <a:solidFill>
                <a:srgbClr val="F59E0B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91" name="文本框 590" descr="{&quot;isTemplate&quot;:true,&quot;type&quot;:&quot;text&quot;}"/>
              <p:cNvSpPr txBox="1"/>
              <p:nvPr/>
            </p:nvSpPr>
            <p:spPr>
              <a:xfrm>
                <a:off x="17670" y="4515"/>
                <a:ext cx="210" cy="225"/>
              </a:xfrm>
              <a:prstGeom prst="rect">
                <a:avLst/>
              </a:prstGeom>
            </p:spPr>
            <p:txBody>
              <a:bodyPr wrap="none" lIns="0" tIns="0" rIns="0" bIns="0"/>
              <a:lstStyle/>
              <a:p>
                <a:pPr>
                  <a:lnSpc>
                    <a:spcPct val="100000"/>
                  </a:lnSpc>
                </a:pPr>
                <a:r>
                  <a:rPr lang="en-US" sz="900" b="1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L3</a:t>
                </a:r>
              </a:p>
            </p:txBody>
          </p:sp>
          <p:pic>
            <p:nvPicPr>
              <p:cNvPr id="74" name="图片 73"/>
              <p:cNvPicPr>
                <a:picLocks noChangeAspect="1"/>
              </p:cNvPicPr>
              <p:nvPr/>
            </p:nvPicPr>
            <p:blipFill>
              <a:blip/>
              <a:stretch>
                <a:fillRect/>
              </a:stretch>
            </p:blipFill>
            <p:spPr>
              <a:xfrm>
                <a:off x="7755" y="4475"/>
                <a:ext cx="270" cy="270"/>
              </a:xfrm>
              <a:prstGeom prst="rect">
                <a:avLst/>
              </a:prstGeom>
            </p:spPr>
          </p:pic>
        </p:grpSp>
        <p:grpSp>
          <p:nvGrpSpPr>
            <p:cNvPr id="8" name="组合 7"/>
            <p:cNvGrpSpPr/>
            <p:nvPr/>
          </p:nvGrpSpPr>
          <p:grpSpPr>
            <a:xfrm>
              <a:off x="7290" y="5310"/>
              <a:ext cx="11010" cy="1080"/>
              <a:chOff x="7290" y="5310"/>
              <a:chExt cx="11010" cy="1080"/>
            </a:xfrm>
          </p:grpSpPr>
          <p:sp>
            <p:nvSpPr>
              <p:cNvPr id="592" name="圆角矩形 591"/>
              <p:cNvSpPr/>
              <p:nvPr/>
            </p:nvSpPr>
            <p:spPr>
              <a:xfrm>
                <a:off x="7290" y="5310"/>
                <a:ext cx="11010" cy="1080"/>
              </a:xfrm>
              <a:prstGeom prst="roundRect">
                <a:avLst>
                  <a:gd name="adj" fmla="val 16667"/>
                </a:avLst>
              </a:prstGeom>
              <a:solidFill>
                <a:srgbClr val="EFF6FF"/>
              </a:solidFill>
              <a:ln w="25400">
                <a:solidFill>
                  <a:srgbClr val="3B82F6"/>
                </a:solidFill>
                <a:prstDash val="soli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93" name="圆角矩形 592"/>
              <p:cNvSpPr/>
              <p:nvPr/>
            </p:nvSpPr>
            <p:spPr>
              <a:xfrm>
                <a:off x="7560" y="5520"/>
                <a:ext cx="660" cy="660"/>
              </a:xfrm>
              <a:prstGeom prst="roundRect">
                <a:avLst>
                  <a:gd name="adj" fmla="val 22727"/>
                </a:avLst>
              </a:prstGeom>
              <a:solidFill>
                <a:srgbClr val="3B82F6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95" name="文本框 594" descr="{&quot;isTemplate&quot;:true,&quot;type&quot;:&quot;text&quot;}"/>
              <p:cNvSpPr txBox="1"/>
              <p:nvPr/>
            </p:nvSpPr>
            <p:spPr>
              <a:xfrm>
                <a:off x="8430" y="5565"/>
                <a:ext cx="8880" cy="315"/>
              </a:xfrm>
              <a:prstGeom prst="rect">
                <a:avLst/>
              </a:prstGeom>
            </p:spPr>
            <p:txBody>
              <a:bodyPr wrap="none" lIns="0" tIns="0" rIns="0" bIns="0"/>
              <a:lstStyle/>
              <a:p>
                <a:pPr>
                  <a:lnSpc>
                    <a:spcPct val="100000"/>
                  </a:lnSpc>
                </a:pPr>
                <a:r>
                  <a:rPr lang="zh-CN" sz="16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协议层</a:t>
                </a:r>
                <a:r>
                  <a:rPr lang="en-US" sz="16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 · IoT</a:t>
                </a:r>
                <a:r>
                  <a:rPr lang="zh-CN" sz="16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标准协议</a:t>
                </a:r>
              </a:p>
            </p:txBody>
          </p:sp>
          <p:sp>
            <p:nvSpPr>
              <p:cNvPr id="596" name="文本框 595" descr="{&quot;isTemplate&quot;:true,&quot;type&quot;:&quot;text&quot;}"/>
              <p:cNvSpPr txBox="1"/>
              <p:nvPr/>
            </p:nvSpPr>
            <p:spPr>
              <a:xfrm>
                <a:off x="8430" y="5958"/>
                <a:ext cx="8880" cy="240"/>
              </a:xfrm>
              <a:prstGeom prst="rect">
                <a:avLst/>
              </a:prstGeom>
            </p:spPr>
            <p:txBody>
              <a:bodyPr wrap="none" lIns="0" tIns="0" rIns="0" bIns="0"/>
              <a:lstStyle/>
              <a:p>
                <a:pPr>
                  <a:lnSpc>
                    <a:spcPct val="100000"/>
                  </a:lnSpc>
                </a:pPr>
                <a:r>
                  <a:rPr lang="en-US" sz="1080">
                    <a:solidFill>
                      <a:srgbClr val="64748B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Matter 1.5.1(IPSO</a:t>
                </a:r>
                <a:r>
                  <a:rPr lang="zh-CN" sz="1080">
                    <a:solidFill>
                      <a:srgbClr val="64748B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联盟</a:t>
                </a:r>
                <a:r>
                  <a:rPr lang="en-US" sz="1080">
                    <a:solidFill>
                      <a:srgbClr val="64748B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) · Thread · MQTT 5.0(OASIS) · Zigbee 3.0 · MCP</a:t>
                </a:r>
                <a:r>
                  <a:rPr lang="zh-CN" sz="1080">
                    <a:solidFill>
                      <a:srgbClr val="64748B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协议等</a:t>
                </a:r>
              </a:p>
            </p:txBody>
          </p:sp>
          <p:sp>
            <p:nvSpPr>
              <p:cNvPr id="597" name="圆角矩形 596"/>
              <p:cNvSpPr/>
              <p:nvPr/>
            </p:nvSpPr>
            <p:spPr>
              <a:xfrm>
                <a:off x="17520" y="5685"/>
                <a:ext cx="510" cy="345"/>
              </a:xfrm>
              <a:prstGeom prst="roundRect">
                <a:avLst>
                  <a:gd name="adj" fmla="val 26087"/>
                </a:avLst>
              </a:prstGeom>
              <a:solidFill>
                <a:srgbClr val="3B82F6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98" name="文本框 597" descr="{&quot;isTemplate&quot;:true,&quot;type&quot;:&quot;text&quot;}"/>
              <p:cNvSpPr txBox="1"/>
              <p:nvPr/>
            </p:nvSpPr>
            <p:spPr>
              <a:xfrm>
                <a:off x="17670" y="5745"/>
                <a:ext cx="210" cy="225"/>
              </a:xfrm>
              <a:prstGeom prst="rect">
                <a:avLst/>
              </a:prstGeom>
            </p:spPr>
            <p:txBody>
              <a:bodyPr wrap="none" lIns="0" tIns="0" rIns="0" bIns="0"/>
              <a:lstStyle/>
              <a:p>
                <a:pPr>
                  <a:lnSpc>
                    <a:spcPct val="100000"/>
                  </a:lnSpc>
                </a:pPr>
                <a:r>
                  <a:rPr lang="en-US" sz="900" b="1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L4</a:t>
                </a:r>
              </a:p>
            </p:txBody>
          </p:sp>
          <p:pic>
            <p:nvPicPr>
              <p:cNvPr id="75" name="图片 74"/>
              <p:cNvPicPr>
                <a:picLocks noChangeAspect="1"/>
              </p:cNvPicPr>
              <p:nvPr/>
            </p:nvPicPr>
            <p:blipFill>
              <a:blip/>
              <a:stretch>
                <a:fillRect/>
              </a:stretch>
            </p:blipFill>
            <p:spPr>
              <a:xfrm>
                <a:off x="7755" y="5721"/>
                <a:ext cx="270" cy="270"/>
              </a:xfrm>
              <a:prstGeom prst="rect">
                <a:avLst/>
              </a:prstGeom>
            </p:spPr>
          </p:pic>
        </p:grpSp>
        <p:grpSp>
          <p:nvGrpSpPr>
            <p:cNvPr id="6" name="组合 5"/>
            <p:cNvGrpSpPr/>
            <p:nvPr/>
          </p:nvGrpSpPr>
          <p:grpSpPr>
            <a:xfrm>
              <a:off x="7290" y="6540"/>
              <a:ext cx="11010" cy="1080"/>
              <a:chOff x="7290" y="6540"/>
              <a:chExt cx="11010" cy="1080"/>
            </a:xfrm>
          </p:grpSpPr>
          <p:sp>
            <p:nvSpPr>
              <p:cNvPr id="599" name="圆角矩形 598"/>
              <p:cNvSpPr/>
              <p:nvPr/>
            </p:nvSpPr>
            <p:spPr>
              <a:xfrm>
                <a:off x="7290" y="6540"/>
                <a:ext cx="11010" cy="1080"/>
              </a:xfrm>
              <a:prstGeom prst="roundRect">
                <a:avLst>
                  <a:gd name="adj" fmla="val 16667"/>
                </a:avLst>
              </a:prstGeom>
              <a:solidFill>
                <a:srgbClr val="F0FDF4"/>
              </a:solidFill>
              <a:ln w="25400">
                <a:solidFill>
                  <a:srgbClr val="10B981"/>
                </a:solidFill>
                <a:prstDash val="soli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00" name="圆角矩形 599"/>
              <p:cNvSpPr/>
              <p:nvPr/>
            </p:nvSpPr>
            <p:spPr>
              <a:xfrm>
                <a:off x="7560" y="6750"/>
                <a:ext cx="660" cy="660"/>
              </a:xfrm>
              <a:prstGeom prst="roundRect">
                <a:avLst>
                  <a:gd name="adj" fmla="val 22727"/>
                </a:avLst>
              </a:prstGeom>
              <a:solidFill>
                <a:srgbClr val="10B981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02" name="文本框 601" descr="{&quot;isTemplate&quot;:true,&quot;type&quot;:&quot;text&quot;}"/>
              <p:cNvSpPr txBox="1"/>
              <p:nvPr/>
            </p:nvSpPr>
            <p:spPr>
              <a:xfrm>
                <a:off x="8430" y="6795"/>
                <a:ext cx="8880" cy="315"/>
              </a:xfrm>
              <a:prstGeom prst="rect">
                <a:avLst/>
              </a:prstGeom>
            </p:spPr>
            <p:txBody>
              <a:bodyPr wrap="none" lIns="0" tIns="0" rIns="0" bIns="0"/>
              <a:lstStyle/>
              <a:p>
                <a:pPr>
                  <a:lnSpc>
                    <a:spcPct val="100000"/>
                  </a:lnSpc>
                </a:pPr>
                <a:r>
                  <a:rPr lang="zh-CN" sz="1600" b="1">
                    <a:solidFill>
                      <a:srgbClr val="059669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密码算法层</a:t>
                </a:r>
                <a:r>
                  <a:rPr lang="en-US" sz="1600" b="1">
                    <a:solidFill>
                      <a:srgbClr val="059669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 · </a:t>
                </a:r>
                <a:r>
                  <a:rPr lang="zh-CN" sz="1600" b="1">
                    <a:solidFill>
                      <a:srgbClr val="059669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国密体系</a:t>
                </a:r>
              </a:p>
            </p:txBody>
          </p:sp>
          <p:sp>
            <p:nvSpPr>
              <p:cNvPr id="603" name="文本框 602" descr="{&quot;isTemplate&quot;:true,&quot;type&quot;:&quot;text&quot;}"/>
              <p:cNvSpPr txBox="1"/>
              <p:nvPr/>
            </p:nvSpPr>
            <p:spPr>
              <a:xfrm>
                <a:off x="8430" y="7188"/>
                <a:ext cx="8880" cy="240"/>
              </a:xfrm>
              <a:prstGeom prst="rect">
                <a:avLst/>
              </a:prstGeom>
            </p:spPr>
            <p:txBody>
              <a:bodyPr wrap="none" lIns="0" tIns="0" rIns="0" bIns="0"/>
              <a:lstStyle/>
              <a:p>
                <a:pPr>
                  <a:lnSpc>
                    <a:spcPct val="100000"/>
                  </a:lnSpc>
                </a:pPr>
                <a:r>
                  <a:rPr lang="en-US" sz="1080">
                    <a:solidFill>
                      <a:srgbClr val="64748B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SM2(</a:t>
                </a:r>
                <a:r>
                  <a:rPr lang="zh-CN" sz="1080">
                    <a:solidFill>
                      <a:srgbClr val="64748B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椭圆曲线公钥</a:t>
                </a:r>
                <a:r>
                  <a:rPr lang="en-US" sz="1080">
                    <a:solidFill>
                      <a:srgbClr val="64748B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) · SM3(</a:t>
                </a:r>
                <a:r>
                  <a:rPr lang="zh-CN" sz="1080">
                    <a:solidFill>
                      <a:srgbClr val="64748B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杂凑</a:t>
                </a:r>
                <a:r>
                  <a:rPr lang="en-US" sz="1080">
                    <a:solidFill>
                      <a:srgbClr val="64748B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) · SM4(</a:t>
                </a:r>
                <a:r>
                  <a:rPr lang="zh-CN" sz="1080">
                    <a:solidFill>
                      <a:srgbClr val="64748B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分组对称</a:t>
                </a:r>
                <a:r>
                  <a:rPr lang="en-US" sz="1080">
                    <a:solidFill>
                      <a:srgbClr val="64748B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) · TLS 1.3</a:t>
                </a:r>
                <a:r>
                  <a:rPr lang="zh-CN" sz="1080">
                    <a:solidFill>
                      <a:srgbClr val="64748B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国密套件</a:t>
                </a:r>
                <a:r>
                  <a:rPr lang="en-US" sz="1080">
                    <a:solidFill>
                      <a:srgbClr val="64748B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 · HSM</a:t>
                </a:r>
                <a:r>
                  <a:rPr lang="zh-CN" sz="1080">
                    <a:solidFill>
                      <a:srgbClr val="64748B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硬件密钥</a:t>
                </a:r>
              </a:p>
            </p:txBody>
          </p:sp>
          <p:sp>
            <p:nvSpPr>
              <p:cNvPr id="604" name="圆角矩形 603"/>
              <p:cNvSpPr/>
              <p:nvPr/>
            </p:nvSpPr>
            <p:spPr>
              <a:xfrm>
                <a:off x="17520" y="6903"/>
                <a:ext cx="510" cy="345"/>
              </a:xfrm>
              <a:prstGeom prst="roundRect">
                <a:avLst>
                  <a:gd name="adj" fmla="val 26087"/>
                </a:avLst>
              </a:prstGeom>
              <a:solidFill>
                <a:srgbClr val="10B981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05" name="文本框 604" descr="{&quot;isTemplate&quot;:true,&quot;type&quot;:&quot;text&quot;}"/>
              <p:cNvSpPr txBox="1"/>
              <p:nvPr/>
            </p:nvSpPr>
            <p:spPr>
              <a:xfrm>
                <a:off x="17670" y="6963"/>
                <a:ext cx="210" cy="225"/>
              </a:xfrm>
              <a:prstGeom prst="rect">
                <a:avLst/>
              </a:prstGeom>
            </p:spPr>
            <p:txBody>
              <a:bodyPr wrap="none" lIns="0" tIns="0" rIns="0" bIns="0"/>
              <a:lstStyle/>
              <a:p>
                <a:pPr>
                  <a:lnSpc>
                    <a:spcPct val="100000"/>
                  </a:lnSpc>
                </a:pPr>
                <a:r>
                  <a:rPr lang="en-US" sz="900" b="1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L5</a:t>
                </a:r>
              </a:p>
            </p:txBody>
          </p:sp>
          <p:pic>
            <p:nvPicPr>
              <p:cNvPr id="77" name="图片 76"/>
              <p:cNvPicPr>
                <a:picLocks noChangeAspect="1"/>
              </p:cNvPicPr>
              <p:nvPr/>
            </p:nvPicPr>
            <p:blipFill>
              <a:blip/>
              <a:stretch>
                <a:fillRect/>
              </a:stretch>
            </p:blipFill>
            <p:spPr>
              <a:xfrm>
                <a:off x="7755" y="6932"/>
                <a:ext cx="270" cy="270"/>
              </a:xfrm>
              <a:prstGeom prst="rect">
                <a:avLst/>
              </a:prstGeom>
            </p:spPr>
          </p:pic>
        </p:grpSp>
      </p:grpSp>
      <p:sp>
        <p:nvSpPr>
          <p:cNvPr id="103" name="TextBox 1"/>
          <p:cNvSpPr txBox="1"/>
          <p:nvPr/>
        </p:nvSpPr>
        <p:spPr>
          <a:xfrm>
            <a:off x="172720" y="140970"/>
            <a:ext cx="4603115" cy="460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zh-CN" altLang="en-US" sz="2400" b="1">
                <a:solidFill>
                  <a:srgbClr val="063591"/>
                </a:solidFill>
                <a:latin typeface="Times New Roman" panose="02020603050405020304" charset="0"/>
                <a:ea typeface="微软雅黑" panose="020B0503020204020204" charset="-122"/>
              </a:rPr>
              <a:t>五层自主可控技术栈</a:t>
            </a:r>
          </a:p>
        </p:txBody>
      </p:sp>
      <p:sp>
        <p:nvSpPr>
          <p:cNvPr id="104" name="TextBox 2"/>
          <p:cNvSpPr txBox="1"/>
          <p:nvPr/>
        </p:nvSpPr>
        <p:spPr>
          <a:xfrm>
            <a:off x="172720" y="601345"/>
            <a:ext cx="6819900" cy="3067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zh-CN" altLang="en-US" sz="1400" b="0">
                <a:solidFill>
                  <a:srgbClr val="06359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从芯片、操作系统、大模型到协议与密码能力形成可替换、可演进的技术组合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'20px 60px 20px 60px' }}&gt;&#10;    {/* Title block */}&#10;    &lt;Box style={{ height: 80, flexDirection: 'column', justifyContent: 'center' }}&gt;&#10;        &lt;Text style={{ fontSize: 32, fontWeight: 'bold', color: '#1E3A8A' }}&gt;方向五：可信数据六阶段闭环&lt;/Text&gt;&#10;        &lt;Text style={{ fontSize: 16, color: '#64748B', marginTop: 4 }}&gt;数据全生命周期防护：采集→传输→存储→使用→共享→销毁，国密合规嵌入每阶段&lt;/Text&gt;&#10;    &lt;/Box&gt;&#10;    {/* Content - Top 60% six-phase loop + Bottom 40% compliance */}&#10;    &lt;Box style={{ flex: 1, marginTop: 8, flexDirection: 'column', gap: 14 }}&gt;&#10;        {/* Top - Six-phase closed loop */}&#10;        &lt;Box style={{ gap: 8 }}&gt;&#10;            {/* Phase cards row */}&#10;            &lt;Box style={{ flexDirection: 'row', gap: 8 }}&gt;&#10;                {/* Phase 1 */}&#10;                &lt;Box style={{ flex: 1, background: '#EFF6FF', borderRadius: 12, padding: 14, border: '2px solid #1E3A8A' }}&gt;&#10;                    &lt;Box style={{ flexDirection: 'row', alignItems: 'center', gap: 8, marginBottom: 8 }}&gt;&#10;                        &lt;Box style={{ width: 32, height: 32, borderRadius: 8, background: '#1E3A8A', justifyContent: 'center', alignItems: 'center' }}&gt;&#10;                            &lt;Text style={{ fontSize: 14, fontWeight: 'bold', color: '#FFFFFF' }}&gt;01&lt;/Text&gt;&#10;                        &lt;/Box&gt;&#10;                        &lt;Text style={{ fontSize: 15, fontWeight: 'bold', color: '#1E3A8A' }}&gt;采集准入&lt;/Text&gt;&#10;                    &lt;/Box&gt;&#10;                    &lt;Box style={{ gap: 4 }}&gt;&#10;                        &lt;Text style={{ fontSize: 12, color: '#64748B' }}&gt;▸ 边缘端数据不出域&lt;/Text&gt;&#10;                        &lt;Text style={{ fontSize: 12, color: '#64748B' }}&gt;▸ 语音STT后音频即销毁&lt;/Text&gt;&#10;                        &lt;Text style={{ fontSize: 12, color: '#64748B' }}&gt;▸ 体征信号本地提取&lt;/Text&gt;&#10;                        &lt;Text style={{ fontSize: 12, color: '#64748B' }}&gt;▸ 最小必要采集原则&lt;/Text&gt;&#10;                    &lt;/Box&gt;&#10;                &lt;/Box&gt;&#10;                {/* Phase 2 */}&#10;                &lt;Box style={{ flex: 1, background: '#ECFEFF', borderRadius: 12, padding: 14, border: '2px solid #06B6D4' }}&gt;&#10;                    &lt;Box style={{ flexDirection: 'row', alignItems: 'center', gap: 8, marginBottom: 8 }}&gt;&#10;                        &lt;Box style={{ width: 32, height: 32, borderRadius: 8, background: '#06B6D4', justifyContent: 'center', alignItems: 'center' }}&gt;&#10;                            &lt;Text style={{ fontSize: 14, fontWeight: 'bold', color: '#FFFFFF' }}&gt;02&lt;/Text&gt;&#10;                        &lt;/Box&gt;&#10;                        &lt;Text style={{ fontSize: 15, fontWeight: 'bold', color: '#0891B2' }}&gt;传输加密&lt;/Text&gt;&#10;                    &lt;/Box&gt;&#10;                    &lt;Box style={{ gap: 4 }}&gt;&#10;                        &lt;Text style={{ fontSize: 12, color: '#64748B' }}&gt;▸ 国密TLS 1.3全链路&lt;/Text&gt;&#10;                        &lt;Text style={{ fontSize: 12, color: '#64748B' }}&gt;▸ SM2+SM3+SM4套件&lt;/Text&gt;&#10;                        &lt;Text style={{ fontSize: 12, color: '#64748B' }}&gt;▸ 前向安全强制开启&lt;/Text&gt;&#10;                        &lt;Text style={{ fontSize: 12, color: '#64748B' }}&gt;▸ 设备双向SM2认证&lt;/Text&gt;&#10;                    &lt;/Box&gt;&#10;                &lt;/Box&gt;&#10;                {/* Phase 3 */}&#10;                &lt;Box style={{ flex: 1, background: '#FFFBEB', borderRadius: 12, padding: 14, border: '2px solid #F59E0B' }}&gt;&#10;                    &lt;Box style={{ flexDirection: 'row', alignItems: 'center', gap: 8, marginBottom: 8 }}&gt;&#10;                        &lt;Box style={{ width: 32, height: 32, borderRadius: 8, background: '#F59E0B', justifyContent: 'center', alignItems: 'center' }}&gt;&#10;                            &lt;Text style={{ fontSize: 14, fontWeight: 'bold', color: '#FFFFFF' }}&gt;03&lt;/Text&gt;&#10;                        &lt;/Box&gt;&#10;                        &lt;Text style={{ fontSize: 15, fontWeight: 'bold', color: '#B45309' }}&gt;存储保护&lt;/Text&gt;&#10;                    &lt;/Box&gt;&#10;                    &lt;Box style={{ gap: 4 }}&gt;&#10;                        &lt;Text style={{ fontSize: 12, color: '#64748B' }}&gt;▸ SM4分级加密存储&lt;/Text&gt;&#10;                        &lt;Text style={{ fontSize: 12, color: '#64748B' }}&gt;▸ KEK/DEK密钥分离&lt;/Text&gt;&#10;                        &lt;Text style={{ fontSize: 12, color: '#64748B' }}&gt;▸ HSM硬件保护主密钥&lt;/Text&gt;&#10;                        &lt;Text style={{ fontSize: 12, color: '#64748B' }}&gt;▸ 异地备份容灾&lt;/Text&gt;&#10;                    &lt;/Box&gt;&#10;                &lt;/Box&gt;&#10;            &lt;/Box&gt;&#10;            {/* Arrow row */}&#10;            &lt;Box style={{ flexDirection: 'row', justifyContent: 'center' }}&gt;&#10;                &lt;FAIcon name='arrow-down' style={{ fill: '#94A3B8', width: 24, height: 24 }} /&gt;&#10;            &lt;/Box&gt;&#10;            {/* Phase 4-6 */}&#10;            &lt;Box style={{ flexDirection: 'row', gap: 8 }}&gt;&#10;                {/* Phase 4 */}&#10;                &lt;Box style={{ flex: 1, background: '#F0FDF4', borderRadius: 12, padding: 14, border: '2px solid #10B981' }}&gt;&#10;                    &lt;Box style={{ flexDirection: 'row', alignItems: 'center', gap: 8, marginBottom: 8 }}&gt;&#10;                        &lt;Box style={{ width: 32, height: 32, borderRadius: 8, background: '#10B981', justifyContent: 'center', alignItems: 'center' }}&gt;&#10;                            &lt;Text style={{ fontSize: 14, fontWeight: 'bold', color: '#FFFFFF' }}&gt;04&lt;/Text&gt;&#10;                        &lt;/Box&gt;&#10;                        &lt;Text style={{ fontSize: 15, fontWeight: 'bold', color: '#059669' }}&gt;使用管控&lt;/Text&gt;&#10;                    &lt;/Box&gt;&#10;                    &lt;Box style={{ gap: 4 }}&gt;&#10;                        &lt;Text style={{ fontSize: 12, color: '#64748B' }}&gt;▸ 零信任+ABAC架构&lt;/Text&gt;&#10;                        &lt;Text style={{ fontSize: 12, color: '#64748B' }}&gt;▸ 动态权限决策&lt;/Text&gt;&#10;                        &lt;Text style={{ fontSize: 12, color: '#64748B' }}&gt;▸ 特权操作双人审批&lt;/Text&gt;&#10;                        &lt;Text style={{ fontSize: 12, color: '#64748B' }}&gt;▸ 最小权限原则&lt;/Text&gt;&#10;                    &lt;/Box&gt;&#10;                &lt;/Box&gt;&#10;                {/* Phase 5 */}&#10;                &lt;Box style={{ flex: 1, background: '#EFF6FF', borderRadius: 12, padding: 14, border: '2px solid #3B82F6' }}&gt;&#10;                    &lt;Box style={{ flexDirection: 'row', alignItems: 'center', gap: 8, marginBottom: 8 }}&gt;&#10;                        &lt;Box style={{ width: 32, height: 32, borderRadius: 8, background: '#3B82F6', justifyContent: 'center', alignItems: 'center' }}&gt;&#10;                            &lt;Text style={{ fontSize: 14, fontWeight: 'bold', color: '#FFFFFF' }}&gt;05&lt;/Text&gt;&#10;                        &lt;/Box&gt;&#10;                        &lt;Text style={{ fontSize: 15, fontWeight: 'bold', color: '#2563EB' }}&gt;共享脱敏&lt;/Text&gt;&#10;                    &lt;/Box&gt;&#10;                    &lt;Box style={{ gap: 4 }}&gt;&#10;                        &lt;Text style={{ fontSize: 12, color: '#64748B' }}&gt;▸ k-匿名去标识化&lt;/Text&gt;&#10;                        &lt;Text style={{ fontSize: 12, color: '#64748B' }}&gt;▸ 同态加密密文计算&lt;/Text&gt;&#10;                        &lt;Text style={{ fontSize: 12, color: '#64748B' }}&gt;▸ 联邦学习协作建模&lt;/Text&gt;&#10;                        &lt;Text style={{ fontSize: 12, color: '#64748B' }}&gt;▸ 区块链授权存证&lt;/Text&gt;&#10;                    &lt;/Box&gt;&#10;                &lt;/Box&gt;&#10;                {/* Phase 6 */}&#10;                &lt;Box style={{ flex: 1, background: '#F8FAFC', borderRadius: 12, padding: 14, border: '2px solid #64748B' }}&gt;&#10;                    &lt;Box style={{ flexDirection: 'row', alignItems: 'center', gap: 8, marginBottom: 8 }}&gt;&#10;                        &lt;Box style={{ width: 32, height: 32, borderRadius: 8, background: '#64748B', justifyContent: 'center', alignItems: 'center' }}&gt;&#10;                            &lt;Text style={{ fontSize: 14, fontWeight: 'bold', color: '#FFFFFF' }}&gt;06&lt;/Text&gt;&#10;                        &lt;/Box&gt;&#10;                        &lt;Text style={{ fontSize: 15, fontWeight: 'bold', color: '#475569' }}&gt;销毁审计&lt;/Text&gt;&#10;                    &lt;/Box&gt;&#10;                    &lt;Box style={{ gap: 4 }}&gt;&#10;                        &lt;Text style={{ fontSize: 12, color: '#64748B' }}&gt;▸ DoD三次覆写销毁&lt;/Text&gt;&#10;                        &lt;Text style={{ fontSize: 12, color: '#64748B' }}&gt;▸ 密钥销毁即数据销毁&lt;/Text&gt;&#10;                        &lt;Text style={{ fontSize: 12, color: '#64748B' }}&gt;▸ 全程区块链留痕&lt;/Text&gt;&#10;                        &lt;Text style={{ fontSize: 12, color: '#64748B' }}&gt;▸ 双人监督+销毁证明&lt;/Text&gt;&#10;                    &lt;/Box&gt;&#10;                &lt;/Box&gt;&#10;            &lt;/Box&gt;&#10;        &lt;/Box&gt;&#10;        {/* Bottom - Compliance strip */}&#10;        &lt;Box style={{ background: 'linear-gradient(135deg, #1E3A8A 0%, #0F172A 100%)', borderRadius: 12, padding: '16px 24px', flexDirection: 'row', alignItems: 'center', gap: 20 }}&gt;&#10;            &lt;FAIcon name='gavel' style={{ fill: '#06B6D4', width: 32, height: 32 }} /&gt;&#10;            &lt;Box style={{ flex: 1 }}&gt;&#10;                &lt;Text style={{ fontSize: 16, fontWeight: 'bold', color: '#FFFFFF', marginBottom: 4 }}&gt;国密合规与法规遵从&lt;/Text&gt;&#10;                &lt;Text style={{ fontSize: 13, color: 'rgba(255,255,255,0.75)' }}&gt;&#10;                    《网络数据安全风险评估办法》2026.8.20施行 · 《医疗卫生机构数据安全管理办法》五部门联合发布 · 等保新标GA/T2380-2026国密强制准入 · 密钥操作日志留存≥3年&#10;                &lt;/Text&gt;&#10;            &lt;/Box&gt;&#10;            &lt;Box style={{ background: 'rgba(245,158,11,0.2)', borderRadius: 8, padding: '6px 14px', border: '1px solid #F59E0B' }}&gt;&#10;                &lt;Text style={{ fontSize: 14, fontWeight: 'bold', color: '#F59E0B' }}&gt;等保三级&lt;/Text&gt;&#10;            &lt;/Box&gt;&#10;        &lt;/Box&gt;&#10;    &lt;/Box&gt;&#10;    {/* Footer */}&#10;    &lt;Box style={{ height: 40, flexDirection: 'row', justifyContent: 'space-between', alignItems: 'center', borderTop: '1px solid #E2E8F0', paddingTop: 8 }}&gt;&#10;        &lt;Text style={{ fontSize: 14, color: '#94A3B8' }}&gt;家庭微脑技术方案&lt;/Text&gt;&#10;        &lt;Text style={{ fontSize: 14, color: '#94A3B8' }}&gt;10 / 13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 descr="{&quot;isTemplate&quot;:true,&quot;type&quot;:&quot;text&quot;}"/>
          <p:cNvSpPr txBox="1"/>
          <p:nvPr/>
        </p:nvSpPr>
        <p:spPr>
          <a:xfrm>
            <a:off x="3742055" y="261620"/>
            <a:ext cx="7764145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可信</a:t>
            </a:r>
            <a:r>
              <a:rPr lang="zh-CN" altLang="en-US" sz="1200" dirty="0" smtClean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数据六阶段</a:t>
            </a:r>
            <a:r>
              <a:rPr lang="zh-CN" sz="1200" dirty="0" smtClean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</a:t>
            </a:r>
            <a:r>
              <a:rPr lang="zh-CN" sz="1200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生命周期防护：采集→传输→存储→使用→共享→销毁</a:t>
            </a:r>
            <a:endParaRPr dirty="0">
              <a:cs typeface="微软雅黑" panose="020B0503020204020204" charset="-122"/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657225" y="723900"/>
            <a:ext cx="1666875" cy="1333500"/>
          </a:xfrm>
          <a:prstGeom prst="roundRect">
            <a:avLst>
              <a:gd name="adj" fmla="val 8571"/>
            </a:avLst>
          </a:prstGeom>
          <a:solidFill>
            <a:srgbClr val="EFF6FF"/>
          </a:solidFill>
          <a:ln w="25400">
            <a:solidFill>
              <a:srgbClr val="1E3A8A"/>
            </a:solidFill>
            <a:prstDash val="solid"/>
          </a:ln>
        </p:spPr>
        <p:txBody>
          <a:bodyPr/>
          <a:lstStyle/>
          <a:p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790575" y="871538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1E3A8A"/>
          </a:solidFill>
        </p:spPr>
        <p:txBody>
          <a:bodyPr/>
          <a:lstStyle/>
          <a:p>
            <a:endParaRPr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 descr="{&quot;isTemplate&quot;:true,&quot;type&quot;:&quot;text&quot;}"/>
          <p:cNvSpPr txBox="1"/>
          <p:nvPr/>
        </p:nvSpPr>
        <p:spPr>
          <a:xfrm>
            <a:off x="857250" y="942975"/>
            <a:ext cx="1714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</a:p>
        </p:txBody>
      </p:sp>
      <p:sp>
        <p:nvSpPr>
          <p:cNvPr id="25" name="文本框 24" descr="{&quot;isTemplate&quot;:true,&quot;type&quot;:&quot;text&quot;}"/>
          <p:cNvSpPr txBox="1"/>
          <p:nvPr/>
        </p:nvSpPr>
        <p:spPr>
          <a:xfrm>
            <a:off x="1171575" y="938213"/>
            <a:ext cx="5715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采集准入</a:t>
            </a:r>
          </a:p>
        </p:txBody>
      </p:sp>
      <p:sp>
        <p:nvSpPr>
          <p:cNvPr id="26" name="文本框 25" descr="{&quot;isTemplate&quot;:true,&quot;type&quot;:&quot;text&quot;}"/>
          <p:cNvSpPr txBox="1"/>
          <p:nvPr/>
        </p:nvSpPr>
        <p:spPr>
          <a:xfrm>
            <a:off x="790575" y="1238250"/>
            <a:ext cx="336232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</a:t>
            </a: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边缘端数据不出域</a:t>
            </a:r>
          </a:p>
        </p:txBody>
      </p:sp>
      <p:sp>
        <p:nvSpPr>
          <p:cNvPr id="27" name="文本框 26" descr="{&quot;isTemplate&quot;:true,&quot;type&quot;:&quot;text&quot;}"/>
          <p:cNvSpPr txBox="1"/>
          <p:nvPr/>
        </p:nvSpPr>
        <p:spPr>
          <a:xfrm>
            <a:off x="790575" y="1419225"/>
            <a:ext cx="336232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</a:t>
            </a: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语音</a:t>
            </a:r>
            <a:r>
              <a:rPr lang="en-US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STT</a:t>
            </a: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后音频即销毁</a:t>
            </a:r>
          </a:p>
        </p:txBody>
      </p:sp>
      <p:sp>
        <p:nvSpPr>
          <p:cNvPr id="28" name="文本框 27" descr="{&quot;isTemplate&quot;:true,&quot;type&quot;:&quot;text&quot;}"/>
          <p:cNvSpPr txBox="1"/>
          <p:nvPr/>
        </p:nvSpPr>
        <p:spPr>
          <a:xfrm>
            <a:off x="790575" y="1600200"/>
            <a:ext cx="336232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</a:t>
            </a: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体征信号本地提取</a:t>
            </a:r>
          </a:p>
        </p:txBody>
      </p:sp>
      <p:sp>
        <p:nvSpPr>
          <p:cNvPr id="29" name="文本框 28" descr="{&quot;isTemplate&quot;:true,&quot;type&quot;:&quot;text&quot;}"/>
          <p:cNvSpPr txBox="1"/>
          <p:nvPr/>
        </p:nvSpPr>
        <p:spPr>
          <a:xfrm>
            <a:off x="790575" y="1781175"/>
            <a:ext cx="336232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</a:t>
            </a: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最小必要采集原则</a:t>
            </a:r>
          </a:p>
        </p:txBody>
      </p:sp>
      <p:sp>
        <p:nvSpPr>
          <p:cNvPr id="30" name="圆角矩形 29"/>
          <p:cNvSpPr/>
          <p:nvPr/>
        </p:nvSpPr>
        <p:spPr>
          <a:xfrm>
            <a:off x="2533650" y="723900"/>
            <a:ext cx="1685925" cy="1333500"/>
          </a:xfrm>
          <a:prstGeom prst="roundRect">
            <a:avLst>
              <a:gd name="adj" fmla="val 8571"/>
            </a:avLst>
          </a:prstGeom>
          <a:solidFill>
            <a:srgbClr val="ECFEFF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2667000" y="871538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06B6D4"/>
          </a:solidFill>
        </p:spPr>
        <p:txBody>
          <a:bodyPr/>
          <a:lstStyle/>
          <a:p>
            <a:endParaRPr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文本框 31" descr="{&quot;isTemplate&quot;:true,&quot;type&quot;:&quot;text&quot;}"/>
          <p:cNvSpPr txBox="1"/>
          <p:nvPr/>
        </p:nvSpPr>
        <p:spPr>
          <a:xfrm>
            <a:off x="2733675" y="942975"/>
            <a:ext cx="1714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</a:p>
        </p:txBody>
      </p:sp>
      <p:sp>
        <p:nvSpPr>
          <p:cNvPr id="33" name="文本框 32" descr="{&quot;isTemplate&quot;:true,&quot;type&quot;:&quot;text&quot;}"/>
          <p:cNvSpPr txBox="1"/>
          <p:nvPr/>
        </p:nvSpPr>
        <p:spPr>
          <a:xfrm>
            <a:off x="3048000" y="938213"/>
            <a:ext cx="5715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00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</a:rPr>
              <a:t>传输加密</a:t>
            </a:r>
          </a:p>
        </p:txBody>
      </p:sp>
      <p:sp>
        <p:nvSpPr>
          <p:cNvPr id="34" name="文本框 33" descr="{&quot;isTemplate&quot;:true,&quot;type&quot;:&quot;text&quot;}"/>
          <p:cNvSpPr txBox="1"/>
          <p:nvPr/>
        </p:nvSpPr>
        <p:spPr>
          <a:xfrm>
            <a:off x="2667000" y="1238250"/>
            <a:ext cx="337185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</a:t>
            </a: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国密</a:t>
            </a:r>
            <a:r>
              <a:rPr lang="en-US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TLS 1.3</a:t>
            </a: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全链路</a:t>
            </a:r>
          </a:p>
        </p:txBody>
      </p:sp>
      <p:sp>
        <p:nvSpPr>
          <p:cNvPr id="35" name="文本框 34" descr="{&quot;isTemplate&quot;:true,&quot;type&quot;:&quot;text&quot;}"/>
          <p:cNvSpPr txBox="1"/>
          <p:nvPr/>
        </p:nvSpPr>
        <p:spPr>
          <a:xfrm>
            <a:off x="2667000" y="1419225"/>
            <a:ext cx="337185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SM2+SM3+SM4</a:t>
            </a: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套件</a:t>
            </a:r>
          </a:p>
        </p:txBody>
      </p:sp>
      <p:sp>
        <p:nvSpPr>
          <p:cNvPr id="36" name="文本框 35" descr="{&quot;isTemplate&quot;:true,&quot;type&quot;:&quot;text&quot;}"/>
          <p:cNvSpPr txBox="1"/>
          <p:nvPr/>
        </p:nvSpPr>
        <p:spPr>
          <a:xfrm>
            <a:off x="2667000" y="1600200"/>
            <a:ext cx="337185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</a:t>
            </a: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前向安全强制开启</a:t>
            </a:r>
          </a:p>
        </p:txBody>
      </p:sp>
      <p:sp>
        <p:nvSpPr>
          <p:cNvPr id="37" name="文本框 36" descr="{&quot;isTemplate&quot;:true,&quot;type&quot;:&quot;text&quot;}"/>
          <p:cNvSpPr txBox="1"/>
          <p:nvPr/>
        </p:nvSpPr>
        <p:spPr>
          <a:xfrm>
            <a:off x="2667000" y="1781175"/>
            <a:ext cx="337185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</a:t>
            </a: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设备双向</a:t>
            </a:r>
            <a:r>
              <a:rPr lang="en-US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SM2</a:t>
            </a: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认证</a:t>
            </a:r>
          </a:p>
        </p:txBody>
      </p:sp>
      <p:sp>
        <p:nvSpPr>
          <p:cNvPr id="38" name="圆角矩形 37"/>
          <p:cNvSpPr/>
          <p:nvPr/>
        </p:nvSpPr>
        <p:spPr>
          <a:xfrm>
            <a:off x="4448175" y="742950"/>
            <a:ext cx="1597025" cy="1333500"/>
          </a:xfrm>
          <a:prstGeom prst="roundRect">
            <a:avLst>
              <a:gd name="adj" fmla="val 8571"/>
            </a:avLst>
          </a:prstGeom>
          <a:solidFill>
            <a:srgbClr val="FFFBEB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4581525" y="871538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F59E0B"/>
          </a:solidFill>
        </p:spPr>
        <p:txBody>
          <a:bodyPr/>
          <a:lstStyle/>
          <a:p>
            <a:endParaRPr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文本框 39" descr="{&quot;isTemplate&quot;:true,&quot;type&quot;:&quot;text&quot;}"/>
          <p:cNvSpPr txBox="1"/>
          <p:nvPr/>
        </p:nvSpPr>
        <p:spPr>
          <a:xfrm>
            <a:off x="4648200" y="942975"/>
            <a:ext cx="1714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</a:p>
        </p:txBody>
      </p:sp>
      <p:sp>
        <p:nvSpPr>
          <p:cNvPr id="41" name="文本框 40" descr="{&quot;isTemplate&quot;:true,&quot;type&quot;:&quot;text&quot;}"/>
          <p:cNvSpPr txBox="1"/>
          <p:nvPr/>
        </p:nvSpPr>
        <p:spPr>
          <a:xfrm>
            <a:off x="4962525" y="938213"/>
            <a:ext cx="5715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00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</a:rPr>
              <a:t>存储保护</a:t>
            </a:r>
          </a:p>
        </p:txBody>
      </p:sp>
      <p:sp>
        <p:nvSpPr>
          <p:cNvPr id="42" name="文本框 41" descr="{&quot;isTemplate&quot;:true,&quot;type&quot;:&quot;text&quot;}"/>
          <p:cNvSpPr txBox="1"/>
          <p:nvPr/>
        </p:nvSpPr>
        <p:spPr>
          <a:xfrm>
            <a:off x="4581525" y="1257300"/>
            <a:ext cx="336232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SM4</a:t>
            </a: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分级加密存储</a:t>
            </a:r>
          </a:p>
        </p:txBody>
      </p:sp>
      <p:sp>
        <p:nvSpPr>
          <p:cNvPr id="43" name="文本框 42" descr="{&quot;isTemplate&quot;:true,&quot;type&quot;:&quot;text&quot;}"/>
          <p:cNvSpPr txBox="1"/>
          <p:nvPr/>
        </p:nvSpPr>
        <p:spPr>
          <a:xfrm>
            <a:off x="4581525" y="1438275"/>
            <a:ext cx="336232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KEK/DEK</a:t>
            </a: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密钥分离</a:t>
            </a:r>
          </a:p>
        </p:txBody>
      </p:sp>
      <p:sp>
        <p:nvSpPr>
          <p:cNvPr id="44" name="文本框 43" descr="{&quot;isTemplate&quot;:true,&quot;type&quot;:&quot;text&quot;}"/>
          <p:cNvSpPr txBox="1"/>
          <p:nvPr/>
        </p:nvSpPr>
        <p:spPr>
          <a:xfrm>
            <a:off x="4581525" y="1619250"/>
            <a:ext cx="336232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HSM</a:t>
            </a: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硬件保护主密钥</a:t>
            </a:r>
          </a:p>
        </p:txBody>
      </p:sp>
      <p:sp>
        <p:nvSpPr>
          <p:cNvPr id="45" name="文本框 44" descr="{&quot;isTemplate&quot;:true,&quot;type&quot;:&quot;text&quot;}"/>
          <p:cNvSpPr txBox="1"/>
          <p:nvPr/>
        </p:nvSpPr>
        <p:spPr>
          <a:xfrm>
            <a:off x="4581525" y="1800225"/>
            <a:ext cx="336232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</a:t>
            </a: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异地备份容灾</a:t>
            </a:r>
          </a:p>
        </p:txBody>
      </p:sp>
      <p:sp>
        <p:nvSpPr>
          <p:cNvPr id="47" name="圆角矩形 46"/>
          <p:cNvSpPr/>
          <p:nvPr/>
        </p:nvSpPr>
        <p:spPr>
          <a:xfrm>
            <a:off x="6229350" y="752475"/>
            <a:ext cx="1666875" cy="1333500"/>
          </a:xfrm>
          <a:prstGeom prst="roundRect">
            <a:avLst>
              <a:gd name="adj" fmla="val 8571"/>
            </a:avLst>
          </a:prstGeom>
          <a:solidFill>
            <a:srgbClr val="F0FDF4"/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圆角矩形 47"/>
          <p:cNvSpPr/>
          <p:nvPr/>
        </p:nvSpPr>
        <p:spPr>
          <a:xfrm>
            <a:off x="6362700" y="871538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10B981"/>
          </a:solidFill>
        </p:spPr>
        <p:txBody>
          <a:bodyPr/>
          <a:lstStyle/>
          <a:p>
            <a:endParaRPr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文本框 48" descr="{&quot;isTemplate&quot;:true,&quot;type&quot;:&quot;text&quot;}"/>
          <p:cNvSpPr txBox="1"/>
          <p:nvPr/>
        </p:nvSpPr>
        <p:spPr>
          <a:xfrm>
            <a:off x="6429375" y="942975"/>
            <a:ext cx="1714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</a:p>
        </p:txBody>
      </p:sp>
      <p:sp>
        <p:nvSpPr>
          <p:cNvPr id="50" name="文本框 49" descr="{&quot;isTemplate&quot;:true,&quot;type&quot;:&quot;text&quot;}"/>
          <p:cNvSpPr txBox="1"/>
          <p:nvPr/>
        </p:nvSpPr>
        <p:spPr>
          <a:xfrm>
            <a:off x="6743700" y="938213"/>
            <a:ext cx="5715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00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</a:rPr>
              <a:t>使用管控</a:t>
            </a:r>
          </a:p>
        </p:txBody>
      </p:sp>
      <p:sp>
        <p:nvSpPr>
          <p:cNvPr id="51" name="文本框 50" descr="{&quot;isTemplate&quot;:true,&quot;type&quot;:&quot;text&quot;}"/>
          <p:cNvSpPr txBox="1"/>
          <p:nvPr/>
        </p:nvSpPr>
        <p:spPr>
          <a:xfrm>
            <a:off x="6362700" y="1266825"/>
            <a:ext cx="336232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</a:t>
            </a: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零信任</a:t>
            </a:r>
            <a:r>
              <a:rPr lang="en-US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+ABAC</a:t>
            </a: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架构</a:t>
            </a:r>
          </a:p>
        </p:txBody>
      </p:sp>
      <p:sp>
        <p:nvSpPr>
          <p:cNvPr id="52" name="文本框 51" descr="{&quot;isTemplate&quot;:true,&quot;type&quot;:&quot;text&quot;}"/>
          <p:cNvSpPr txBox="1"/>
          <p:nvPr/>
        </p:nvSpPr>
        <p:spPr>
          <a:xfrm>
            <a:off x="6362700" y="1447800"/>
            <a:ext cx="336232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</a:t>
            </a: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动态权限决策</a:t>
            </a:r>
          </a:p>
        </p:txBody>
      </p:sp>
      <p:sp>
        <p:nvSpPr>
          <p:cNvPr id="53" name="文本框 52" descr="{&quot;isTemplate&quot;:true,&quot;type&quot;:&quot;text&quot;}"/>
          <p:cNvSpPr txBox="1"/>
          <p:nvPr/>
        </p:nvSpPr>
        <p:spPr>
          <a:xfrm>
            <a:off x="6362700" y="1628775"/>
            <a:ext cx="336232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</a:t>
            </a: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特权操作双人审批</a:t>
            </a:r>
          </a:p>
        </p:txBody>
      </p:sp>
      <p:sp>
        <p:nvSpPr>
          <p:cNvPr id="54" name="文本框 53" descr="{&quot;isTemplate&quot;:true,&quot;type&quot;:&quot;text&quot;}"/>
          <p:cNvSpPr txBox="1"/>
          <p:nvPr/>
        </p:nvSpPr>
        <p:spPr>
          <a:xfrm>
            <a:off x="6362700" y="1809750"/>
            <a:ext cx="336232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</a:t>
            </a: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最小权限原则</a:t>
            </a:r>
          </a:p>
        </p:txBody>
      </p:sp>
      <p:sp>
        <p:nvSpPr>
          <p:cNvPr id="55" name="圆角矩形 54"/>
          <p:cNvSpPr/>
          <p:nvPr/>
        </p:nvSpPr>
        <p:spPr>
          <a:xfrm>
            <a:off x="8112125" y="752475"/>
            <a:ext cx="1603375" cy="1333500"/>
          </a:xfrm>
          <a:prstGeom prst="roundRect">
            <a:avLst>
              <a:gd name="adj" fmla="val 8571"/>
            </a:avLst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圆角矩形 55"/>
          <p:cNvSpPr/>
          <p:nvPr/>
        </p:nvSpPr>
        <p:spPr>
          <a:xfrm>
            <a:off x="8245475" y="871538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3B82F6"/>
          </a:solidFill>
        </p:spPr>
        <p:txBody>
          <a:bodyPr/>
          <a:lstStyle/>
          <a:p>
            <a:endParaRPr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文本框 56" descr="{&quot;isTemplate&quot;:true,&quot;type&quot;:&quot;text&quot;}"/>
          <p:cNvSpPr txBox="1"/>
          <p:nvPr/>
        </p:nvSpPr>
        <p:spPr>
          <a:xfrm>
            <a:off x="8312150" y="942975"/>
            <a:ext cx="1714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</a:p>
        </p:txBody>
      </p:sp>
      <p:sp>
        <p:nvSpPr>
          <p:cNvPr id="58" name="文本框 57" descr="{&quot;isTemplate&quot;:true,&quot;type&quot;:&quot;text&quot;}"/>
          <p:cNvSpPr txBox="1"/>
          <p:nvPr/>
        </p:nvSpPr>
        <p:spPr>
          <a:xfrm>
            <a:off x="8626475" y="938213"/>
            <a:ext cx="5715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共享脱敏</a:t>
            </a:r>
          </a:p>
        </p:txBody>
      </p:sp>
      <p:sp>
        <p:nvSpPr>
          <p:cNvPr id="59" name="文本框 58" descr="{&quot;isTemplate&quot;:true,&quot;type&quot;:&quot;text&quot;}"/>
          <p:cNvSpPr txBox="1"/>
          <p:nvPr/>
        </p:nvSpPr>
        <p:spPr>
          <a:xfrm>
            <a:off x="8245475" y="1266825"/>
            <a:ext cx="337185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k-</a:t>
            </a: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匿名去标识化</a:t>
            </a:r>
          </a:p>
        </p:txBody>
      </p:sp>
      <p:sp>
        <p:nvSpPr>
          <p:cNvPr id="60" name="文本框 59" descr="{&quot;isTemplate&quot;:true,&quot;type&quot;:&quot;text&quot;}"/>
          <p:cNvSpPr txBox="1"/>
          <p:nvPr/>
        </p:nvSpPr>
        <p:spPr>
          <a:xfrm>
            <a:off x="8245475" y="1447800"/>
            <a:ext cx="337185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</a:t>
            </a: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同态加密密文计算</a:t>
            </a:r>
          </a:p>
        </p:txBody>
      </p:sp>
      <p:sp>
        <p:nvSpPr>
          <p:cNvPr id="61" name="文本框 60" descr="{&quot;isTemplate&quot;:true,&quot;type&quot;:&quot;text&quot;}"/>
          <p:cNvSpPr txBox="1"/>
          <p:nvPr/>
        </p:nvSpPr>
        <p:spPr>
          <a:xfrm>
            <a:off x="8245475" y="1628775"/>
            <a:ext cx="337185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</a:t>
            </a: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联邦学习协作建模</a:t>
            </a:r>
          </a:p>
        </p:txBody>
      </p:sp>
      <p:sp>
        <p:nvSpPr>
          <p:cNvPr id="62" name="文本框 61" descr="{&quot;isTemplate&quot;:true,&quot;type&quot;:&quot;text&quot;}"/>
          <p:cNvSpPr txBox="1"/>
          <p:nvPr/>
        </p:nvSpPr>
        <p:spPr>
          <a:xfrm>
            <a:off x="8245475" y="1809750"/>
            <a:ext cx="337185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</a:t>
            </a: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区块链授权存证</a:t>
            </a:r>
          </a:p>
        </p:txBody>
      </p:sp>
      <p:sp>
        <p:nvSpPr>
          <p:cNvPr id="63" name="圆角矩形 62"/>
          <p:cNvSpPr/>
          <p:nvPr/>
        </p:nvSpPr>
        <p:spPr>
          <a:xfrm>
            <a:off x="9936162" y="752475"/>
            <a:ext cx="1558925" cy="133350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10069512" y="871538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64748B"/>
          </a:solidFill>
        </p:spPr>
        <p:txBody>
          <a:bodyPr/>
          <a:lstStyle/>
          <a:p>
            <a:endParaRPr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文本框 64" descr="{&quot;isTemplate&quot;:true,&quot;type&quot;:&quot;text&quot;}"/>
          <p:cNvSpPr txBox="1"/>
          <p:nvPr/>
        </p:nvSpPr>
        <p:spPr>
          <a:xfrm>
            <a:off x="10136187" y="942975"/>
            <a:ext cx="1714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06</a:t>
            </a:r>
          </a:p>
        </p:txBody>
      </p:sp>
      <p:sp>
        <p:nvSpPr>
          <p:cNvPr id="66" name="文本框 65" descr="{&quot;isTemplate&quot;:true,&quot;type&quot;:&quot;text&quot;}"/>
          <p:cNvSpPr txBox="1"/>
          <p:nvPr/>
        </p:nvSpPr>
        <p:spPr>
          <a:xfrm>
            <a:off x="10450512" y="938213"/>
            <a:ext cx="5715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00" b="1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销毁审计</a:t>
            </a:r>
          </a:p>
        </p:txBody>
      </p:sp>
      <p:sp>
        <p:nvSpPr>
          <p:cNvPr id="67" name="文本框 66" descr="{&quot;isTemplate&quot;:true,&quot;type&quot;:&quot;text&quot;}"/>
          <p:cNvSpPr txBox="1"/>
          <p:nvPr/>
        </p:nvSpPr>
        <p:spPr>
          <a:xfrm>
            <a:off x="10079038" y="1276350"/>
            <a:ext cx="14160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DoD</a:t>
            </a: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三次覆写销毁</a:t>
            </a:r>
          </a:p>
        </p:txBody>
      </p:sp>
      <p:sp>
        <p:nvSpPr>
          <p:cNvPr id="68" name="文本框 67" descr="{&quot;isTemplate&quot;:true,&quot;type&quot;:&quot;text&quot;}"/>
          <p:cNvSpPr txBox="1"/>
          <p:nvPr/>
        </p:nvSpPr>
        <p:spPr>
          <a:xfrm>
            <a:off x="10079038" y="1457325"/>
            <a:ext cx="14160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</a:t>
            </a: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密钥销毁即数据销毁</a:t>
            </a:r>
          </a:p>
        </p:txBody>
      </p:sp>
      <p:sp>
        <p:nvSpPr>
          <p:cNvPr id="69" name="文本框 68" descr="{&quot;isTemplate&quot;:true,&quot;type&quot;:&quot;text&quot;}"/>
          <p:cNvSpPr txBox="1"/>
          <p:nvPr/>
        </p:nvSpPr>
        <p:spPr>
          <a:xfrm>
            <a:off x="10079038" y="1638300"/>
            <a:ext cx="14160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</a:t>
            </a: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全程区块链留痕</a:t>
            </a:r>
          </a:p>
        </p:txBody>
      </p:sp>
      <p:sp>
        <p:nvSpPr>
          <p:cNvPr id="70" name="文本框 69" descr="{&quot;isTemplate&quot;:true,&quot;type&quot;:&quot;text&quot;}"/>
          <p:cNvSpPr txBox="1"/>
          <p:nvPr/>
        </p:nvSpPr>
        <p:spPr>
          <a:xfrm>
            <a:off x="10079038" y="1819275"/>
            <a:ext cx="14160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</a:t>
            </a: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双人监督</a:t>
            </a:r>
            <a:r>
              <a:rPr lang="en-US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销毁证明</a:t>
            </a:r>
          </a:p>
        </p:txBody>
      </p:sp>
      <p:sp>
        <p:nvSpPr>
          <p:cNvPr id="71" name="圆角矩形 70"/>
          <p:cNvSpPr/>
          <p:nvPr/>
        </p:nvSpPr>
        <p:spPr>
          <a:xfrm>
            <a:off x="571500" y="2219325"/>
            <a:ext cx="11049000" cy="6858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1E3A8A"/>
              </a:gs>
              <a:gs pos="100000">
                <a:srgbClr val="0F172A"/>
              </a:gs>
            </a:gsLst>
            <a:lin ang="2700000" scaled="1"/>
          </a:gradFill>
        </p:spPr>
        <p:txBody>
          <a:bodyPr/>
          <a:lstStyle/>
          <a:p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文本框 72" descr="{&quot;isTemplate&quot;:true,&quot;type&quot;:&quot;text&quot;}"/>
          <p:cNvSpPr txBox="1"/>
          <p:nvPr/>
        </p:nvSpPr>
        <p:spPr>
          <a:xfrm>
            <a:off x="790575" y="2324100"/>
            <a:ext cx="91059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国密合规与法规遵从</a:t>
            </a:r>
          </a:p>
        </p:txBody>
      </p:sp>
      <p:sp>
        <p:nvSpPr>
          <p:cNvPr id="74" name="文本框 73" descr="{&quot;isTemplate&quot;:true,&quot;type&quot;:&quot;text&quot;}"/>
          <p:cNvSpPr txBox="1"/>
          <p:nvPr/>
        </p:nvSpPr>
        <p:spPr>
          <a:xfrm>
            <a:off x="790575" y="2590800"/>
            <a:ext cx="9610725" cy="190500"/>
          </a:xfrm>
          <a:prstGeom prst="rect">
            <a:avLst/>
          </a:prstGeom>
        </p:spPr>
        <p:txBody>
          <a:bodyPr wrap="square" lIns="0" tIns="0" rIns="0" bIns="0">
            <a:normAutofit fontScale="80000" lnSpcReduction="10000"/>
          </a:bodyPr>
          <a:lstStyle/>
          <a:p>
            <a:pPr>
              <a:lnSpc>
                <a:spcPct val="100000"/>
              </a:lnSpc>
            </a:pPr>
            <a:r>
              <a:rPr lang="zh-CN" sz="975" dirty="0">
                <a:solidFill>
                  <a:srgbClr val="FFFFFF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《网络数据安全风险评估办法》</a:t>
            </a:r>
            <a:r>
              <a:rPr lang="en-US" sz="975" dirty="0">
                <a:solidFill>
                  <a:srgbClr val="FFFFFF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2026.8.20</a:t>
            </a:r>
            <a:r>
              <a:rPr lang="zh-CN" sz="975" dirty="0">
                <a:solidFill>
                  <a:srgbClr val="FFFFFF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施行</a:t>
            </a:r>
            <a:r>
              <a:rPr lang="en-US" sz="975" dirty="0">
                <a:solidFill>
                  <a:srgbClr val="FFFFFF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975" dirty="0">
                <a:solidFill>
                  <a:srgbClr val="FFFFFF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《医疗卫生机构数据安全和个人信息保护管理办法（试行）》</a:t>
            </a:r>
            <a:r>
              <a:rPr lang="zh-CN" sz="975" dirty="0">
                <a:solidFill>
                  <a:srgbClr val="FFFFFF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五部门联合发布</a:t>
            </a:r>
            <a:r>
              <a:rPr lang="en-US" sz="975" dirty="0">
                <a:solidFill>
                  <a:srgbClr val="FFFFFF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975" dirty="0">
                <a:solidFill>
                  <a:srgbClr val="FFFFFF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等保配套公安行业推荐标准</a:t>
            </a:r>
            <a:r>
              <a:rPr lang="en-US" sz="975" dirty="0">
                <a:solidFill>
                  <a:srgbClr val="FFFFFF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GA/T2380-2026</a:t>
            </a:r>
            <a:r>
              <a:rPr lang="zh-CN" sz="975" dirty="0">
                <a:solidFill>
                  <a:srgbClr val="FFFFFF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国密强制准入</a:t>
            </a:r>
            <a:r>
              <a:rPr lang="en-US" sz="975" dirty="0">
                <a:solidFill>
                  <a:srgbClr val="FFFFFF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sz="975" dirty="0">
                <a:solidFill>
                  <a:srgbClr val="FFFFFF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密钥操作日志留存≥</a:t>
            </a:r>
            <a:r>
              <a:rPr lang="en-US" sz="975" dirty="0">
                <a:solidFill>
                  <a:srgbClr val="FFFFFF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sz="975" dirty="0">
                <a:solidFill>
                  <a:srgbClr val="FFFFFF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endParaRPr dirty="0">
              <a:cs typeface="微软雅黑" panose="020B0503020204020204" charset="-122"/>
            </a:endParaRPr>
          </a:p>
        </p:txBody>
      </p:sp>
      <p:sp>
        <p:nvSpPr>
          <p:cNvPr id="75" name="圆角矩形 74"/>
          <p:cNvSpPr/>
          <p:nvPr/>
        </p:nvSpPr>
        <p:spPr>
          <a:xfrm>
            <a:off x="10591800" y="2428875"/>
            <a:ext cx="800100" cy="276225"/>
          </a:xfrm>
          <a:prstGeom prst="roundRect">
            <a:avLst>
              <a:gd name="adj" fmla="val 27586"/>
            </a:avLst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文本框 75" descr="{&quot;isTemplate&quot;:true,&quot;type&quot;:&quot;text&quot;}"/>
          <p:cNvSpPr txBox="1"/>
          <p:nvPr/>
        </p:nvSpPr>
        <p:spPr>
          <a:xfrm>
            <a:off x="10725150" y="2486025"/>
            <a:ext cx="5334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b="1" dirty="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等保三级</a:t>
            </a:r>
          </a:p>
        </p:txBody>
      </p:sp>
      <p:sp>
        <p:nvSpPr>
          <p:cNvPr id="78" name="文本框 77" descr="{&quot;isTemplate&quot;:true,&quot;type&quot;:&quot;text&quot;}"/>
          <p:cNvSpPr txBox="1"/>
          <p:nvPr/>
        </p:nvSpPr>
        <p:spPr>
          <a:xfrm>
            <a:off x="571500" y="3129915"/>
            <a:ext cx="2017395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00" b="1" dirty="0" smtClean="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</a:t>
            </a:r>
            <a:r>
              <a:rPr lang="zh-CN" sz="1600" b="1" dirty="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域互通与隐私</a:t>
            </a:r>
            <a:r>
              <a:rPr lang="zh-CN" sz="1600" b="1" dirty="0" smtClean="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</a:t>
            </a:r>
            <a:r>
              <a:rPr lang="en-US" altLang="zh-CN" sz="1600" b="1" dirty="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endParaRPr sz="1200" dirty="0">
              <a:cs typeface="微软雅黑" panose="020B0503020204020204" charset="-122"/>
            </a:endParaRPr>
          </a:p>
        </p:txBody>
      </p:sp>
      <p:sp>
        <p:nvSpPr>
          <p:cNvPr id="80" name="文本框 79" descr="{&quot;isTemplate&quot;:true,&quot;type&quot;:&quot;text&quot;}"/>
          <p:cNvSpPr txBox="1"/>
          <p:nvPr/>
        </p:nvSpPr>
        <p:spPr>
          <a:xfrm>
            <a:off x="2667000" y="3191193"/>
            <a:ext cx="6076950" cy="18224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家庭↔医疗↔政务三方可信数据流通，原始数据零泄露，密文协作建模</a:t>
            </a:r>
          </a:p>
        </p:txBody>
      </p:sp>
      <p:sp>
        <p:nvSpPr>
          <p:cNvPr id="81" name="圆角矩形 80"/>
          <p:cNvSpPr/>
          <p:nvPr/>
        </p:nvSpPr>
        <p:spPr>
          <a:xfrm>
            <a:off x="668337" y="3539490"/>
            <a:ext cx="5473700" cy="400050"/>
          </a:xfrm>
          <a:prstGeom prst="roundRect">
            <a:avLst>
              <a:gd name="adj" fmla="val 27778"/>
            </a:avLst>
          </a:prstGeom>
          <a:solidFill>
            <a:srgbClr val="F8FAFC"/>
          </a:solidFill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pPr algn="ctr"/>
            <a:endParaRPr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文本框 81" descr="{&quot;isTemplate&quot;:true,&quot;type&quot;:&quot;text&quot;}"/>
          <p:cNvSpPr txBox="1"/>
          <p:nvPr/>
        </p:nvSpPr>
        <p:spPr>
          <a:xfrm>
            <a:off x="975187" y="3682365"/>
            <a:ext cx="4860000" cy="1800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200" b="1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可信数据空间</a:t>
            </a:r>
            <a:r>
              <a:rPr lang="en-US" sz="1200" b="1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sz="1200" b="1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控制平面（准入规则</a:t>
            </a:r>
            <a:r>
              <a:rPr lang="en-US" sz="1200" b="1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sz="1200" b="1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交互协议</a:t>
            </a:r>
            <a:r>
              <a:rPr lang="en-US" sz="1200" b="1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sz="1200" b="1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共享策略</a:t>
            </a:r>
            <a:r>
              <a:rPr lang="en-US" sz="1200" b="1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sz="1200" b="1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安全审计）</a:t>
            </a:r>
            <a:endParaRPr sz="1200" dirty="0">
              <a:cs typeface="微软雅黑" panose="020B050302020402020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668337" y="3977640"/>
            <a:ext cx="5473700" cy="904240"/>
            <a:chOff x="990" y="6264"/>
            <a:chExt cx="8620" cy="1424"/>
          </a:xfrm>
        </p:grpSpPr>
        <p:grpSp>
          <p:nvGrpSpPr>
            <p:cNvPr id="4" name="组合 3"/>
            <p:cNvGrpSpPr/>
            <p:nvPr/>
          </p:nvGrpSpPr>
          <p:grpSpPr>
            <a:xfrm>
              <a:off x="990" y="6264"/>
              <a:ext cx="2490" cy="1424"/>
              <a:chOff x="990" y="6264"/>
              <a:chExt cx="2490" cy="1424"/>
            </a:xfrm>
          </p:grpSpPr>
          <p:sp>
            <p:nvSpPr>
              <p:cNvPr id="83" name="圆角矩形 82"/>
              <p:cNvSpPr/>
              <p:nvPr/>
            </p:nvSpPr>
            <p:spPr>
              <a:xfrm>
                <a:off x="990" y="6264"/>
                <a:ext cx="2490" cy="1425"/>
              </a:xfrm>
              <a:prstGeom prst="roundRect">
                <a:avLst>
                  <a:gd name="adj" fmla="val 10526"/>
                </a:avLst>
              </a:prstGeom>
              <a:solidFill>
                <a:srgbClr val="EFF6FF"/>
              </a:solidFill>
              <a:ln w="25400">
                <a:solidFill>
                  <a:srgbClr val="1E3A8A"/>
                </a:solidFill>
                <a:prstDash val="solid"/>
              </a:ln>
            </p:spPr>
            <p:txBody>
              <a:bodyPr/>
              <a:lstStyle/>
              <a:p>
                <a:pPr algn="ctr"/>
                <a:endParaRPr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85" name="文本框 84" descr="{&quot;isTemplate&quot;:true,&quot;type&quot;:&quot;text&quot;}"/>
              <p:cNvSpPr txBox="1"/>
              <p:nvPr/>
            </p:nvSpPr>
            <p:spPr>
              <a:xfrm>
                <a:off x="1583" y="6474"/>
                <a:ext cx="1304" cy="255"/>
              </a:xfrm>
              <a:prstGeom prst="rect">
                <a:avLst/>
              </a:prstGeom>
            </p:spPr>
            <p:txBody>
              <a:bodyPr wrap="none" lIns="0" tIns="0" rIns="0" bIns="0"/>
              <a:lstStyle/>
              <a:p>
                <a:pPr algn="ctr">
                  <a:lnSpc>
                    <a:spcPct val="100000"/>
                  </a:lnSpc>
                </a:pPr>
                <a:r>
                  <a:rPr lang="zh-CN" sz="1200" b="1">
                    <a:solidFill>
                      <a:srgbClr val="1E3A8A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家庭数据域</a:t>
                </a:r>
              </a:p>
            </p:txBody>
          </p:sp>
          <p:sp>
            <p:nvSpPr>
              <p:cNvPr id="86" name="文本框 85" descr="{&quot;isTemplate&quot;:true,&quot;type&quot;:&quot;text&quot;}"/>
              <p:cNvSpPr txBox="1"/>
              <p:nvPr/>
            </p:nvSpPr>
            <p:spPr>
              <a:xfrm>
                <a:off x="1356" y="6834"/>
                <a:ext cx="1757" cy="225"/>
              </a:xfrm>
              <a:prstGeom prst="rect">
                <a:avLst/>
              </a:prstGeom>
            </p:spPr>
            <p:txBody>
              <a:bodyPr wrap="none" lIns="0" tIns="0" rIns="0" bIns="0"/>
              <a:lstStyle/>
              <a:p>
                <a:pPr algn="ctr">
                  <a:lnSpc>
                    <a:spcPct val="100000"/>
                  </a:lnSpc>
                </a:pPr>
                <a:r>
                  <a:rPr lang="zh-CN" sz="900" dirty="0">
                    <a:solidFill>
                      <a:srgbClr val="64748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飞流</a:t>
                </a:r>
                <a:r>
                  <a:rPr lang="en-US" sz="900" dirty="0">
                    <a:solidFill>
                      <a:srgbClr val="64748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OS</a:t>
                </a:r>
                <a:r>
                  <a:rPr lang="zh-CN" sz="900" dirty="0">
                    <a:solidFill>
                      <a:srgbClr val="64748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边缘节点</a:t>
                </a:r>
                <a:endParaRPr dirty="0">
                  <a:cs typeface="微软雅黑" panose="020B0503020204020204" charset="-122"/>
                </a:endParaRPr>
              </a:p>
            </p:txBody>
          </p:sp>
          <p:sp>
            <p:nvSpPr>
              <p:cNvPr id="87" name="文本框 86" descr="{&quot;isTemplate&quot;:true,&quot;type&quot;:&quot;text&quot;}"/>
              <p:cNvSpPr txBox="1"/>
              <p:nvPr/>
            </p:nvSpPr>
            <p:spPr>
              <a:xfrm>
                <a:off x="1356" y="7059"/>
                <a:ext cx="1757" cy="225"/>
              </a:xfrm>
              <a:prstGeom prst="rect">
                <a:avLst/>
              </a:prstGeom>
            </p:spPr>
            <p:txBody>
              <a:bodyPr wrap="none" lIns="0" tIns="0" rIns="0" bIns="0"/>
              <a:lstStyle/>
              <a:p>
                <a:pPr algn="ctr">
                  <a:lnSpc>
                    <a:spcPct val="100000"/>
                  </a:lnSpc>
                </a:pPr>
                <a:r>
                  <a:rPr lang="zh-CN" sz="900">
                    <a:solidFill>
                      <a:srgbClr val="64748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语音</a:t>
                </a:r>
                <a:r>
                  <a:rPr lang="en-US" sz="900">
                    <a:solidFill>
                      <a:srgbClr val="64748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/</a:t>
                </a:r>
                <a:r>
                  <a:rPr lang="zh-CN" sz="900">
                    <a:solidFill>
                      <a:srgbClr val="64748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体征</a:t>
                </a:r>
                <a:r>
                  <a:rPr lang="en-US" sz="900">
                    <a:solidFill>
                      <a:srgbClr val="64748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/</a:t>
                </a:r>
                <a:r>
                  <a:rPr lang="zh-CN" sz="900">
                    <a:solidFill>
                      <a:srgbClr val="64748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行为数据</a:t>
                </a:r>
              </a:p>
            </p:txBody>
          </p:sp>
          <p:sp>
            <p:nvSpPr>
              <p:cNvPr id="88" name="文本框 87" descr="{&quot;isTemplate&quot;:true,&quot;type&quot;:&quot;text&quot;}"/>
              <p:cNvSpPr txBox="1"/>
              <p:nvPr/>
            </p:nvSpPr>
            <p:spPr>
              <a:xfrm>
                <a:off x="1356" y="7284"/>
                <a:ext cx="1757" cy="225"/>
              </a:xfrm>
              <a:prstGeom prst="rect">
                <a:avLst/>
              </a:prstGeom>
            </p:spPr>
            <p:txBody>
              <a:bodyPr wrap="none" lIns="0" tIns="0" rIns="0" bIns="0"/>
              <a:lstStyle/>
              <a:p>
                <a:pPr algn="ctr">
                  <a:lnSpc>
                    <a:spcPct val="100000"/>
                  </a:lnSpc>
                </a:pPr>
                <a:r>
                  <a:rPr lang="zh-CN" sz="900">
                    <a:solidFill>
                      <a:srgbClr val="64748B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本地脱敏后上传</a:t>
                </a:r>
              </a:p>
            </p:txBody>
          </p:sp>
        </p:grpSp>
        <p:grpSp>
          <p:nvGrpSpPr>
            <p:cNvPr id="5" name="组合 4"/>
            <p:cNvGrpSpPr/>
            <p:nvPr/>
          </p:nvGrpSpPr>
          <p:grpSpPr>
            <a:xfrm>
              <a:off x="4208" y="6264"/>
              <a:ext cx="2520" cy="1424"/>
              <a:chOff x="4215" y="6264"/>
              <a:chExt cx="2520" cy="1424"/>
            </a:xfrm>
          </p:grpSpPr>
          <p:sp>
            <p:nvSpPr>
              <p:cNvPr id="89" name="圆角矩形 88"/>
              <p:cNvSpPr/>
              <p:nvPr/>
            </p:nvSpPr>
            <p:spPr>
              <a:xfrm>
                <a:off x="4215" y="6264"/>
                <a:ext cx="2520" cy="1425"/>
              </a:xfrm>
              <a:prstGeom prst="roundRect">
                <a:avLst>
                  <a:gd name="adj" fmla="val 10526"/>
                </a:avLst>
              </a:prstGeom>
              <a:solidFill>
                <a:srgbClr val="ECFEFF"/>
              </a:solidFill>
              <a:ln w="25400">
                <a:solidFill>
                  <a:srgbClr val="06B6D4"/>
                </a:solidFill>
                <a:prstDash val="solid"/>
              </a:ln>
            </p:spPr>
            <p:txBody>
              <a:bodyPr/>
              <a:lstStyle/>
              <a:p>
                <a:pPr algn="ctr"/>
                <a:endParaRPr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91" name="文本框 90" descr="{&quot;isTemplate&quot;:true,&quot;type&quot;:&quot;text&quot;}"/>
              <p:cNvSpPr txBox="1"/>
              <p:nvPr/>
            </p:nvSpPr>
            <p:spPr>
              <a:xfrm>
                <a:off x="4823" y="6474"/>
                <a:ext cx="1304" cy="255"/>
              </a:xfrm>
              <a:prstGeom prst="rect">
                <a:avLst/>
              </a:prstGeom>
            </p:spPr>
            <p:txBody>
              <a:bodyPr wrap="none" lIns="0" tIns="0" rIns="0" bIns="0"/>
              <a:lstStyle/>
              <a:p>
                <a:pPr algn="ctr">
                  <a:lnSpc>
                    <a:spcPct val="100000"/>
                  </a:lnSpc>
                </a:pPr>
                <a:r>
                  <a:rPr lang="zh-CN" sz="1200" b="1">
                    <a:solidFill>
                      <a:srgbClr val="0891B2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医疗数据域</a:t>
                </a:r>
              </a:p>
            </p:txBody>
          </p:sp>
          <p:sp>
            <p:nvSpPr>
              <p:cNvPr id="92" name="文本框 91" descr="{&quot;isTemplate&quot;:true,&quot;type&quot;:&quot;text&quot;}"/>
              <p:cNvSpPr txBox="1"/>
              <p:nvPr/>
            </p:nvSpPr>
            <p:spPr>
              <a:xfrm>
                <a:off x="4596" y="6834"/>
                <a:ext cx="1757" cy="225"/>
              </a:xfrm>
              <a:prstGeom prst="rect">
                <a:avLst/>
              </a:prstGeom>
            </p:spPr>
            <p:txBody>
              <a:bodyPr wrap="none" lIns="0" tIns="0" rIns="0" bIns="0"/>
              <a:lstStyle/>
              <a:p>
                <a:pPr algn="ctr">
                  <a:lnSpc>
                    <a:spcPct val="100000"/>
                  </a:lnSpc>
                </a:pPr>
                <a:r>
                  <a:rPr lang="en-US" sz="900">
                    <a:solidFill>
                      <a:srgbClr val="64748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HIS/EMR</a:t>
                </a:r>
                <a:r>
                  <a:rPr lang="zh-CN" sz="900">
                    <a:solidFill>
                      <a:srgbClr val="64748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系统</a:t>
                </a:r>
              </a:p>
            </p:txBody>
          </p:sp>
          <p:sp>
            <p:nvSpPr>
              <p:cNvPr id="93" name="文本框 92" descr="{&quot;isTemplate&quot;:true,&quot;type&quot;:&quot;text&quot;}"/>
              <p:cNvSpPr txBox="1"/>
              <p:nvPr/>
            </p:nvSpPr>
            <p:spPr>
              <a:xfrm>
                <a:off x="4596" y="7059"/>
                <a:ext cx="1757" cy="225"/>
              </a:xfrm>
              <a:prstGeom prst="rect">
                <a:avLst/>
              </a:prstGeom>
            </p:spPr>
            <p:txBody>
              <a:bodyPr wrap="none" lIns="0" tIns="0" rIns="0" bIns="0"/>
              <a:lstStyle/>
              <a:p>
                <a:pPr algn="ctr">
                  <a:lnSpc>
                    <a:spcPct val="100000"/>
                  </a:lnSpc>
                </a:pPr>
                <a:r>
                  <a:rPr lang="zh-CN" sz="900">
                    <a:solidFill>
                      <a:srgbClr val="64748B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临床诊断数据</a:t>
                </a:r>
              </a:p>
            </p:txBody>
          </p:sp>
          <p:sp>
            <p:nvSpPr>
              <p:cNvPr id="94" name="文本框 93" descr="{&quot;isTemplate&quot;:true,&quot;type&quot;:&quot;text&quot;}"/>
              <p:cNvSpPr txBox="1"/>
              <p:nvPr/>
            </p:nvSpPr>
            <p:spPr>
              <a:xfrm>
                <a:off x="4596" y="7284"/>
                <a:ext cx="1757" cy="225"/>
              </a:xfrm>
              <a:prstGeom prst="rect">
                <a:avLst/>
              </a:prstGeom>
            </p:spPr>
            <p:txBody>
              <a:bodyPr wrap="none" lIns="0" tIns="0" rIns="0" bIns="0"/>
              <a:lstStyle/>
              <a:p>
                <a:pPr algn="ctr">
                  <a:lnSpc>
                    <a:spcPct val="100000"/>
                  </a:lnSpc>
                </a:pPr>
                <a:r>
                  <a:rPr lang="zh-CN" sz="900">
                    <a:solidFill>
                      <a:srgbClr val="64748B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联邦学习协作方</a:t>
                </a:r>
              </a:p>
            </p:txBody>
          </p:sp>
        </p:grpSp>
        <p:grpSp>
          <p:nvGrpSpPr>
            <p:cNvPr id="6" name="组合 5"/>
            <p:cNvGrpSpPr/>
            <p:nvPr/>
          </p:nvGrpSpPr>
          <p:grpSpPr>
            <a:xfrm>
              <a:off x="7456" y="6264"/>
              <a:ext cx="2154" cy="1424"/>
              <a:chOff x="7455" y="6264"/>
              <a:chExt cx="2154" cy="1424"/>
            </a:xfrm>
          </p:grpSpPr>
          <p:sp>
            <p:nvSpPr>
              <p:cNvPr id="95" name="圆角矩形 94"/>
              <p:cNvSpPr/>
              <p:nvPr/>
            </p:nvSpPr>
            <p:spPr>
              <a:xfrm>
                <a:off x="7455" y="6264"/>
                <a:ext cx="2155" cy="1425"/>
              </a:xfrm>
              <a:prstGeom prst="roundRect">
                <a:avLst>
                  <a:gd name="adj" fmla="val 10526"/>
                </a:avLst>
              </a:prstGeom>
              <a:solidFill>
                <a:srgbClr val="FFFBEB"/>
              </a:solidFill>
              <a:ln w="25400">
                <a:solidFill>
                  <a:srgbClr val="F59E0B"/>
                </a:solidFill>
                <a:prstDash val="solid"/>
              </a:ln>
            </p:spPr>
            <p:txBody>
              <a:bodyPr/>
              <a:lstStyle/>
              <a:p>
                <a:pPr algn="ctr"/>
                <a:endParaRPr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97" name="文本框 96" descr="{&quot;isTemplate&quot;:true,&quot;type&quot;:&quot;text&quot;}"/>
              <p:cNvSpPr txBox="1"/>
              <p:nvPr/>
            </p:nvSpPr>
            <p:spPr>
              <a:xfrm>
                <a:off x="7881" y="6474"/>
                <a:ext cx="1304" cy="255"/>
              </a:xfrm>
              <a:prstGeom prst="rect">
                <a:avLst/>
              </a:prstGeom>
            </p:spPr>
            <p:txBody>
              <a:bodyPr wrap="none" lIns="0" tIns="0" rIns="0" bIns="0"/>
              <a:lstStyle/>
              <a:p>
                <a:pPr algn="ctr">
                  <a:lnSpc>
                    <a:spcPct val="100000"/>
                  </a:lnSpc>
                </a:pPr>
                <a:r>
                  <a:rPr lang="zh-CN" sz="1200" b="1">
                    <a:solidFill>
                      <a:srgbClr val="B45309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政务数据域</a:t>
                </a:r>
              </a:p>
            </p:txBody>
          </p:sp>
          <p:sp>
            <p:nvSpPr>
              <p:cNvPr id="98" name="文本框 97" descr="{&quot;isTemplate&quot;:true,&quot;type&quot;:&quot;text&quot;}"/>
              <p:cNvSpPr txBox="1"/>
              <p:nvPr/>
            </p:nvSpPr>
            <p:spPr>
              <a:xfrm>
                <a:off x="7654" y="6849"/>
                <a:ext cx="1757" cy="240"/>
              </a:xfrm>
              <a:prstGeom prst="rect">
                <a:avLst/>
              </a:prstGeom>
            </p:spPr>
            <p:txBody>
              <a:bodyPr wrap="none" lIns="0" tIns="0" rIns="0" bIns="0"/>
              <a:lstStyle/>
              <a:p>
                <a:pPr algn="ctr">
                  <a:lnSpc>
                    <a:spcPct val="100000"/>
                  </a:lnSpc>
                </a:pPr>
                <a:r>
                  <a:rPr lang="zh-CN" sz="900" dirty="0">
                    <a:solidFill>
                      <a:srgbClr val="64748B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政务云平台</a:t>
                </a:r>
              </a:p>
            </p:txBody>
          </p:sp>
          <p:sp>
            <p:nvSpPr>
              <p:cNvPr id="99" name="文本框 98" descr="{&quot;isTemplate&quot;:true,&quot;type&quot;:&quot;text&quot;}"/>
              <p:cNvSpPr txBox="1"/>
              <p:nvPr/>
            </p:nvSpPr>
            <p:spPr>
              <a:xfrm>
                <a:off x="7654" y="7074"/>
                <a:ext cx="1757" cy="180"/>
              </a:xfrm>
              <a:prstGeom prst="rect">
                <a:avLst/>
              </a:prstGeom>
            </p:spPr>
            <p:txBody>
              <a:bodyPr wrap="none" lIns="0" tIns="0" rIns="0" bIns="0"/>
              <a:lstStyle/>
              <a:p>
                <a:pPr algn="ctr">
                  <a:lnSpc>
                    <a:spcPct val="100000"/>
                  </a:lnSpc>
                </a:pPr>
                <a:r>
                  <a:rPr lang="zh-CN" sz="900" dirty="0">
                    <a:solidFill>
                      <a:srgbClr val="64748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身份</a:t>
                </a:r>
                <a:r>
                  <a:rPr lang="en-US" sz="900" dirty="0">
                    <a:solidFill>
                      <a:srgbClr val="64748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/</a:t>
                </a:r>
                <a:r>
                  <a:rPr lang="zh-CN" sz="900" dirty="0">
                    <a:solidFill>
                      <a:srgbClr val="64748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居住核验</a:t>
                </a:r>
                <a:endParaRPr dirty="0">
                  <a:cs typeface="微软雅黑" panose="020B0503020204020204" charset="-122"/>
                </a:endParaRPr>
              </a:p>
            </p:txBody>
          </p:sp>
          <p:sp>
            <p:nvSpPr>
              <p:cNvPr id="100" name="文本框 99" descr="{&quot;isTemplate&quot;:true,&quot;type&quot;:&quot;text&quot;}"/>
              <p:cNvSpPr txBox="1"/>
              <p:nvPr/>
            </p:nvSpPr>
            <p:spPr>
              <a:xfrm>
                <a:off x="7654" y="7299"/>
                <a:ext cx="1757" cy="240"/>
              </a:xfrm>
              <a:prstGeom prst="rect">
                <a:avLst/>
              </a:prstGeom>
            </p:spPr>
            <p:txBody>
              <a:bodyPr wrap="none" lIns="0" tIns="0" rIns="0" bIns="0"/>
              <a:lstStyle/>
              <a:p>
                <a:pPr algn="ctr">
                  <a:lnSpc>
                    <a:spcPct val="100000"/>
                  </a:lnSpc>
                </a:pPr>
                <a:r>
                  <a:rPr lang="zh-CN" sz="900">
                    <a:solidFill>
                      <a:srgbClr val="64748B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仅返回布尔结果</a:t>
                </a:r>
              </a:p>
            </p:txBody>
          </p:sp>
        </p:grpSp>
      </p:grpSp>
      <p:sp>
        <p:nvSpPr>
          <p:cNvPr id="101" name="圆角矩形 100"/>
          <p:cNvSpPr/>
          <p:nvPr/>
        </p:nvSpPr>
        <p:spPr>
          <a:xfrm>
            <a:off x="668337" y="4977765"/>
            <a:ext cx="5473700" cy="828675"/>
          </a:xfrm>
          <a:prstGeom prst="roundRect">
            <a:avLst>
              <a:gd name="adj" fmla="val 11494"/>
            </a:avLst>
          </a:prstGeom>
          <a:gradFill>
            <a:gsLst>
              <a:gs pos="0">
                <a:srgbClr val="1E3A8A"/>
              </a:gs>
              <a:gs pos="100000">
                <a:srgbClr val="2563EB"/>
              </a:gs>
            </a:gsLst>
            <a:lin ang="2700000" scaled="1"/>
          </a:gradFill>
        </p:spPr>
        <p:txBody>
          <a:bodyPr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" name="文本框 102" descr="{&quot;isTemplate&quot;:true,&quot;type&quot;:&quot;text&quot;}"/>
          <p:cNvSpPr txBox="1"/>
          <p:nvPr/>
        </p:nvSpPr>
        <p:spPr>
          <a:xfrm>
            <a:off x="2405062" y="5139690"/>
            <a:ext cx="20002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隐私计算层（数据可用不可见）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1757362" y="5415915"/>
            <a:ext cx="3295650" cy="256540"/>
            <a:chOff x="2670" y="8529"/>
            <a:chExt cx="5190" cy="404"/>
          </a:xfrm>
        </p:grpSpPr>
        <p:sp>
          <p:nvSpPr>
            <p:cNvPr id="104" name="圆角矩形 103"/>
            <p:cNvSpPr/>
            <p:nvPr/>
          </p:nvSpPr>
          <p:spPr>
            <a:xfrm>
              <a:off x="2670" y="8529"/>
              <a:ext cx="1080" cy="405"/>
            </a:xfrm>
            <a:prstGeom prst="roundRect">
              <a:avLst>
                <a:gd name="adj" fmla="val 29630"/>
              </a:avLst>
            </a:prstGeom>
            <a:solidFill>
              <a:srgbClr val="FFFFFF">
                <a:alpha val="10000"/>
              </a:srgbClr>
            </a:solidFill>
          </p:spPr>
          <p:txBody>
            <a:bodyPr/>
            <a:lstStyle/>
            <a:p>
              <a:pPr algn="ctr"/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5" name="文本框 104" descr="{&quot;isTemplate&quot;:true,&quot;type&quot;:&quot;text&quot;}"/>
            <p:cNvSpPr txBox="1"/>
            <p:nvPr/>
          </p:nvSpPr>
          <p:spPr>
            <a:xfrm>
              <a:off x="2850" y="8619"/>
              <a:ext cx="720" cy="225"/>
            </a:xfrm>
            <a:prstGeom prst="rect">
              <a:avLst/>
            </a:prstGeom>
          </p:spPr>
          <p:txBody>
            <a:bodyPr wrap="none" lIns="0" tIns="0" rIns="0" bIns="0"/>
            <a:lstStyle/>
            <a:p>
              <a:pPr algn="ctr">
                <a:lnSpc>
                  <a:spcPct val="100000"/>
                </a:lnSpc>
              </a:pPr>
              <a:r>
                <a:rPr lang="zh-CN" sz="9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联邦学习</a:t>
              </a:r>
            </a:p>
          </p:txBody>
        </p:sp>
        <p:sp>
          <p:nvSpPr>
            <p:cNvPr id="106" name="圆角矩形 105"/>
            <p:cNvSpPr/>
            <p:nvPr/>
          </p:nvSpPr>
          <p:spPr>
            <a:xfrm>
              <a:off x="3930" y="8529"/>
              <a:ext cx="1080" cy="405"/>
            </a:xfrm>
            <a:prstGeom prst="roundRect">
              <a:avLst>
                <a:gd name="adj" fmla="val 29630"/>
              </a:avLst>
            </a:prstGeom>
            <a:solidFill>
              <a:srgbClr val="FFFFFF">
                <a:alpha val="10000"/>
              </a:srgbClr>
            </a:solidFill>
          </p:spPr>
          <p:txBody>
            <a:bodyPr/>
            <a:lstStyle/>
            <a:p>
              <a:pPr algn="ctr"/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7" name="文本框 106" descr="{&quot;isTemplate&quot;:true,&quot;type&quot;:&quot;text&quot;}"/>
            <p:cNvSpPr txBox="1"/>
            <p:nvPr/>
          </p:nvSpPr>
          <p:spPr>
            <a:xfrm>
              <a:off x="4110" y="8619"/>
              <a:ext cx="720" cy="225"/>
            </a:xfrm>
            <a:prstGeom prst="rect">
              <a:avLst/>
            </a:prstGeom>
          </p:spPr>
          <p:txBody>
            <a:bodyPr wrap="none" lIns="0" tIns="0" rIns="0" bIns="0"/>
            <a:lstStyle/>
            <a:p>
              <a:pPr algn="ctr">
                <a:lnSpc>
                  <a:spcPct val="100000"/>
                </a:lnSpc>
              </a:pPr>
              <a:r>
                <a:rPr lang="zh-CN" sz="9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同态加密</a:t>
              </a:r>
            </a:p>
          </p:txBody>
        </p:sp>
        <p:sp>
          <p:nvSpPr>
            <p:cNvPr id="108" name="圆角矩形 107"/>
            <p:cNvSpPr/>
            <p:nvPr/>
          </p:nvSpPr>
          <p:spPr>
            <a:xfrm>
              <a:off x="5190" y="8529"/>
              <a:ext cx="1410" cy="405"/>
            </a:xfrm>
            <a:prstGeom prst="roundRect">
              <a:avLst>
                <a:gd name="adj" fmla="val 29630"/>
              </a:avLst>
            </a:prstGeom>
            <a:solidFill>
              <a:srgbClr val="FFFFFF">
                <a:alpha val="10000"/>
              </a:srgbClr>
            </a:solidFill>
          </p:spPr>
          <p:txBody>
            <a:bodyPr/>
            <a:lstStyle/>
            <a:p>
              <a:pPr algn="ctr"/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9" name="文本框 108" descr="{&quot;isTemplate&quot;:true,&quot;type&quot;:&quot;text&quot;}"/>
            <p:cNvSpPr txBox="1"/>
            <p:nvPr/>
          </p:nvSpPr>
          <p:spPr>
            <a:xfrm>
              <a:off x="5370" y="8619"/>
              <a:ext cx="1050" cy="225"/>
            </a:xfrm>
            <a:prstGeom prst="rect">
              <a:avLst/>
            </a:prstGeom>
          </p:spPr>
          <p:txBody>
            <a:bodyPr wrap="none" lIns="0" tIns="0" rIns="0" bIns="0"/>
            <a:lstStyle/>
            <a:p>
              <a:pPr algn="ctr">
                <a:lnSpc>
                  <a:spcPct val="100000"/>
                </a:lnSpc>
              </a:pPr>
              <a:r>
                <a:rPr lang="en-US" sz="9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TEE</a:t>
              </a:r>
              <a:r>
                <a:rPr lang="zh-CN" sz="9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可信执行</a:t>
              </a:r>
              <a:endParaRPr dirty="0">
                <a:solidFill>
                  <a:schemeClr val="bg1"/>
                </a:solidFill>
                <a:cs typeface="微软雅黑" panose="020B0503020204020204" charset="-122"/>
              </a:endParaRPr>
            </a:p>
          </p:txBody>
        </p:sp>
        <p:sp>
          <p:nvSpPr>
            <p:cNvPr id="110" name="圆角矩形 109"/>
            <p:cNvSpPr/>
            <p:nvPr/>
          </p:nvSpPr>
          <p:spPr>
            <a:xfrm>
              <a:off x="6780" y="8529"/>
              <a:ext cx="1080" cy="405"/>
            </a:xfrm>
            <a:prstGeom prst="roundRect">
              <a:avLst>
                <a:gd name="adj" fmla="val 29630"/>
              </a:avLst>
            </a:prstGeom>
            <a:solidFill>
              <a:srgbClr val="FFFFFF">
                <a:alpha val="10000"/>
              </a:srgbClr>
            </a:solidFill>
          </p:spPr>
          <p:txBody>
            <a:bodyPr/>
            <a:lstStyle/>
            <a:p>
              <a:pPr algn="ctr"/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1" name="文本框 110" descr="{&quot;isTemplate&quot;:true,&quot;type&quot;:&quot;text&quot;}"/>
            <p:cNvSpPr txBox="1"/>
            <p:nvPr/>
          </p:nvSpPr>
          <p:spPr>
            <a:xfrm>
              <a:off x="6960" y="8619"/>
              <a:ext cx="720" cy="225"/>
            </a:xfrm>
            <a:prstGeom prst="rect">
              <a:avLst/>
            </a:prstGeom>
          </p:spPr>
          <p:txBody>
            <a:bodyPr wrap="none" lIns="0" tIns="0" rIns="0" bIns="0"/>
            <a:lstStyle/>
            <a:p>
              <a:pPr algn="ctr">
                <a:lnSpc>
                  <a:spcPct val="100000"/>
                </a:lnSpc>
              </a:pPr>
              <a:r>
                <a:rPr lang="zh-CN" sz="9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安全聚合</a:t>
              </a:r>
            </a:p>
          </p:txBody>
        </p:sp>
      </p:grpSp>
      <p:sp>
        <p:nvSpPr>
          <p:cNvPr id="112" name="圆角矩形 111"/>
          <p:cNvSpPr/>
          <p:nvPr/>
        </p:nvSpPr>
        <p:spPr>
          <a:xfrm>
            <a:off x="628649" y="5911215"/>
            <a:ext cx="5553075" cy="581025"/>
          </a:xfrm>
          <a:prstGeom prst="roundRect">
            <a:avLst>
              <a:gd name="adj" fmla="val 16393"/>
            </a:avLst>
          </a:prstGeom>
          <a:solidFill>
            <a:srgbClr val="F0FDF4"/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4" name="文本框 113" descr="{&quot;isTemplate&quot;:true,&quot;type&quot;:&quot;text&quot;}"/>
          <p:cNvSpPr txBox="1"/>
          <p:nvPr/>
        </p:nvSpPr>
        <p:spPr>
          <a:xfrm>
            <a:off x="2844799" y="5958840"/>
            <a:ext cx="112077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200" b="1" dirty="0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</a:rPr>
              <a:t>区块链溯源层</a:t>
            </a:r>
          </a:p>
        </p:txBody>
      </p:sp>
      <p:sp>
        <p:nvSpPr>
          <p:cNvPr id="115" name="文本框 114" descr="{&quot;isTemplate&quot;:true,&quot;type&quot;:&quot;text&quot;}"/>
          <p:cNvSpPr txBox="1"/>
          <p:nvPr/>
        </p:nvSpPr>
        <p:spPr>
          <a:xfrm>
            <a:off x="1256347" y="6196965"/>
            <a:ext cx="4297680" cy="17208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900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智能合约动态授权</a:t>
            </a:r>
            <a:r>
              <a:rPr lang="en-US" sz="900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sz="900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全操作哈希上链存证</a:t>
            </a:r>
            <a:r>
              <a:rPr lang="en-US" sz="900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PBFT</a:t>
            </a:r>
            <a:r>
              <a:rPr lang="zh-CN" sz="900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共识</a:t>
            </a:r>
            <a:r>
              <a:rPr lang="en-US" sz="900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DID</a:t>
            </a:r>
            <a:r>
              <a:rPr lang="zh-CN" sz="900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身份标识</a:t>
            </a:r>
            <a:endParaRPr dirty="0">
              <a:cs typeface="微软雅黑" panose="020B0503020204020204" charset="-122"/>
            </a:endParaRPr>
          </a:p>
        </p:txBody>
      </p:sp>
      <p:sp>
        <p:nvSpPr>
          <p:cNvPr id="116" name="圆角矩形 115"/>
          <p:cNvSpPr/>
          <p:nvPr/>
        </p:nvSpPr>
        <p:spPr>
          <a:xfrm>
            <a:off x="6772275" y="3434714"/>
            <a:ext cx="2143125" cy="1704975"/>
          </a:xfrm>
          <a:prstGeom prst="roundRect">
            <a:avLst>
              <a:gd name="adj" fmla="val 795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9" name="文本框 118" descr="{&quot;isTemplate&quot;:true,&quot;type&quot;:&quot;text&quot;}"/>
          <p:cNvSpPr txBox="1"/>
          <p:nvPr/>
        </p:nvSpPr>
        <p:spPr>
          <a:xfrm>
            <a:off x="7419975" y="3701415"/>
            <a:ext cx="10800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联邦学习</a:t>
            </a:r>
          </a:p>
        </p:txBody>
      </p:sp>
      <p:sp>
        <p:nvSpPr>
          <p:cNvPr id="120" name="文本框 119" descr="{&quot;isTemplate&quot;:true,&quot;type&quot;:&quot;text&quot;}"/>
          <p:cNvSpPr txBox="1"/>
          <p:nvPr/>
        </p:nvSpPr>
        <p:spPr>
          <a:xfrm>
            <a:off x="6837680" y="4006215"/>
            <a:ext cx="2012315" cy="47688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000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家庭体征数据与医院临床数据</a:t>
            </a:r>
            <a:r>
              <a:rPr lang="zh-CN" sz="1000" dirty="0" smtClean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联合</a:t>
            </a:r>
            <a:endParaRPr lang="en-US" altLang="zh-CN" sz="1000" dirty="0" smtClean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sz="1000" dirty="0" smtClean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训练</a:t>
            </a:r>
            <a:r>
              <a:rPr lang="zh-CN" sz="1000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慢病预警模型，原始数据不出域</a:t>
            </a:r>
          </a:p>
        </p:txBody>
      </p:sp>
      <p:sp>
        <p:nvSpPr>
          <p:cNvPr id="121" name="文本框 120" descr="{&quot;isTemplate&quot;:true,&quot;type&quot;:&quot;text&quot;}"/>
          <p:cNvSpPr txBox="1"/>
          <p:nvPr/>
        </p:nvSpPr>
        <p:spPr>
          <a:xfrm>
            <a:off x="6943725" y="4511040"/>
            <a:ext cx="198943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</a:t>
            </a:r>
            <a:r>
              <a:rPr lang="zh-CN" sz="900" dirty="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差分隐私</a:t>
            </a:r>
            <a:r>
              <a:rPr lang="en-US" sz="900" dirty="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ε≤1.0 </a:t>
            </a:r>
            <a:r>
              <a:rPr lang="zh-CN" sz="900" dirty="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梯度加噪</a:t>
            </a:r>
            <a:endParaRPr dirty="0">
              <a:cs typeface="微软雅黑" panose="020B0503020204020204" charset="-122"/>
            </a:endParaRPr>
          </a:p>
        </p:txBody>
      </p:sp>
      <p:sp>
        <p:nvSpPr>
          <p:cNvPr id="122" name="文本框 121" descr="{&quot;isTemplate&quot;:true,&quot;type&quot;:&quot;text&quot;}"/>
          <p:cNvSpPr txBox="1"/>
          <p:nvPr/>
        </p:nvSpPr>
        <p:spPr>
          <a:xfrm>
            <a:off x="6943725" y="4692015"/>
            <a:ext cx="198943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SM2</a:t>
            </a:r>
            <a:r>
              <a:rPr lang="zh-CN" sz="900" dirty="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签名防篡改</a:t>
            </a:r>
            <a:endParaRPr dirty="0">
              <a:cs typeface="微软雅黑" panose="020B0503020204020204" charset="-122"/>
            </a:endParaRPr>
          </a:p>
        </p:txBody>
      </p:sp>
      <p:sp>
        <p:nvSpPr>
          <p:cNvPr id="123" name="文本框 122" descr="{&quot;isTemplate&quot;:true,&quot;type&quot;:&quot;text&quot;}"/>
          <p:cNvSpPr txBox="1"/>
          <p:nvPr/>
        </p:nvSpPr>
        <p:spPr>
          <a:xfrm>
            <a:off x="6943725" y="4872990"/>
            <a:ext cx="198943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</a:t>
            </a:r>
            <a:r>
              <a:rPr lang="zh-CN" sz="900" dirty="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安全聚合：协调方不可见单梯度</a:t>
            </a:r>
            <a:endParaRPr dirty="0">
              <a:cs typeface="微软雅黑" panose="020B0503020204020204" charset="-122"/>
            </a:endParaRPr>
          </a:p>
        </p:txBody>
      </p:sp>
      <p:sp>
        <p:nvSpPr>
          <p:cNvPr id="124" name="圆角矩形 123"/>
          <p:cNvSpPr/>
          <p:nvPr/>
        </p:nvSpPr>
        <p:spPr>
          <a:xfrm>
            <a:off x="6896100" y="3587115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1E3A8A"/>
          </a:solidFill>
        </p:spPr>
        <p:txBody>
          <a:bodyPr/>
          <a:lstStyle/>
          <a:p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25" name="图片 124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981825" y="3672840"/>
            <a:ext cx="209550" cy="209550"/>
          </a:xfrm>
          <a:prstGeom prst="rect">
            <a:avLst/>
          </a:prstGeom>
        </p:spPr>
      </p:pic>
      <p:sp>
        <p:nvSpPr>
          <p:cNvPr id="126" name="圆角矩形 125"/>
          <p:cNvSpPr/>
          <p:nvPr/>
        </p:nvSpPr>
        <p:spPr>
          <a:xfrm>
            <a:off x="9191625" y="3444238"/>
            <a:ext cx="2311400" cy="1695451"/>
          </a:xfrm>
          <a:prstGeom prst="roundRect">
            <a:avLst>
              <a:gd name="adj" fmla="val 795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7" name="圆角矩形 126"/>
          <p:cNvSpPr/>
          <p:nvPr/>
        </p:nvSpPr>
        <p:spPr>
          <a:xfrm>
            <a:off x="9363075" y="3587114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10B981"/>
          </a:solidFill>
        </p:spPr>
        <p:txBody>
          <a:bodyPr/>
          <a:lstStyle/>
          <a:p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28" name="图片 127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9448800" y="3672839"/>
            <a:ext cx="209550" cy="209550"/>
          </a:xfrm>
          <a:prstGeom prst="rect">
            <a:avLst/>
          </a:prstGeom>
        </p:spPr>
      </p:pic>
      <p:sp>
        <p:nvSpPr>
          <p:cNvPr id="129" name="文本框 128" descr="{&quot;isTemplate&quot;:true,&quot;type&quot;:&quot;text&quot;}"/>
          <p:cNvSpPr txBox="1"/>
          <p:nvPr/>
        </p:nvSpPr>
        <p:spPr>
          <a:xfrm>
            <a:off x="9839325" y="3682364"/>
            <a:ext cx="10800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00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</a:rPr>
              <a:t>区块链溯源</a:t>
            </a:r>
          </a:p>
        </p:txBody>
      </p:sp>
      <p:sp>
        <p:nvSpPr>
          <p:cNvPr id="130" name="文本框 129" descr="{&quot;isTemplate&quot;:true,&quot;type&quot;:&quot;text&quot;}"/>
          <p:cNvSpPr txBox="1"/>
          <p:nvPr/>
        </p:nvSpPr>
        <p:spPr>
          <a:xfrm>
            <a:off x="9363075" y="4006215"/>
            <a:ext cx="2017395" cy="4762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000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智能合约动态授权替代纸质授权</a:t>
            </a:r>
            <a:r>
              <a:rPr lang="zh-CN" sz="1000" dirty="0" smtClean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endParaRPr lang="en-US" altLang="zh-CN" sz="1000" dirty="0" smtClean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sz="1000" dirty="0" smtClean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支持</a:t>
            </a:r>
            <a:r>
              <a:rPr lang="zh-CN" sz="1000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细粒度约束和实时撤回</a:t>
            </a:r>
          </a:p>
        </p:txBody>
      </p:sp>
      <p:sp>
        <p:nvSpPr>
          <p:cNvPr id="131" name="文本框 130" descr="{&quot;isTemplate&quot;:true,&quot;type&quot;:&quot;text&quot;}"/>
          <p:cNvSpPr txBox="1"/>
          <p:nvPr/>
        </p:nvSpPr>
        <p:spPr>
          <a:xfrm>
            <a:off x="9363075" y="4520565"/>
            <a:ext cx="2143125" cy="133349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</a:t>
            </a:r>
            <a:r>
              <a:rPr lang="zh-CN" sz="900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采集</a:t>
            </a:r>
            <a:r>
              <a:rPr lang="en-US" sz="900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sz="900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存储</a:t>
            </a:r>
            <a:r>
              <a:rPr lang="en-US" sz="900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sz="900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访问</a:t>
            </a:r>
            <a:r>
              <a:rPr lang="en-US" sz="900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sz="900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共享</a:t>
            </a:r>
            <a:r>
              <a:rPr lang="en-US" sz="900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sz="900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销毁全留痕</a:t>
            </a:r>
          </a:p>
        </p:txBody>
      </p:sp>
      <p:sp>
        <p:nvSpPr>
          <p:cNvPr id="132" name="文本框 131" descr="{&quot;isTemplate&quot;:true,&quot;type&quot;:&quot;text&quot;}"/>
          <p:cNvSpPr txBox="1"/>
          <p:nvPr/>
        </p:nvSpPr>
        <p:spPr>
          <a:xfrm>
            <a:off x="9363075" y="4701540"/>
            <a:ext cx="2143125" cy="133349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FISCO-BCOS</a:t>
            </a:r>
            <a:r>
              <a:rPr lang="zh-CN" sz="900" dirty="0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联盟链</a:t>
            </a:r>
            <a:r>
              <a:rPr lang="en-US" sz="900" dirty="0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PBFT</a:t>
            </a:r>
            <a:r>
              <a:rPr lang="zh-CN" sz="900" dirty="0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共识</a:t>
            </a:r>
            <a:endParaRPr dirty="0">
              <a:cs typeface="微软雅黑" panose="020B0503020204020204" charset="-122"/>
            </a:endParaRPr>
          </a:p>
        </p:txBody>
      </p:sp>
      <p:sp>
        <p:nvSpPr>
          <p:cNvPr id="133" name="文本框 132" descr="{&quot;isTemplate&quot;:true,&quot;type&quot;:&quot;text&quot;}"/>
          <p:cNvSpPr txBox="1"/>
          <p:nvPr/>
        </p:nvSpPr>
        <p:spPr>
          <a:xfrm>
            <a:off x="9363075" y="4882515"/>
            <a:ext cx="2143125" cy="133349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</a:t>
            </a:r>
            <a:r>
              <a:rPr lang="zh-CN" sz="900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操作日志≥</a:t>
            </a:r>
            <a:r>
              <a:rPr lang="en-US" sz="900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sz="900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年不可篡改</a:t>
            </a:r>
          </a:p>
        </p:txBody>
      </p:sp>
      <p:sp>
        <p:nvSpPr>
          <p:cNvPr id="134" name="圆角矩形 133"/>
          <p:cNvSpPr/>
          <p:nvPr/>
        </p:nvSpPr>
        <p:spPr>
          <a:xfrm>
            <a:off x="6800850" y="5196837"/>
            <a:ext cx="4705350" cy="1400177"/>
          </a:xfrm>
          <a:prstGeom prst="roundRect">
            <a:avLst>
              <a:gd name="adj" fmla="val 795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5" name="圆角矩形 134"/>
          <p:cNvSpPr/>
          <p:nvPr/>
        </p:nvSpPr>
        <p:spPr>
          <a:xfrm>
            <a:off x="6972300" y="5273037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06B6D4"/>
          </a:solidFill>
        </p:spPr>
        <p:txBody>
          <a:bodyPr/>
          <a:lstStyle/>
          <a:p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36" name="图片 135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7058025" y="5358762"/>
            <a:ext cx="209550" cy="209550"/>
          </a:xfrm>
          <a:prstGeom prst="rect">
            <a:avLst/>
          </a:prstGeom>
        </p:spPr>
      </p:pic>
      <p:sp>
        <p:nvSpPr>
          <p:cNvPr id="137" name="文本框 136" descr="{&quot;isTemplate&quot;:true,&quot;type&quot;:&quot;text&quot;}"/>
          <p:cNvSpPr txBox="1"/>
          <p:nvPr/>
        </p:nvSpPr>
        <p:spPr>
          <a:xfrm>
            <a:off x="7448550" y="5368287"/>
            <a:ext cx="10800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00" b="1" dirty="0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</a:rPr>
              <a:t>可信数据空间</a:t>
            </a:r>
          </a:p>
        </p:txBody>
      </p:sp>
      <p:sp>
        <p:nvSpPr>
          <p:cNvPr id="138" name="文本框 137" descr="{&quot;isTemplate&quot;:true,&quot;type&quot;:&quot;text&quot;}"/>
          <p:cNvSpPr txBox="1"/>
          <p:nvPr/>
        </p:nvSpPr>
        <p:spPr>
          <a:xfrm>
            <a:off x="6972300" y="5739762"/>
            <a:ext cx="443865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0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参照金域医学全国首批试点架构，构建三方数据流通基础设施</a:t>
            </a:r>
          </a:p>
        </p:txBody>
      </p:sp>
      <p:sp>
        <p:nvSpPr>
          <p:cNvPr id="139" name="文本框 138" descr="{&quot;isTemplate&quot;:true,&quot;type&quot;:&quot;text&quot;}"/>
          <p:cNvSpPr txBox="1"/>
          <p:nvPr/>
        </p:nvSpPr>
        <p:spPr>
          <a:xfrm>
            <a:off x="6972300" y="6044562"/>
            <a:ext cx="443865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</a:t>
            </a:r>
            <a:r>
              <a:rPr lang="zh-CN" sz="900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准入规则</a:t>
            </a:r>
            <a:r>
              <a:rPr lang="en-US" sz="900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sz="900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交互协议双控制面</a:t>
            </a:r>
          </a:p>
        </p:txBody>
      </p:sp>
      <p:sp>
        <p:nvSpPr>
          <p:cNvPr id="140" name="文本框 139" descr="{&quot;isTemplate&quot;:true,&quot;type&quot;:&quot;text&quot;}"/>
          <p:cNvSpPr txBox="1"/>
          <p:nvPr/>
        </p:nvSpPr>
        <p:spPr>
          <a:xfrm>
            <a:off x="6972300" y="6225537"/>
            <a:ext cx="443865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</a:t>
            </a:r>
            <a:r>
              <a:rPr lang="zh-CN" sz="900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数据使用方仅获脱敏结果</a:t>
            </a:r>
          </a:p>
        </p:txBody>
      </p:sp>
      <p:sp>
        <p:nvSpPr>
          <p:cNvPr id="141" name="文本框 140" descr="{&quot;isTemplate&quot;:true,&quot;type&quot;:&quot;text&quot;}"/>
          <p:cNvSpPr txBox="1"/>
          <p:nvPr/>
        </p:nvSpPr>
        <p:spPr>
          <a:xfrm>
            <a:off x="6972300" y="6406512"/>
            <a:ext cx="443865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</a:t>
            </a:r>
            <a:r>
              <a:rPr lang="zh-CN" sz="900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支持实时撤回授权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72720" y="140970"/>
            <a:ext cx="3569335" cy="460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73A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全生命周期</a:t>
            </a:r>
            <a:r>
              <a:rPr lang="zh-CN" altLang="en-US" sz="2400" b="1" dirty="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可信数据</a:t>
            </a:r>
            <a:r>
              <a:rPr lang="zh-CN" altLang="en-US" sz="2400" b="1" dirty="0" smtClean="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体系</a:t>
            </a:r>
            <a:endParaRPr lang="zh-CN" altLang="en-US" sz="2400" b="1">
              <a:solidFill>
                <a:srgbClr val="063591"/>
              </a:solidFill>
              <a:latin typeface="Times New Roman" panose="0202060305040502030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'20px 60px 20px 60px' }}&gt;&#10;    {/* Title block */}&#10;    &lt;Box style={{ height: 80, flexDirection: 'column', justifyContent: 'center' }}&gt;&#10;        &lt;Text style={{ fontSize: 32, fontWeight: 'bold', color: '#1E3A8A' }}&gt;方向六：智能聊天全链路语音管线&lt;/Text&gt;&#10;        &lt;Text style={{ fontSize: 16, color: '#64748B', marginTop: 4 }}&gt;Wyoming协议本地离线闭环：唤醒→STT→LLM→TTS全链路断网可用，端到端延迟≤3秒&lt;/Text&gt;&#10;    &lt;/Box&gt;&#10;    {/* Content - Left 55% pipeline + Right 45% optimization */}&#10;    &lt;Box style={{ flex: 1, marginTop: 8, flexDirection: 'row', gap: 20 }}&gt;&#10;        {/* Left 55% - Voice pipeline diagram */}&#10;        &lt;Box style={{ width: '55%', gap: 10, flexDirection: 'column' }}&gt;&#10;            {/* Pipeline title */}&#10;            &lt;Box style={{ background: 'linear-gradient(135deg, #1E3A8A 0%, #2563EB 100%)', borderRadius: 10, padding: '8px 16px', flexDirection: 'row', alignItems: 'center', gap: 10 }}&gt;&#10;                &lt;FAIcon name='microphone' style={{ fill: '#06B6D4', width: 22, height: 22 }} /&gt;&#10;                &lt;Text style={{ fontSize: 15, fontWeight: 'bold', color: '#FFFFFF' }}&gt;Wyoming 本地语音管线（零云端依赖）&lt;/Text&gt;&#10;            &lt;/Box&gt;&#10;            {/* Stage 1: Wake word */}&#10;            &lt;Box style={{ flexDirection: 'row', alignItems: 'center', gap: 8 }}&gt;&#10;                &lt;Box style={{ flex: 1, background: '#EFF6FF', borderRadius: 10, padding: 10, border: '2px solid #1E3A8A' }}&gt;&#10;                    &lt;Box style={{ flexDirection: 'row', alignItems: 'center', gap: 8 }}&gt;&#10;                        &lt;Box style={{ width: 36, height: 36, borderRadius: 8, background: '#1E3A8A', justifyContent: 'center', alignItems: 'center' }}&gt;&#10;                            &lt;FAIcon name='ear-listen' style={{ fill: '#FFFFFF', width: 20, height: 20 }} /&gt;&#10;                        &lt;/Box&gt;&#10;                        &lt;Box style={{ flex: 1 }}&gt;&#10;                            &lt;Text style={{ fontSize: 14, fontWeight: 'bold', color: '#1E3A8A' }}&gt;① openWakeWord&lt;/Text&gt;&#10;                            &lt;Text style={{ fontSize: 12, color: '#64748B' }}&gt;唤醒词检测 · CPU 5%单核 · ~0ms&lt;/Text&gt;&#10;                        &lt;/Box&gt;&#10;                    &lt;/Box&gt;&#10;                &lt;/Box&gt;&#10;            &lt;/Box&gt;&#10;            {/* Arrow */}&#10;            &lt;Box style={{ flexDirection: 'row', justifyContent: 'center' }}&gt;&#10;                &lt;FAIcon name='arrow-down' style={{ fill: '#94A3B8', width: 20, height: 20 }} /&gt;&#10;            &lt;/Box&gt;&#10;            {/* Stage 2: VAD + STT */}&#10;            &lt;Box style={{ flexDirection: 'row', alignItems: 'center', gap: 8 }}&gt;&#10;                &lt;Box style={{ flex: 1, background: '#ECFEFF', borderRadius: 10, padding: 10, border: '2px solid #06B6D4' }}&gt;&#10;                    &lt;Box style={{ flexDirection: 'row', alignItems: 'center', gap: 8 }}&gt;&#10;                        &lt;Box style={{ width: 36, height: 36, borderRadius: 8, background: '#06B6D4', justifyContent: 'center', alignItems: 'center' }}&gt;&#10;                            &lt;FAIcon name='waveform-lines' style={{ fill: '#FFFFFF', width: 20, height: 20 }} /&gt;&#10;                        &lt;/Box&gt;&#10;                        &lt;Box style={{ flex: 1 }}&gt;&#10;                            &lt;Text style={{ fontSize: 14, fontWeight: 'bold', color: '#0891B2' }}&gt;② Silero VAD → STT&lt;/Text&gt;&#10;                            &lt;Text style={{ fontSize: 12, color: '#64748B' }}&gt;Sherpa-ONNX中文STT · RTF 0.04 · 比实时快25x&lt;/Text&gt;&#10;                        &lt;/Box&gt;&#10;                    &lt;/Box&gt;&#10;                &lt;/Box&gt;&#10;            &lt;/Box&gt;&#10;            &lt;Box style={{ flexDirection: 'row', justifyContent: 'center' }}&gt;&#10;                &lt;FAIcon name='arrow-down' style={{ fill: '#94A3B8', width: 20, height: 20 }} /&gt;&#10;            &lt;/Box&gt;&#10;            {/* Stage 3: OpenClaw + LLM */}&#10;            &lt;Box style={{ flexDirection: 'row', alignItems: 'center', gap: 8 }}&gt;&#10;                &lt;Box style={{ flex: 1, background: '#FFFBEB', borderRadius: 10, padding: 10, border: '2px solid #F59E0B' }}&gt;&#10;                    &lt;Box style={{ flexDirection: 'row', alignItems: 'center', gap: 8 }}&gt;&#10;                        &lt;Box style={{ width: 36, height: 36, borderRadius: 8, background: '#F59E0B', justifyContent: 'center', alignItems: 'center' }}&gt;&#10;                            &lt;FAIcon name='brain' style={{ fill: '#FFFFFF', width: 20, height: 20 }} /&gt;&#10;                        &lt;/Box&gt;&#10;                        &lt;Box style={{ flex: 1 }}&gt;&#10;                            &lt;Text style={{ fontSize: 14, fontWeight: 'bold', color: '#B45309' }}&gt;③ OpenClaw + Ollama LLM&lt;/Text&gt;&#10;                            &lt;Text style={{ fontSize: 12, color: '#64748B' }}&gt;Qwen3:8B · 意图识别+工具调用 · MCP→HA设备控制&lt;/Text&gt;&#10;                        &lt;/Box&gt;&#10;                    &lt;/Box&gt;&#10;                &lt;/Box&gt;&#10;            &lt;/Box&gt;&#10;            &lt;Box style={{ flexDirection: 'row', justifyContent: 'center' }}&gt;&#10;                &lt;FAIcon name='arrow-down' style={{ fill: '#94A3B8', width: 20, height: 20 }} /&gt;&#10;            &lt;/Box&gt;&#10;            {/* Stage 4: TTS */}&#10;            &lt;Box style={{ flexDirection: 'row', alignItems: 'center', gap: 8 }}&gt;&#10;                &lt;Box style={{ flex: 1, background: '#F0FDF4', borderRadius: 10, padding: 10, border: '2px solid #10B981' }}&gt;&#10;                    &lt;Box style={{ flexDirection: 'row', alignItems: 'center', gap: 8 }}&gt;&#10;                        &lt;Box style={{ width: 36, height: 36, borderRadius: 8, background: '#10B981', justifyContent: 'center', alignItems: 'center' }}&gt;&#10;                            &lt;FAIcon name='volume-high' style={{ fill: '#FFFFFF', width: 20, height: 20 }} /&gt;&#10;                        &lt;/Box&gt;&#10;                        &lt;Box style={{ flex: 1 }}&gt;&#10;                            &lt;Text style={{ fontSize: 14, fontWeight: 'bold', color: '#059669' }}&gt;④ 流式TTS输出&lt;/Text&gt;&#10;                            &lt;Text style={{ fontSize: 12, color: '#64748B' }}&gt;Sherpa-ONNX matcha-zh-en · 句子级分块 · 首句即时播放&lt;/Text&gt;&#10;                        &lt;/Box&gt;&#10;                    &lt;/Box&gt;&#10;                &lt;/Box&gt;&#10;            &lt;/Box&gt;&#10;        &lt;/Box&gt;&#10;        {/* Right 45% - Optimization &amp; metrics */}&#10;        &lt;Box style={{ flex: 1, gap: 12, flexDirection: 'column' }}&gt;&#10;            {/* Big number - latency */}&#10;            &lt;Box style={{ background: 'linear-gradient(160deg, #1E3A8A 0%, #0F172A 100%)', borderRadius: 16, padding: 20, alignItems: 'center' }}&gt;&#10;                &lt;Text style={{ fontSize: 14, color: 'rgba(255,255,255,0.7)', marginBottom: 4 }}&gt;端到端延迟（GPU方案）&lt;/Text&gt;&#10;                &lt;Box style={{ flexDirection: 'row', alignItems: 'baseline', gap: 6 }}&gt;&#10;                    &lt;Text style={{ fontSize: 64, fontWeight: 'bold', color: '#F59E0B', fontFamily: 'Space Grotesk' }}&gt;≤3&lt;/Text&gt;&#10;                    &lt;Text style={{ fontSize: 24, color: '#FFFFFF', fontWeight: 'bold' }}&gt;秒&lt;/Text&gt;&#10;                &lt;/Box&gt;&#10;                &lt;Text style={{ fontSize: 13, color: 'rgba(255,255,255,0.6)', marginTop: 4 }}&gt;CPU方案 ≤8秒 · 简单指令 &amp;lt;1秒（免LLM快速路径）&lt;/Text&gt;&#10;            &lt;/Box&gt;&#10;            {/* Optimization 1: Streaming TTS */}&#10;            &lt;Box style={{ background: '#F8FAFC', borderRadius: 12, padding: 14, border: '1px solid #E2E8F0' }}&gt;&#10;                &lt;Box style={{ flexDirection: 'row', alignItems: 'center', gap: 8, marginBottom: 6 }}&gt;&#10;                    &lt;FAIcon name='bolt' style={{ fill: '#F59E0B', width: 22, height: 22 }} /&gt;&#10;                    &lt;Text style={{ fontSize: 15, fontWeight: 'bold', color: '#1E3A8A' }}&gt;流式TTS（核心优化）&lt;/Text&gt;&#10;                &lt;/Box&gt;&#10;                &lt;Text style={{ fontSize: 13, color: '#64748B', lineHeight: 1.4 }}&gt;&#10;                    LLM Token流按句子边界分块，首句完成立即送TTS合成播放，体感延迟降低约50%&#10;                &lt;/Text&gt;&#10;            &lt;/Box&gt;&#10;            {/* Optimization 2: Barge-in */}&#10;            &lt;Box style={{ background: '#F8FAFC', borderRadius: 12, padding: 14, border: '1px solid #E2E8F0' }}&gt;&#10;                &lt;Box style={{ flexDirection: 'row', alignItems: 'center', gap: 8, marginBottom: 6 }}&gt;&#10;                    &lt;FAIcon name='hand' style={{ fill: '#06B6D4', width: 22, height: 22 }} /&gt;&#10;                    &lt;Text style={{ fontSize: 15, fontWeight: 'bold', color: '#1E3A8A' }}&gt;Barge-in 打断&lt;/Text&gt;&#10;                &lt;/Box&gt;&#10;                &lt;Text style={{ fontSize: 13, color: '#64748B', lineHeight: 1.4 }}&gt;&#10;                    用户说话时自动停止TTS播放，取消LLM生成，重新开始STT接收新指令&#10;                &lt;/Text&gt;&#10;            &lt;/Box&gt;&#10;            {/* Optimization 3: Multi-terminal */}&#10;            &lt;Box style={{ background: '#F8FAFC', borderRadius: 12, padding: 14, border: '1px solid #E2E8F0' }}&gt;&#10;                &lt;Box style={{ flexDirection: 'row', alignItems: 'center', gap: 8, marginBottom: 6 }}&gt;&#10;                    &lt;FAIcon name='mobile-screen' style={{ fill: '#10B981', width: 22, height: 22 }} /&gt;&#10;                    &lt;Text style={{ fontSize: 15, fontWeight: 'bold', color: '#1E3A8A' }}&gt;多终端统一接入&lt;/Text&gt;&#10;                &lt;/Box&gt;&#10;                &lt;Text style={{ fontSize: 13, color: '#64748B', lineHeight: 1.4 }}&gt;&#10;                    Web面板 · 手机App · ESP32语音卫星 · 微信通道统一服务&#10;                &lt;/Text&gt;&#10;            &lt;/Box&gt;&#10;        &lt;/Box&gt;&#10;    &lt;/Box&gt;&#10;    {/* Footer */}&#10;    &lt;Box style={{ height: 40, flexDirection: 'row', justifyContent: 'space-between', alignItems: 'center', borderTop: '1px solid #E2E8F0', paddingTop: 8 }}&gt;&#10;        &lt;Text style={{ fontSize: 14, color: '#94A3B8' }}&gt;家庭微脑技术方案&lt;/Text&gt;&#10;        &lt;Text style={{ fontSize: 14, color: '#94A3B8' }}&gt;12 / 13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2720" y="140970"/>
            <a:ext cx="3569335" cy="460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400" b="1" dirty="0" smtClean="0">
                <a:solidFill>
                  <a:srgbClr val="1E3A8A"/>
                </a:solidFill>
                <a:latin typeface="Times New Roman" panose="02020603050405020304" charset="0"/>
                <a:ea typeface="微软雅黑" panose="020B0503020204020204" charset="-122"/>
                <a:sym typeface="+mn-ea"/>
              </a:rPr>
              <a:t>本地离线交互</a:t>
            </a:r>
            <a:endParaRPr lang="zh-CN" altLang="en-US" sz="2400" b="1">
              <a:solidFill>
                <a:srgbClr val="063591"/>
              </a:solidFill>
              <a:latin typeface="Times New Roman" panose="02020603050405020304" charset="0"/>
              <a:ea typeface="微软雅黑" panose="020B0503020204020204" charset="-122"/>
            </a:endParaRPr>
          </a:p>
        </p:txBody>
      </p:sp>
      <p:sp>
        <p:nvSpPr>
          <p:cNvPr id="104" name="TextBox 2"/>
          <p:cNvSpPr txBox="1"/>
          <p:nvPr/>
        </p:nvSpPr>
        <p:spPr>
          <a:xfrm>
            <a:off x="172720" y="744467"/>
            <a:ext cx="8349615" cy="288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lang="zh-CN" altLang="en-US" sz="1400" b="0" dirty="0">
                <a:solidFill>
                  <a:srgbClr val="06359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基于</a:t>
            </a:r>
            <a:r>
              <a:rPr lang="en-US" altLang="zh-CN" sz="1400" b="0" dirty="0">
                <a:solidFill>
                  <a:srgbClr val="06359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Wyoming </a:t>
            </a:r>
            <a:r>
              <a:rPr lang="zh-CN" altLang="en-US" sz="1400" b="0" dirty="0">
                <a:solidFill>
                  <a:srgbClr val="06359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的唤醒</a:t>
            </a:r>
            <a:r>
              <a:rPr lang="en-US" altLang="en-US" sz="1400" b="0" dirty="0">
                <a:solidFill>
                  <a:srgbClr val="06359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→</a:t>
            </a:r>
            <a:r>
              <a:rPr lang="zh-CN" altLang="en-US" sz="1400" b="0" dirty="0">
                <a:solidFill>
                  <a:srgbClr val="06359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识别</a:t>
            </a:r>
            <a:r>
              <a:rPr lang="en-US" altLang="en-US" sz="1400" b="0" dirty="0">
                <a:solidFill>
                  <a:srgbClr val="06359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→</a:t>
            </a:r>
            <a:r>
              <a:rPr lang="zh-CN" altLang="en-US" sz="1400" b="0" dirty="0">
                <a:solidFill>
                  <a:srgbClr val="06359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理解</a:t>
            </a:r>
            <a:r>
              <a:rPr lang="en-US" altLang="en-US" sz="1400" b="0" dirty="0">
                <a:solidFill>
                  <a:srgbClr val="06359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→</a:t>
            </a:r>
            <a:r>
              <a:rPr lang="zh-CN" altLang="en-US" sz="1400" b="0" dirty="0">
                <a:solidFill>
                  <a:srgbClr val="06359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合成本地闭环；简单指令走快速路径，常规对话交给本地模型</a:t>
            </a:r>
          </a:p>
          <a:p>
            <a:pPr algn="l"/>
            <a:endParaRPr lang="zh-CN" altLang="en-US" sz="1400" b="0" dirty="0">
              <a:solidFill>
                <a:srgbClr val="06359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548005" y="1626235"/>
            <a:ext cx="5695950" cy="3933825"/>
            <a:chOff x="936" y="2631"/>
            <a:chExt cx="8970" cy="6195"/>
          </a:xfrm>
        </p:grpSpPr>
        <p:grpSp>
          <p:nvGrpSpPr>
            <p:cNvPr id="20" name="组合 19"/>
            <p:cNvGrpSpPr/>
            <p:nvPr/>
          </p:nvGrpSpPr>
          <p:grpSpPr>
            <a:xfrm>
              <a:off x="936" y="2631"/>
              <a:ext cx="8970" cy="764"/>
              <a:chOff x="936" y="2631"/>
              <a:chExt cx="8970" cy="764"/>
            </a:xfrm>
          </p:grpSpPr>
          <p:sp>
            <p:nvSpPr>
              <p:cNvPr id="150" name="圆角矩形 149"/>
              <p:cNvSpPr/>
              <p:nvPr/>
            </p:nvSpPr>
            <p:spPr>
              <a:xfrm>
                <a:off x="936" y="2631"/>
                <a:ext cx="8970" cy="765"/>
              </a:xfrm>
              <a:prstGeom prst="roundRect">
                <a:avLst>
                  <a:gd name="adj" fmla="val 26316"/>
                </a:avLst>
              </a:prstGeom>
              <a:gradFill>
                <a:gsLst>
                  <a:gs pos="0">
                    <a:srgbClr val="1E3A8A"/>
                  </a:gs>
                  <a:gs pos="100000">
                    <a:srgbClr val="2563EB"/>
                  </a:gs>
                </a:gsLst>
                <a:lin ang="2700000" scaled="1"/>
              </a:gradFill>
            </p:spPr>
            <p:txBody>
              <a:bodyPr/>
              <a:lstStyle/>
              <a:p>
                <a:endParaRPr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endParaRPr>
              </a:p>
            </p:txBody>
          </p:sp>
          <p:sp>
            <p:nvSpPr>
              <p:cNvPr id="152" name="文本框 151" descr="{&quot;isTemplate&quot;:true,&quot;type&quot;:&quot;text&quot;}"/>
              <p:cNvSpPr txBox="1"/>
              <p:nvPr/>
            </p:nvSpPr>
            <p:spPr>
              <a:xfrm>
                <a:off x="2671" y="2815"/>
                <a:ext cx="5499" cy="397"/>
              </a:xfrm>
              <a:prstGeom prst="rect">
                <a:avLst/>
              </a:prstGeom>
            </p:spPr>
            <p:txBody>
              <a:bodyPr wrap="none" lIns="0" tIns="0" rIns="0" bIns="0"/>
              <a:lstStyle/>
              <a:p>
                <a:pPr>
                  <a:lnSpc>
                    <a:spcPct val="100000"/>
                  </a:lnSpc>
                </a:pPr>
                <a:r>
                  <a:rPr lang="en-US" sz="1600" b="1" dirty="0">
                    <a:solidFill>
                      <a:srgbClr val="FFFFFF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Wyoming </a:t>
                </a:r>
                <a:r>
                  <a:rPr lang="zh-CN" sz="1600" b="1" dirty="0">
                    <a:solidFill>
                      <a:srgbClr val="FFFFFF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本地语音管线（零云端依赖）</a:t>
                </a:r>
              </a:p>
            </p:txBody>
          </p:sp>
        </p:grpSp>
        <p:sp>
          <p:nvSpPr>
            <p:cNvPr id="153" name="圆角矩形 152"/>
            <p:cNvSpPr/>
            <p:nvPr>
              <p:custDataLst>
                <p:tags r:id="rId1"/>
              </p:custDataLst>
            </p:nvPr>
          </p:nvSpPr>
          <p:spPr>
            <a:xfrm>
              <a:off x="936" y="3666"/>
              <a:ext cx="8970" cy="840"/>
            </a:xfrm>
            <a:prstGeom prst="roundRect">
              <a:avLst>
                <a:gd name="adj" fmla="val 17857"/>
              </a:avLst>
            </a:prstGeom>
            <a:solidFill>
              <a:srgbClr val="EFF6FF"/>
            </a:solidFill>
            <a:ln w="25400">
              <a:solidFill>
                <a:srgbClr val="1E3A8A"/>
              </a:solidFill>
              <a:prstDash val="solid"/>
            </a:ln>
          </p:spPr>
          <p:txBody>
            <a:bodyPr/>
            <a:lstStyle/>
            <a:p>
              <a:endParaRPr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</p:txBody>
        </p:sp>
        <p:grpSp>
          <p:nvGrpSpPr>
            <p:cNvPr id="28" name="组合 27"/>
            <p:cNvGrpSpPr/>
            <p:nvPr>
              <p:custDataLst>
                <p:tags r:id="rId2"/>
              </p:custDataLst>
            </p:nvPr>
          </p:nvGrpSpPr>
          <p:grpSpPr>
            <a:xfrm>
              <a:off x="1488" y="3782"/>
              <a:ext cx="7866" cy="608"/>
              <a:chOff x="1086" y="3782"/>
              <a:chExt cx="7866" cy="608"/>
            </a:xfrm>
          </p:grpSpPr>
          <p:sp>
            <p:nvSpPr>
              <p:cNvPr id="154" name="圆角矩形 153"/>
              <p:cNvSpPr/>
              <p:nvPr>
                <p:custDataLst>
                  <p:tags r:id="rId24"/>
                </p:custDataLst>
              </p:nvPr>
            </p:nvSpPr>
            <p:spPr>
              <a:xfrm>
                <a:off x="1086" y="3816"/>
                <a:ext cx="540" cy="540"/>
              </a:xfrm>
              <a:prstGeom prst="roundRect">
                <a:avLst>
                  <a:gd name="adj" fmla="val 22222"/>
                </a:avLst>
              </a:prstGeom>
              <a:solidFill>
                <a:srgbClr val="1E3A8A"/>
              </a:solidFill>
            </p:spPr>
            <p:txBody>
              <a:bodyPr/>
              <a:lstStyle/>
              <a:p>
                <a:endParaRPr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endParaRPr>
              </a:p>
            </p:txBody>
          </p:sp>
          <p:grpSp>
            <p:nvGrpSpPr>
              <p:cNvPr id="21" name="组合 20"/>
              <p:cNvGrpSpPr/>
              <p:nvPr>
                <p:custDataLst>
                  <p:tags r:id="rId25"/>
                </p:custDataLst>
              </p:nvPr>
            </p:nvGrpSpPr>
            <p:grpSpPr>
              <a:xfrm>
                <a:off x="1710" y="3782"/>
                <a:ext cx="7242" cy="609"/>
                <a:chOff x="1710" y="3810"/>
                <a:chExt cx="7242" cy="609"/>
              </a:xfrm>
            </p:grpSpPr>
            <p:sp>
              <p:nvSpPr>
                <p:cNvPr id="156" name="文本框 155" descr="{&quot;isTemplate&quot;:true,&quot;type&quot;:&quot;text&quot;}"/>
                <p:cNvSpPr txBox="1"/>
                <p:nvPr>
                  <p:custDataLst>
                    <p:tags r:id="rId26"/>
                  </p:custDataLst>
                </p:nvPr>
              </p:nvSpPr>
              <p:spPr>
                <a:xfrm>
                  <a:off x="1710" y="3810"/>
                  <a:ext cx="7243" cy="283"/>
                </a:xfrm>
                <a:prstGeom prst="rect">
                  <a:avLst/>
                </a:prstGeom>
              </p:spPr>
              <p:txBody>
                <a:bodyPr wrap="none" lIns="0" tIns="0" rIns="0" bIns="0"/>
                <a:lstStyle/>
                <a:p>
                  <a:pPr>
                    <a:lnSpc>
                      <a:spcPct val="100000"/>
                    </a:lnSpc>
                  </a:pPr>
                  <a:r>
                    <a:rPr lang="en-US" sz="1400" b="1">
                      <a:solidFill>
                        <a:srgbClr val="1E3A8A"/>
                      </a:solidFill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</a:rPr>
                    <a:t>① openWakeWord</a:t>
                  </a:r>
                </a:p>
              </p:txBody>
            </p:sp>
            <p:sp>
              <p:nvSpPr>
                <p:cNvPr id="157" name="文本框 156" descr="{&quot;isTemplate&quot;:true,&quot;type&quot;:&quot;text&quot;}"/>
                <p:cNvSpPr txBox="1"/>
                <p:nvPr>
                  <p:custDataLst>
                    <p:tags r:id="rId27"/>
                  </p:custDataLst>
                </p:nvPr>
              </p:nvSpPr>
              <p:spPr>
                <a:xfrm>
                  <a:off x="1710" y="4137"/>
                  <a:ext cx="7243" cy="283"/>
                </a:xfrm>
                <a:prstGeom prst="rect">
                  <a:avLst/>
                </a:prstGeom>
              </p:spPr>
              <p:txBody>
                <a:bodyPr wrap="none" lIns="0" tIns="0" rIns="0" bIns="0"/>
                <a:lstStyle/>
                <a:p>
                  <a:pPr>
                    <a:lnSpc>
                      <a:spcPct val="100000"/>
                    </a:lnSpc>
                  </a:pPr>
                  <a:r>
                    <a:rPr lang="zh-CN" sz="1200">
                      <a:solidFill>
                        <a:srgbClr val="64748B"/>
                      </a:solidFill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</a:rPr>
                    <a:t>唤醒词检测</a:t>
                  </a:r>
                  <a:r>
                    <a:rPr lang="en-US" sz="1200">
                      <a:solidFill>
                        <a:srgbClr val="64748B"/>
                      </a:solidFill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</a:rPr>
                    <a:t> · CPU 5%</a:t>
                  </a:r>
                  <a:r>
                    <a:rPr lang="zh-CN" sz="1200">
                      <a:solidFill>
                        <a:srgbClr val="64748B"/>
                      </a:solidFill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</a:rPr>
                    <a:t>单核</a:t>
                  </a:r>
                  <a:r>
                    <a:rPr lang="en-US" sz="1200">
                      <a:solidFill>
                        <a:srgbClr val="64748B"/>
                      </a:solidFill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</a:rPr>
                    <a:t> · ~0ms</a:t>
                  </a:r>
                </a:p>
              </p:txBody>
            </p:sp>
          </p:grpSp>
        </p:grpSp>
        <p:sp>
          <p:nvSpPr>
            <p:cNvPr id="159" name="圆角矩形 158"/>
            <p:cNvSpPr/>
            <p:nvPr>
              <p:custDataLst>
                <p:tags r:id="rId3"/>
              </p:custDataLst>
            </p:nvPr>
          </p:nvSpPr>
          <p:spPr>
            <a:xfrm>
              <a:off x="936" y="5106"/>
              <a:ext cx="8970" cy="840"/>
            </a:xfrm>
            <a:prstGeom prst="roundRect">
              <a:avLst>
                <a:gd name="adj" fmla="val 17857"/>
              </a:avLst>
            </a:prstGeom>
            <a:solidFill>
              <a:srgbClr val="ECFEFF"/>
            </a:solidFill>
            <a:ln w="25400">
              <a:solidFill>
                <a:srgbClr val="06B6D4"/>
              </a:solidFill>
              <a:prstDash val="solid"/>
            </a:ln>
          </p:spPr>
          <p:txBody>
            <a:bodyPr/>
            <a:lstStyle/>
            <a:p>
              <a:endParaRPr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</p:txBody>
        </p:sp>
        <p:grpSp>
          <p:nvGrpSpPr>
            <p:cNvPr id="27" name="组合 26"/>
            <p:cNvGrpSpPr/>
            <p:nvPr>
              <p:custDataLst>
                <p:tags r:id="rId4"/>
              </p:custDataLst>
            </p:nvPr>
          </p:nvGrpSpPr>
          <p:grpSpPr>
            <a:xfrm>
              <a:off x="1488" y="5222"/>
              <a:ext cx="7866" cy="608"/>
              <a:chOff x="1086" y="5222"/>
              <a:chExt cx="7866" cy="608"/>
            </a:xfrm>
          </p:grpSpPr>
          <p:sp>
            <p:nvSpPr>
              <p:cNvPr id="160" name="圆角矩形 159"/>
              <p:cNvSpPr/>
              <p:nvPr>
                <p:custDataLst>
                  <p:tags r:id="rId20"/>
                </p:custDataLst>
              </p:nvPr>
            </p:nvSpPr>
            <p:spPr>
              <a:xfrm>
                <a:off x="1086" y="5256"/>
                <a:ext cx="540" cy="540"/>
              </a:xfrm>
              <a:prstGeom prst="roundRect">
                <a:avLst>
                  <a:gd name="adj" fmla="val 22222"/>
                </a:avLst>
              </a:prstGeom>
              <a:solidFill>
                <a:srgbClr val="06B6D4"/>
              </a:solidFill>
            </p:spPr>
            <p:txBody>
              <a:bodyPr/>
              <a:lstStyle/>
              <a:p>
                <a:endParaRPr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endParaRPr>
              </a:p>
            </p:txBody>
          </p:sp>
          <p:grpSp>
            <p:nvGrpSpPr>
              <p:cNvPr id="22" name="组合 21"/>
              <p:cNvGrpSpPr/>
              <p:nvPr>
                <p:custDataLst>
                  <p:tags r:id="rId21"/>
                </p:custDataLst>
              </p:nvPr>
            </p:nvGrpSpPr>
            <p:grpSpPr>
              <a:xfrm>
                <a:off x="1710" y="5222"/>
                <a:ext cx="7242" cy="609"/>
                <a:chOff x="1710" y="5250"/>
                <a:chExt cx="7242" cy="609"/>
              </a:xfrm>
            </p:grpSpPr>
            <p:sp>
              <p:nvSpPr>
                <p:cNvPr id="162" name="文本框 161" descr="{&quot;isTemplate&quot;:true,&quot;type&quot;:&quot;text&quot;}"/>
                <p:cNvSpPr txBox="1"/>
                <p:nvPr>
                  <p:custDataLst>
                    <p:tags r:id="rId22"/>
                  </p:custDataLst>
                </p:nvPr>
              </p:nvSpPr>
              <p:spPr>
                <a:xfrm>
                  <a:off x="1710" y="5250"/>
                  <a:ext cx="7243" cy="283"/>
                </a:xfrm>
                <a:prstGeom prst="rect">
                  <a:avLst/>
                </a:prstGeom>
              </p:spPr>
              <p:txBody>
                <a:bodyPr wrap="none" lIns="0" tIns="0" rIns="0" bIns="0"/>
                <a:lstStyle/>
                <a:p>
                  <a:pPr>
                    <a:lnSpc>
                      <a:spcPct val="100000"/>
                    </a:lnSpc>
                  </a:pPr>
                  <a:r>
                    <a:rPr lang="en-US" sz="1400" b="1">
                      <a:solidFill>
                        <a:srgbClr val="0891B2"/>
                      </a:solidFill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</a:rPr>
                    <a:t>② Silero VAD → STT</a:t>
                  </a:r>
                </a:p>
              </p:txBody>
            </p:sp>
            <p:sp>
              <p:nvSpPr>
                <p:cNvPr id="163" name="文本框 162" descr="{&quot;isTemplate&quot;:true,&quot;type&quot;:&quot;text&quot;}"/>
                <p:cNvSpPr txBox="1"/>
                <p:nvPr>
                  <p:custDataLst>
                    <p:tags r:id="rId23"/>
                  </p:custDataLst>
                </p:nvPr>
              </p:nvSpPr>
              <p:spPr>
                <a:xfrm>
                  <a:off x="1710" y="5577"/>
                  <a:ext cx="7243" cy="283"/>
                </a:xfrm>
                <a:prstGeom prst="rect">
                  <a:avLst/>
                </a:prstGeom>
              </p:spPr>
              <p:txBody>
                <a:bodyPr wrap="none" lIns="0" tIns="0" rIns="0" bIns="0"/>
                <a:lstStyle/>
                <a:p>
                  <a:pPr>
                    <a:lnSpc>
                      <a:spcPct val="100000"/>
                    </a:lnSpc>
                  </a:pPr>
                  <a:r>
                    <a:rPr lang="en-US" sz="1200">
                      <a:solidFill>
                        <a:srgbClr val="64748B"/>
                      </a:solidFill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</a:rPr>
                    <a:t>Sherpa-ONNX</a:t>
                  </a:r>
                  <a:r>
                    <a:rPr lang="zh-CN" sz="1200">
                      <a:solidFill>
                        <a:srgbClr val="64748B"/>
                      </a:solidFill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</a:rPr>
                    <a:t>中文</a:t>
                  </a:r>
                  <a:r>
                    <a:rPr lang="en-US" sz="1200">
                      <a:solidFill>
                        <a:srgbClr val="64748B"/>
                      </a:solidFill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</a:rPr>
                    <a:t>STT · RTF 0.04 · </a:t>
                  </a:r>
                  <a:r>
                    <a:rPr lang="zh-CN" sz="1200">
                      <a:solidFill>
                        <a:srgbClr val="64748B"/>
                      </a:solidFill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</a:rPr>
                    <a:t>比实时快</a:t>
                  </a:r>
                  <a:r>
                    <a:rPr lang="en-US" sz="1200">
                      <a:solidFill>
                        <a:srgbClr val="64748B"/>
                      </a:solidFill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</a:rPr>
                    <a:t>25x</a:t>
                  </a:r>
                </a:p>
              </p:txBody>
            </p:sp>
          </p:grpSp>
        </p:grpSp>
        <p:sp>
          <p:nvSpPr>
            <p:cNvPr id="165" name="圆角矩形 164"/>
            <p:cNvSpPr/>
            <p:nvPr>
              <p:custDataLst>
                <p:tags r:id="rId5"/>
              </p:custDataLst>
            </p:nvPr>
          </p:nvSpPr>
          <p:spPr>
            <a:xfrm>
              <a:off x="936" y="6546"/>
              <a:ext cx="8970" cy="840"/>
            </a:xfrm>
            <a:prstGeom prst="roundRect">
              <a:avLst>
                <a:gd name="adj" fmla="val 17857"/>
              </a:avLst>
            </a:prstGeom>
            <a:solidFill>
              <a:srgbClr val="FFFBEB"/>
            </a:solidFill>
            <a:ln w="25400">
              <a:solidFill>
                <a:srgbClr val="F59E0B"/>
              </a:solidFill>
              <a:prstDash val="solid"/>
            </a:ln>
          </p:spPr>
          <p:txBody>
            <a:bodyPr/>
            <a:lstStyle/>
            <a:p>
              <a:endParaRPr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</p:txBody>
        </p:sp>
        <p:grpSp>
          <p:nvGrpSpPr>
            <p:cNvPr id="26" name="组合 25"/>
            <p:cNvGrpSpPr/>
            <p:nvPr>
              <p:custDataLst>
                <p:tags r:id="rId6"/>
              </p:custDataLst>
            </p:nvPr>
          </p:nvGrpSpPr>
          <p:grpSpPr>
            <a:xfrm>
              <a:off x="1488" y="6662"/>
              <a:ext cx="7866" cy="608"/>
              <a:chOff x="1086" y="6662"/>
              <a:chExt cx="7866" cy="608"/>
            </a:xfrm>
          </p:grpSpPr>
          <p:sp>
            <p:nvSpPr>
              <p:cNvPr id="166" name="圆角矩形 165"/>
              <p:cNvSpPr/>
              <p:nvPr>
                <p:custDataLst>
                  <p:tags r:id="rId16"/>
                </p:custDataLst>
              </p:nvPr>
            </p:nvSpPr>
            <p:spPr>
              <a:xfrm>
                <a:off x="1086" y="6696"/>
                <a:ext cx="540" cy="540"/>
              </a:xfrm>
              <a:prstGeom prst="roundRect">
                <a:avLst>
                  <a:gd name="adj" fmla="val 22222"/>
                </a:avLst>
              </a:prstGeom>
              <a:solidFill>
                <a:srgbClr val="F59E0B"/>
              </a:solidFill>
            </p:spPr>
            <p:txBody>
              <a:bodyPr/>
              <a:lstStyle/>
              <a:p>
                <a:endParaRPr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endParaRPr>
              </a:p>
            </p:txBody>
          </p:sp>
          <p:grpSp>
            <p:nvGrpSpPr>
              <p:cNvPr id="23" name="组合 22"/>
              <p:cNvGrpSpPr/>
              <p:nvPr>
                <p:custDataLst>
                  <p:tags r:id="rId17"/>
                </p:custDataLst>
              </p:nvPr>
            </p:nvGrpSpPr>
            <p:grpSpPr>
              <a:xfrm>
                <a:off x="1710" y="6662"/>
                <a:ext cx="7242" cy="609"/>
                <a:chOff x="1710" y="6690"/>
                <a:chExt cx="7242" cy="609"/>
              </a:xfrm>
            </p:grpSpPr>
            <p:sp>
              <p:nvSpPr>
                <p:cNvPr id="168" name="文本框 167" descr="{&quot;isTemplate&quot;:true,&quot;type&quot;:&quot;text&quot;}"/>
                <p:cNvSpPr txBox="1"/>
                <p:nvPr>
                  <p:custDataLst>
                    <p:tags r:id="rId18"/>
                  </p:custDataLst>
                </p:nvPr>
              </p:nvSpPr>
              <p:spPr>
                <a:xfrm>
                  <a:off x="1710" y="6690"/>
                  <a:ext cx="7243" cy="283"/>
                </a:xfrm>
                <a:prstGeom prst="rect">
                  <a:avLst/>
                </a:prstGeom>
              </p:spPr>
              <p:txBody>
                <a:bodyPr wrap="none" lIns="0" tIns="0" rIns="0" bIns="0"/>
                <a:lstStyle/>
                <a:p>
                  <a:pPr>
                    <a:lnSpc>
                      <a:spcPct val="100000"/>
                    </a:lnSpc>
                  </a:pPr>
                  <a:r>
                    <a:rPr lang="en-US" sz="1400" b="1">
                      <a:solidFill>
                        <a:srgbClr val="B45309"/>
                      </a:solidFill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</a:rPr>
                    <a:t>③ </a:t>
                  </a:r>
                  <a:r>
                    <a:rPr lang="zh-CN" altLang="en-US" sz="1400" b="1">
                      <a:solidFill>
                        <a:srgbClr val="B45309"/>
                      </a:solidFill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</a:rPr>
                    <a:t>专有化</a:t>
                  </a:r>
                  <a:r>
                    <a:rPr lang="en-US" sz="1400" b="1">
                      <a:solidFill>
                        <a:srgbClr val="B45309"/>
                      </a:solidFill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</a:rPr>
                    <a:t>OpenClaw + Ollama LLM</a:t>
                  </a:r>
                </a:p>
              </p:txBody>
            </p:sp>
            <p:sp>
              <p:nvSpPr>
                <p:cNvPr id="169" name="文本框 168" descr="{&quot;isTemplate&quot;:true,&quot;type&quot;:&quot;text&quot;}"/>
                <p:cNvSpPr txBox="1"/>
                <p:nvPr>
                  <p:custDataLst>
                    <p:tags r:id="rId19"/>
                  </p:custDataLst>
                </p:nvPr>
              </p:nvSpPr>
              <p:spPr>
                <a:xfrm>
                  <a:off x="1710" y="7017"/>
                  <a:ext cx="7243" cy="283"/>
                </a:xfrm>
                <a:prstGeom prst="rect">
                  <a:avLst/>
                </a:prstGeom>
              </p:spPr>
              <p:txBody>
                <a:bodyPr wrap="none" lIns="0" tIns="0" rIns="0" bIns="0"/>
                <a:lstStyle/>
                <a:p>
                  <a:pPr>
                    <a:lnSpc>
                      <a:spcPct val="100000"/>
                    </a:lnSpc>
                  </a:pPr>
                  <a:r>
                    <a:rPr lang="en-US" sz="1200">
                      <a:solidFill>
                        <a:srgbClr val="64748B"/>
                      </a:solidFill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</a:rPr>
                    <a:t>Qwen3 8B</a:t>
                  </a:r>
                  <a:r>
                    <a:rPr lang="zh-CN" altLang="en-US" sz="1200">
                      <a:solidFill>
                        <a:srgbClr val="64748B"/>
                      </a:solidFill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</a:rPr>
                    <a:t>等</a:t>
                  </a:r>
                  <a:r>
                    <a:rPr lang="en-US" sz="1200">
                      <a:solidFill>
                        <a:srgbClr val="64748B"/>
                      </a:solidFill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</a:rPr>
                    <a:t> · </a:t>
                  </a:r>
                  <a:r>
                    <a:rPr lang="zh-CN" sz="1200">
                      <a:solidFill>
                        <a:srgbClr val="64748B"/>
                      </a:solidFill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</a:rPr>
                    <a:t>意图识别</a:t>
                  </a:r>
                  <a:r>
                    <a:rPr lang="en-US" sz="1200">
                      <a:solidFill>
                        <a:srgbClr val="64748B"/>
                      </a:solidFill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</a:rPr>
                    <a:t>+</a:t>
                  </a:r>
                  <a:r>
                    <a:rPr lang="zh-CN" sz="1200">
                      <a:solidFill>
                        <a:srgbClr val="64748B"/>
                      </a:solidFill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</a:rPr>
                    <a:t>工具调用</a:t>
                  </a:r>
                  <a:r>
                    <a:rPr lang="en-US" sz="1200">
                      <a:solidFill>
                        <a:srgbClr val="64748B"/>
                      </a:solidFill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</a:rPr>
                    <a:t> · MCP→HA</a:t>
                  </a:r>
                  <a:r>
                    <a:rPr lang="zh-CN" sz="1200">
                      <a:solidFill>
                        <a:srgbClr val="64748B"/>
                      </a:solidFill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</a:rPr>
                    <a:t>设备控制</a:t>
                  </a:r>
                </a:p>
              </p:txBody>
            </p:sp>
          </p:grpSp>
        </p:grpSp>
        <p:sp>
          <p:nvSpPr>
            <p:cNvPr id="171" name="圆角矩形 170"/>
            <p:cNvSpPr/>
            <p:nvPr>
              <p:custDataLst>
                <p:tags r:id="rId7"/>
              </p:custDataLst>
            </p:nvPr>
          </p:nvSpPr>
          <p:spPr>
            <a:xfrm>
              <a:off x="936" y="7986"/>
              <a:ext cx="8970" cy="840"/>
            </a:xfrm>
            <a:prstGeom prst="roundRect">
              <a:avLst>
                <a:gd name="adj" fmla="val 17857"/>
              </a:avLst>
            </a:prstGeom>
            <a:solidFill>
              <a:srgbClr val="F0FDF4"/>
            </a:solidFill>
            <a:ln w="25400">
              <a:solidFill>
                <a:srgbClr val="10B981"/>
              </a:solidFill>
              <a:prstDash val="solid"/>
            </a:ln>
          </p:spPr>
          <p:txBody>
            <a:bodyPr/>
            <a:lstStyle/>
            <a:p>
              <a:endParaRPr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</p:txBody>
        </p:sp>
        <p:grpSp>
          <p:nvGrpSpPr>
            <p:cNvPr id="25" name="组合 24"/>
            <p:cNvGrpSpPr/>
            <p:nvPr>
              <p:custDataLst>
                <p:tags r:id="rId8"/>
              </p:custDataLst>
            </p:nvPr>
          </p:nvGrpSpPr>
          <p:grpSpPr>
            <a:xfrm>
              <a:off x="1488" y="8130"/>
              <a:ext cx="7866" cy="608"/>
              <a:chOff x="1086" y="8130"/>
              <a:chExt cx="7866" cy="608"/>
            </a:xfrm>
          </p:grpSpPr>
          <p:sp>
            <p:nvSpPr>
              <p:cNvPr id="172" name="圆角矩形 171"/>
              <p:cNvSpPr/>
              <p:nvPr>
                <p:custDataLst>
                  <p:tags r:id="rId12"/>
                </p:custDataLst>
              </p:nvPr>
            </p:nvSpPr>
            <p:spPr>
              <a:xfrm>
                <a:off x="1086" y="8165"/>
                <a:ext cx="540" cy="540"/>
              </a:xfrm>
              <a:prstGeom prst="roundRect">
                <a:avLst>
                  <a:gd name="adj" fmla="val 22222"/>
                </a:avLst>
              </a:prstGeom>
              <a:solidFill>
                <a:srgbClr val="10B981"/>
              </a:solidFill>
            </p:spPr>
            <p:txBody>
              <a:bodyPr/>
              <a:lstStyle/>
              <a:p>
                <a:endParaRPr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endParaRPr>
              </a:p>
            </p:txBody>
          </p:sp>
          <p:grpSp>
            <p:nvGrpSpPr>
              <p:cNvPr id="24" name="组合 23"/>
              <p:cNvGrpSpPr/>
              <p:nvPr>
                <p:custDataLst>
                  <p:tags r:id="rId13"/>
                </p:custDataLst>
              </p:nvPr>
            </p:nvGrpSpPr>
            <p:grpSpPr>
              <a:xfrm>
                <a:off x="1710" y="8130"/>
                <a:ext cx="7242" cy="609"/>
                <a:chOff x="1710" y="8130"/>
                <a:chExt cx="7242" cy="609"/>
              </a:xfrm>
            </p:grpSpPr>
            <p:sp>
              <p:nvSpPr>
                <p:cNvPr id="174" name="文本框 173" descr="{&quot;isTemplate&quot;:true,&quot;type&quot;:&quot;text&quot;}"/>
                <p:cNvSpPr txBox="1"/>
                <p:nvPr>
                  <p:custDataLst>
                    <p:tags r:id="rId14"/>
                  </p:custDataLst>
                </p:nvPr>
              </p:nvSpPr>
              <p:spPr>
                <a:xfrm>
                  <a:off x="1710" y="8130"/>
                  <a:ext cx="7243" cy="283"/>
                </a:xfrm>
                <a:prstGeom prst="rect">
                  <a:avLst/>
                </a:prstGeom>
              </p:spPr>
              <p:txBody>
                <a:bodyPr wrap="none" lIns="0" tIns="0" rIns="0" bIns="0"/>
                <a:lstStyle/>
                <a:p>
                  <a:pPr>
                    <a:lnSpc>
                      <a:spcPct val="100000"/>
                    </a:lnSpc>
                  </a:pPr>
                  <a:r>
                    <a:rPr lang="en-US" sz="1400" b="1">
                      <a:solidFill>
                        <a:srgbClr val="059669"/>
                      </a:solidFill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</a:rPr>
                    <a:t>④ </a:t>
                  </a:r>
                  <a:r>
                    <a:rPr lang="zh-CN" sz="1400" b="1">
                      <a:solidFill>
                        <a:srgbClr val="059669"/>
                      </a:solidFill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</a:rPr>
                    <a:t>流式</a:t>
                  </a:r>
                  <a:r>
                    <a:rPr lang="en-US" sz="1400" b="1">
                      <a:solidFill>
                        <a:srgbClr val="059669"/>
                      </a:solidFill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</a:rPr>
                    <a:t>TTS</a:t>
                  </a:r>
                  <a:r>
                    <a:rPr lang="zh-CN" sz="1400" b="1">
                      <a:solidFill>
                        <a:srgbClr val="059669"/>
                      </a:solidFill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</a:rPr>
                    <a:t>输出</a:t>
                  </a:r>
                </a:p>
              </p:txBody>
            </p:sp>
            <p:sp>
              <p:nvSpPr>
                <p:cNvPr id="175" name="文本框 174" descr="{&quot;isTemplate&quot;:true,&quot;type&quot;:&quot;text&quot;}"/>
                <p:cNvSpPr txBox="1"/>
                <p:nvPr>
                  <p:custDataLst>
                    <p:tags r:id="rId15"/>
                  </p:custDataLst>
                </p:nvPr>
              </p:nvSpPr>
              <p:spPr>
                <a:xfrm>
                  <a:off x="1710" y="8457"/>
                  <a:ext cx="7243" cy="283"/>
                </a:xfrm>
                <a:prstGeom prst="rect">
                  <a:avLst/>
                </a:prstGeom>
              </p:spPr>
              <p:txBody>
                <a:bodyPr wrap="none" lIns="0" tIns="0" rIns="0" bIns="0"/>
                <a:lstStyle/>
                <a:p>
                  <a:pPr>
                    <a:lnSpc>
                      <a:spcPct val="100000"/>
                    </a:lnSpc>
                  </a:pPr>
                  <a:r>
                    <a:rPr lang="en-US" sz="1200">
                      <a:solidFill>
                        <a:srgbClr val="64748B"/>
                      </a:solidFill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</a:rPr>
                    <a:t>Sherpa-ONNX matcha-zh-en · </a:t>
                  </a:r>
                  <a:r>
                    <a:rPr lang="zh-CN" sz="1200">
                      <a:solidFill>
                        <a:srgbClr val="64748B"/>
                      </a:solidFill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</a:rPr>
                    <a:t>句子级分块</a:t>
                  </a:r>
                  <a:r>
                    <a:rPr lang="en-US" sz="1200">
                      <a:solidFill>
                        <a:srgbClr val="64748B"/>
                      </a:solidFill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</a:rPr>
                    <a:t> · </a:t>
                  </a:r>
                  <a:r>
                    <a:rPr lang="zh-CN" sz="1200">
                      <a:solidFill>
                        <a:srgbClr val="64748B"/>
                      </a:solidFill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</a:rPr>
                    <a:t>首句即时播放</a:t>
                  </a:r>
                </a:p>
              </p:txBody>
            </p:sp>
          </p:grpSp>
        </p:grpSp>
        <p:sp>
          <p:nvSpPr>
            <p:cNvPr id="49" name="Shape 11"/>
            <p:cNvSpPr/>
            <p:nvPr>
              <p:custDataLst>
                <p:tags r:id="rId9"/>
              </p:custDataLst>
            </p:nvPr>
          </p:nvSpPr>
          <p:spPr>
            <a:xfrm flipV="1">
              <a:off x="5421" y="4545"/>
              <a:ext cx="0" cy="582"/>
            </a:xfrm>
            <a:prstGeom prst="line">
              <a:avLst/>
            </a:prstGeom>
            <a:noFill/>
            <a:ln w="25400">
              <a:solidFill>
                <a:srgbClr val="005825"/>
              </a:solidFill>
              <a:prstDash val="solid"/>
              <a:headEnd type="triangle"/>
              <a:tailEnd type="none"/>
            </a:ln>
          </p:spPr>
        </p:sp>
        <p:sp>
          <p:nvSpPr>
            <p:cNvPr id="52" name="Shape 11"/>
            <p:cNvSpPr/>
            <p:nvPr>
              <p:custDataLst>
                <p:tags r:id="rId10"/>
              </p:custDataLst>
            </p:nvPr>
          </p:nvSpPr>
          <p:spPr>
            <a:xfrm flipV="1">
              <a:off x="5421" y="5979"/>
              <a:ext cx="0" cy="582"/>
            </a:xfrm>
            <a:prstGeom prst="line">
              <a:avLst/>
            </a:prstGeom>
            <a:noFill/>
            <a:ln w="25400">
              <a:solidFill>
                <a:srgbClr val="005825"/>
              </a:solidFill>
              <a:prstDash val="solid"/>
              <a:headEnd type="triangle"/>
              <a:tailEnd type="none"/>
            </a:ln>
          </p:spPr>
        </p:sp>
        <p:sp>
          <p:nvSpPr>
            <p:cNvPr id="53" name="Shape 11"/>
            <p:cNvSpPr/>
            <p:nvPr>
              <p:custDataLst>
                <p:tags r:id="rId11"/>
              </p:custDataLst>
            </p:nvPr>
          </p:nvSpPr>
          <p:spPr>
            <a:xfrm flipV="1">
              <a:off x="5421" y="7404"/>
              <a:ext cx="0" cy="582"/>
            </a:xfrm>
            <a:prstGeom prst="line">
              <a:avLst/>
            </a:prstGeom>
            <a:noFill/>
            <a:ln w="25400">
              <a:solidFill>
                <a:srgbClr val="005825"/>
              </a:solidFill>
              <a:prstDash val="solid"/>
              <a:headEnd type="triangle"/>
              <a:tailEnd type="none"/>
            </a:ln>
          </p:spPr>
        </p:sp>
      </p:grpSp>
      <p:grpSp>
        <p:nvGrpSpPr>
          <p:cNvPr id="30" name="组合 29"/>
          <p:cNvGrpSpPr/>
          <p:nvPr/>
        </p:nvGrpSpPr>
        <p:grpSpPr>
          <a:xfrm>
            <a:off x="6863080" y="1320165"/>
            <a:ext cx="4781550" cy="4545965"/>
            <a:chOff x="10881" y="2415"/>
            <a:chExt cx="7530" cy="7159"/>
          </a:xfrm>
        </p:grpSpPr>
        <p:grpSp>
          <p:nvGrpSpPr>
            <p:cNvPr id="5" name="组合 4"/>
            <p:cNvGrpSpPr/>
            <p:nvPr/>
          </p:nvGrpSpPr>
          <p:grpSpPr>
            <a:xfrm>
              <a:off x="10881" y="2415"/>
              <a:ext cx="7530" cy="2370"/>
              <a:chOff x="10991" y="2415"/>
              <a:chExt cx="7530" cy="2370"/>
            </a:xfrm>
          </p:grpSpPr>
          <p:sp>
            <p:nvSpPr>
              <p:cNvPr id="176" name="圆角矩形 175"/>
              <p:cNvSpPr/>
              <p:nvPr/>
            </p:nvSpPr>
            <p:spPr>
              <a:xfrm>
                <a:off x="10991" y="2415"/>
                <a:ext cx="7530" cy="2370"/>
              </a:xfrm>
              <a:prstGeom prst="roundRect">
                <a:avLst>
                  <a:gd name="adj" fmla="val 10127"/>
                </a:avLst>
              </a:prstGeom>
              <a:gradFill>
                <a:gsLst>
                  <a:gs pos="0">
                    <a:srgbClr val="1E3A8A"/>
                  </a:gs>
                  <a:gs pos="100000">
                    <a:srgbClr val="0F172A"/>
                  </a:gs>
                </a:gsLst>
                <a:lin ang="4200000" scaled="1"/>
              </a:gradFill>
            </p:spPr>
            <p:txBody>
              <a:bodyPr/>
              <a:lstStyle/>
              <a:p>
                <a:endParaRPr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endParaRPr>
              </a:p>
            </p:txBody>
          </p:sp>
          <p:sp>
            <p:nvSpPr>
              <p:cNvPr id="177" name="文本框 176" descr="{&quot;isTemplate&quot;:true,&quot;type&quot;:&quot;text&quot;}"/>
              <p:cNvSpPr txBox="1"/>
              <p:nvPr/>
            </p:nvSpPr>
            <p:spPr>
              <a:xfrm>
                <a:off x="12800" y="2730"/>
                <a:ext cx="3912" cy="397"/>
              </a:xfrm>
              <a:prstGeom prst="rect">
                <a:avLst/>
              </a:prstGeom>
            </p:spPr>
            <p:txBody>
              <a:bodyPr wrap="none" lIns="0" tIns="0" rIns="0" bIns="0"/>
              <a:lstStyle/>
              <a:p>
                <a:pPr algn="ctr">
                  <a:lnSpc>
                    <a:spcPct val="100000"/>
                  </a:lnSpc>
                  <a:buNone/>
                </a:pPr>
                <a:r>
                  <a:rPr>
                    <a:solidFill>
                      <a:srgbClr val="FFFFFF">
                        <a:alpha val="7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端到端时延目标（GPU）</a:t>
                </a:r>
                <a:endParaRPr lang="zh-CN">
                  <a:solidFill>
                    <a:srgbClr val="FFFFFF">
                      <a:alpha val="7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  <p:grpSp>
            <p:nvGrpSpPr>
              <p:cNvPr id="4" name="组合 3"/>
              <p:cNvGrpSpPr/>
              <p:nvPr/>
            </p:nvGrpSpPr>
            <p:grpSpPr>
              <a:xfrm>
                <a:off x="14082" y="3391"/>
                <a:ext cx="1348" cy="588"/>
                <a:chOff x="13605" y="3391"/>
                <a:chExt cx="1348" cy="588"/>
              </a:xfrm>
            </p:grpSpPr>
            <p:sp>
              <p:nvSpPr>
                <p:cNvPr id="178" name="文本框 177" descr="{&quot;isTemplate&quot;:true,&quot;type&quot;:&quot;text&quot;}"/>
                <p:cNvSpPr txBox="1"/>
                <p:nvPr/>
              </p:nvSpPr>
              <p:spPr>
                <a:xfrm>
                  <a:off x="13605" y="3391"/>
                  <a:ext cx="855" cy="588"/>
                </a:xfrm>
                <a:prstGeom prst="rect">
                  <a:avLst/>
                </a:prstGeom>
              </p:spPr>
              <p:txBody>
                <a:bodyPr wrap="none" lIns="0" tIns="0" rIns="0" bIns="0"/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en-US" sz="2400" b="1">
                      <a:solidFill>
                        <a:srgbClr val="F59E0B"/>
                      </a:solidFill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</a:rPr>
                    <a:t>≤ 3</a:t>
                  </a:r>
                </a:p>
              </p:txBody>
            </p:sp>
            <p:sp>
              <p:nvSpPr>
                <p:cNvPr id="179" name="文本框 178" descr="{&quot;isTemplate&quot;:true,&quot;type&quot;:&quot;text&quot;}"/>
                <p:cNvSpPr txBox="1"/>
                <p:nvPr/>
              </p:nvSpPr>
              <p:spPr>
                <a:xfrm>
                  <a:off x="14531" y="3419"/>
                  <a:ext cx="422" cy="532"/>
                </a:xfrm>
                <a:prstGeom prst="rect">
                  <a:avLst/>
                </a:prstGeom>
              </p:spPr>
              <p:txBody>
                <a:bodyPr wrap="none" lIns="0" tIns="0" rIns="0" bIns="0"/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zh-CN" sz="2000" b="1" dirty="0">
                      <a:solidFill>
                        <a:srgbClr val="FFFFFF"/>
                      </a:solidFill>
                      <a:latin typeface="Times New Roman" panose="02020603050405020304" charset="0"/>
                      <a:ea typeface="微软雅黑" panose="020B0503020204020204" charset="-122"/>
                    </a:rPr>
                    <a:t>秒</a:t>
                  </a:r>
                </a:p>
              </p:txBody>
            </p:sp>
          </p:grpSp>
          <p:sp>
            <p:nvSpPr>
              <p:cNvPr id="180" name="文本框 179" descr="{&quot;isTemplate&quot;:true,&quot;type&quot;:&quot;text&quot;}"/>
              <p:cNvSpPr txBox="1"/>
              <p:nvPr/>
            </p:nvSpPr>
            <p:spPr>
              <a:xfrm>
                <a:off x="11528" y="4260"/>
                <a:ext cx="6456" cy="340"/>
              </a:xfrm>
              <a:prstGeom prst="rect">
                <a:avLst/>
              </a:prstGeom>
            </p:spPr>
            <p:txBody>
              <a:bodyPr wrap="none" lIns="0" tIns="0" rIns="0" bIns="0"/>
              <a:lstStyle/>
              <a:p>
                <a:pPr algn="ctr">
                  <a:lnSpc>
                    <a:spcPct val="100000"/>
                  </a:lnSpc>
                </a:pPr>
                <a:r>
                  <a:rPr lang="en-US" sz="1400">
                    <a:solidFill>
                      <a:srgbClr val="FFFFFF">
                        <a:alpha val="60000"/>
                      </a:srgbClr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CPU</a:t>
                </a:r>
                <a:r>
                  <a:rPr lang="zh-CN" sz="1400">
                    <a:solidFill>
                      <a:srgbClr val="FFFFFF">
                        <a:alpha val="60000"/>
                      </a:srgbClr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方案</a:t>
                </a:r>
                <a:r>
                  <a:rPr lang="en-US" sz="1400">
                    <a:solidFill>
                      <a:srgbClr val="FFFFFF">
                        <a:alpha val="60000"/>
                      </a:srgbClr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 ≤8</a:t>
                </a:r>
                <a:r>
                  <a:rPr lang="zh-CN" sz="1400">
                    <a:solidFill>
                      <a:srgbClr val="FFFFFF">
                        <a:alpha val="60000"/>
                      </a:srgbClr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秒</a:t>
                </a:r>
                <a:r>
                  <a:rPr lang="en-US" sz="1400">
                    <a:solidFill>
                      <a:srgbClr val="FFFFFF">
                        <a:alpha val="60000"/>
                      </a:srgbClr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 · </a:t>
                </a:r>
                <a:r>
                  <a:rPr lang="zh-CN" sz="1400">
                    <a:solidFill>
                      <a:srgbClr val="FFFFFF">
                        <a:alpha val="60000"/>
                      </a:srgbClr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简单指令</a:t>
                </a:r>
                <a:r>
                  <a:rPr lang="en-US" sz="1400">
                    <a:solidFill>
                      <a:srgbClr val="FFFFFF">
                        <a:alpha val="60000"/>
                      </a:srgbClr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 &lt;1</a:t>
                </a:r>
                <a:r>
                  <a:rPr lang="zh-CN" sz="1400">
                    <a:solidFill>
                      <a:srgbClr val="FFFFFF">
                        <a:alpha val="60000"/>
                      </a:srgbClr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秒（免</a:t>
                </a:r>
                <a:r>
                  <a:rPr lang="en-US" sz="1400">
                    <a:solidFill>
                      <a:srgbClr val="FFFFFF">
                        <a:alpha val="60000"/>
                      </a:srgbClr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LLM</a:t>
                </a:r>
                <a:r>
                  <a:rPr lang="zh-CN" sz="1400">
                    <a:solidFill>
                      <a:srgbClr val="FFFFFF">
                        <a:alpha val="60000"/>
                      </a:srgbClr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快速路径）</a:t>
                </a:r>
              </a:p>
            </p:txBody>
          </p:sp>
        </p:grpSp>
        <p:grpSp>
          <p:nvGrpSpPr>
            <p:cNvPr id="12" name="组合 11"/>
            <p:cNvGrpSpPr/>
            <p:nvPr/>
          </p:nvGrpSpPr>
          <p:grpSpPr>
            <a:xfrm>
              <a:off x="10881" y="5002"/>
              <a:ext cx="7530" cy="1500"/>
              <a:chOff x="10770" y="4868"/>
              <a:chExt cx="7530" cy="1500"/>
            </a:xfrm>
          </p:grpSpPr>
          <p:sp>
            <p:nvSpPr>
              <p:cNvPr id="181" name="圆角矩形 180"/>
              <p:cNvSpPr/>
              <p:nvPr/>
            </p:nvSpPr>
            <p:spPr>
              <a:xfrm>
                <a:off x="10770" y="4868"/>
                <a:ext cx="7530" cy="1500"/>
              </a:xfrm>
              <a:prstGeom prst="roundRect">
                <a:avLst>
                  <a:gd name="adj" fmla="val 12000"/>
                </a:avLst>
              </a:prstGeom>
              <a:solidFill>
                <a:srgbClr val="F8FAFC"/>
              </a:solidFill>
              <a:ln w="12700">
                <a:solidFill>
                  <a:srgbClr val="E2E8F0"/>
                </a:solidFill>
                <a:prstDash val="solid"/>
              </a:ln>
            </p:spPr>
            <p:txBody>
              <a:bodyPr/>
              <a:lstStyle/>
              <a:p>
                <a:endParaRPr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endParaRPr>
              </a:p>
            </p:txBody>
          </p:sp>
          <p:grpSp>
            <p:nvGrpSpPr>
              <p:cNvPr id="11" name="组合 10"/>
              <p:cNvGrpSpPr/>
              <p:nvPr/>
            </p:nvGrpSpPr>
            <p:grpSpPr>
              <a:xfrm>
                <a:off x="10964" y="5026"/>
                <a:ext cx="7110" cy="1184"/>
                <a:chOff x="10964" y="5026"/>
                <a:chExt cx="7110" cy="1184"/>
              </a:xfrm>
            </p:grpSpPr>
            <p:sp>
              <p:nvSpPr>
                <p:cNvPr id="183" name="文本框 182" descr="{&quot;isTemplate&quot;:true,&quot;type&quot;:&quot;text&quot;}"/>
                <p:cNvSpPr txBox="1"/>
                <p:nvPr/>
              </p:nvSpPr>
              <p:spPr>
                <a:xfrm>
                  <a:off x="10964" y="5026"/>
                  <a:ext cx="3118" cy="397"/>
                </a:xfrm>
                <a:prstGeom prst="rect">
                  <a:avLst/>
                </a:prstGeom>
              </p:spPr>
              <p:txBody>
                <a:bodyPr wrap="none" lIns="0" tIns="0" rIns="0" bIns="0"/>
                <a:lstStyle/>
                <a:p>
                  <a:pPr>
                    <a:lnSpc>
                      <a:spcPct val="100000"/>
                    </a:lnSpc>
                  </a:pPr>
                  <a:r>
                    <a:rPr lang="zh-CN" sz="1600" b="1">
                      <a:solidFill>
                        <a:srgbClr val="1E3A8A"/>
                      </a:solidFill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</a:rPr>
                    <a:t>流式</a:t>
                  </a:r>
                  <a:r>
                    <a:rPr lang="en-US" sz="1600" b="1">
                      <a:solidFill>
                        <a:srgbClr val="1E3A8A"/>
                      </a:solidFill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</a:rPr>
                    <a:t>TTS</a:t>
                  </a:r>
                  <a:r>
                    <a:rPr lang="zh-CN" sz="1600" b="1">
                      <a:solidFill>
                        <a:srgbClr val="1E3A8A"/>
                      </a:solidFill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</a:rPr>
                    <a:t>（核心优化）</a:t>
                  </a:r>
                </a:p>
              </p:txBody>
            </p:sp>
            <p:sp>
              <p:nvSpPr>
                <p:cNvPr id="184" name="文本框 183" descr="{&quot;isTemplate&quot;:true,&quot;type&quot;:&quot;text&quot;}"/>
                <p:cNvSpPr txBox="1"/>
                <p:nvPr/>
              </p:nvSpPr>
              <p:spPr>
                <a:xfrm>
                  <a:off x="10964" y="5416"/>
                  <a:ext cx="7110" cy="794"/>
                </a:xfrm>
                <a:prstGeom prst="rect">
                  <a:avLst/>
                </a:prstGeom>
              </p:spPr>
              <p:txBody>
                <a:bodyPr wrap="square" lIns="0" tIns="0" rIns="0" bIns="0">
                  <a:noAutofit/>
                </a:bodyPr>
                <a:lstStyle/>
                <a:p>
                  <a:pPr>
                    <a:lnSpc>
                      <a:spcPct val="140000"/>
                    </a:lnSpc>
                  </a:pPr>
                  <a:r>
                    <a:rPr lang="en-US" sz="1200">
                      <a:solidFill>
                        <a:srgbClr val="64748B"/>
                      </a:solidFill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</a:rPr>
                    <a:t>LLM Token</a:t>
                  </a:r>
                  <a:r>
                    <a:rPr lang="zh-CN" sz="1200">
                      <a:solidFill>
                        <a:srgbClr val="64748B"/>
                      </a:solidFill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</a:rPr>
                    <a:t>流按句子边界分块，首句完成立即送</a:t>
                  </a:r>
                  <a:r>
                    <a:rPr lang="en-US" sz="1200">
                      <a:solidFill>
                        <a:srgbClr val="64748B"/>
                      </a:solidFill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</a:rPr>
                    <a:t>TTS</a:t>
                  </a:r>
                  <a:r>
                    <a:rPr lang="zh-CN" sz="1200">
                      <a:solidFill>
                        <a:srgbClr val="64748B"/>
                      </a:solidFill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</a:rPr>
                    <a:t>合成播放，体感延迟降低约</a:t>
                  </a:r>
                  <a:r>
                    <a:rPr lang="en-US" sz="1200">
                      <a:solidFill>
                        <a:srgbClr val="64748B"/>
                      </a:solidFill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</a:rPr>
                    <a:t>50%</a:t>
                  </a:r>
                </a:p>
              </p:txBody>
            </p:sp>
          </p:grpSp>
        </p:grpSp>
        <p:grpSp>
          <p:nvGrpSpPr>
            <p:cNvPr id="19" name="组合 18"/>
            <p:cNvGrpSpPr/>
            <p:nvPr/>
          </p:nvGrpSpPr>
          <p:grpSpPr>
            <a:xfrm>
              <a:off x="10881" y="8404"/>
              <a:ext cx="7530" cy="1170"/>
              <a:chOff x="10770" y="8676"/>
              <a:chExt cx="7530" cy="1170"/>
            </a:xfrm>
          </p:grpSpPr>
          <p:sp>
            <p:nvSpPr>
              <p:cNvPr id="189" name="圆角矩形 188"/>
              <p:cNvSpPr/>
              <p:nvPr/>
            </p:nvSpPr>
            <p:spPr>
              <a:xfrm>
                <a:off x="10770" y="8676"/>
                <a:ext cx="7530" cy="1170"/>
              </a:xfrm>
              <a:prstGeom prst="roundRect">
                <a:avLst>
                  <a:gd name="adj" fmla="val 15385"/>
                </a:avLst>
              </a:prstGeom>
              <a:solidFill>
                <a:srgbClr val="F8FAFC"/>
              </a:solidFill>
              <a:ln w="12700">
                <a:solidFill>
                  <a:srgbClr val="E2E8F0"/>
                </a:solidFill>
                <a:prstDash val="solid"/>
              </a:ln>
            </p:spPr>
            <p:txBody>
              <a:bodyPr/>
              <a:lstStyle/>
              <a:p>
                <a:endParaRPr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endParaRPr>
              </a:p>
            </p:txBody>
          </p:sp>
          <p:grpSp>
            <p:nvGrpSpPr>
              <p:cNvPr id="18" name="组合 17"/>
              <p:cNvGrpSpPr/>
              <p:nvPr/>
            </p:nvGrpSpPr>
            <p:grpSpPr>
              <a:xfrm>
                <a:off x="11029" y="8868"/>
                <a:ext cx="7012" cy="786"/>
                <a:chOff x="10770" y="8916"/>
                <a:chExt cx="7012" cy="786"/>
              </a:xfrm>
            </p:grpSpPr>
            <p:sp>
              <p:nvSpPr>
                <p:cNvPr id="191" name="文本框 190" descr="{&quot;isTemplate&quot;:true,&quot;type&quot;:&quot;text&quot;}"/>
                <p:cNvSpPr txBox="1"/>
                <p:nvPr/>
              </p:nvSpPr>
              <p:spPr>
                <a:xfrm>
                  <a:off x="10770" y="8916"/>
                  <a:ext cx="3118" cy="397"/>
                </a:xfrm>
                <a:prstGeom prst="rect">
                  <a:avLst/>
                </a:prstGeom>
              </p:spPr>
              <p:txBody>
                <a:bodyPr wrap="none" lIns="0" tIns="0" rIns="0" bIns="0"/>
                <a:lstStyle/>
                <a:p>
                  <a:pPr>
                    <a:lnSpc>
                      <a:spcPct val="100000"/>
                    </a:lnSpc>
                  </a:pPr>
                  <a:r>
                    <a:rPr lang="zh-CN" sz="1600" b="1">
                      <a:solidFill>
                        <a:srgbClr val="1E3A8A"/>
                      </a:solidFill>
                      <a:latin typeface="Times New Roman" panose="02020603050405020304" charset="0"/>
                      <a:ea typeface="微软雅黑" panose="020B0503020204020204" charset="-122"/>
                    </a:rPr>
                    <a:t>多终端统一接入</a:t>
                  </a:r>
                </a:p>
              </p:txBody>
            </p:sp>
            <p:sp>
              <p:nvSpPr>
                <p:cNvPr id="192" name="文本框 191" descr="{&quot;isTemplate&quot;:true,&quot;type&quot;:&quot;text&quot;}"/>
                <p:cNvSpPr txBox="1"/>
                <p:nvPr/>
              </p:nvSpPr>
              <p:spPr>
                <a:xfrm>
                  <a:off x="10770" y="9306"/>
                  <a:ext cx="7013" cy="397"/>
                </a:xfrm>
                <a:prstGeom prst="rect">
                  <a:avLst/>
                </a:prstGeom>
              </p:spPr>
              <p:txBody>
                <a:bodyPr wrap="none" lIns="0" tIns="0" rIns="0" bIns="0"/>
                <a:lstStyle/>
                <a:p>
                  <a:pPr>
                    <a:lnSpc>
                      <a:spcPct val="140000"/>
                    </a:lnSpc>
                  </a:pPr>
                  <a:r>
                    <a:rPr lang="en-US" sz="1200">
                      <a:solidFill>
                        <a:srgbClr val="64748B"/>
                      </a:solidFill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</a:rPr>
                    <a:t>Web</a:t>
                  </a:r>
                  <a:r>
                    <a:rPr lang="zh-CN" sz="1200">
                      <a:solidFill>
                        <a:srgbClr val="64748B"/>
                      </a:solidFill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</a:rPr>
                    <a:t>面板</a:t>
                  </a:r>
                  <a:r>
                    <a:rPr lang="en-US" sz="1200">
                      <a:solidFill>
                        <a:srgbClr val="64748B"/>
                      </a:solidFill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</a:rPr>
                    <a:t> · </a:t>
                  </a:r>
                  <a:r>
                    <a:rPr lang="zh-CN" sz="1200">
                      <a:solidFill>
                        <a:srgbClr val="64748B"/>
                      </a:solidFill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</a:rPr>
                    <a:t>手机</a:t>
                  </a:r>
                  <a:r>
                    <a:rPr lang="en-US" sz="1200">
                      <a:solidFill>
                        <a:srgbClr val="64748B"/>
                      </a:solidFill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</a:rPr>
                    <a:t>App · ESP32</a:t>
                  </a:r>
                  <a:r>
                    <a:rPr lang="zh-CN" sz="1200">
                      <a:solidFill>
                        <a:srgbClr val="64748B"/>
                      </a:solidFill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</a:rPr>
                    <a:t>语音卫星</a:t>
                  </a:r>
                  <a:r>
                    <a:rPr lang="en-US" sz="1200">
                      <a:solidFill>
                        <a:srgbClr val="64748B"/>
                      </a:solidFill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</a:rPr>
                    <a:t> · </a:t>
                  </a:r>
                  <a:r>
                    <a:rPr lang="zh-CN" sz="1200">
                      <a:solidFill>
                        <a:srgbClr val="64748B"/>
                      </a:solidFill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</a:rPr>
                    <a:t>微信通道统一服务</a:t>
                  </a:r>
                </a:p>
              </p:txBody>
            </p:sp>
          </p:grpSp>
        </p:grpSp>
        <p:grpSp>
          <p:nvGrpSpPr>
            <p:cNvPr id="17" name="组合 16"/>
            <p:cNvGrpSpPr/>
            <p:nvPr/>
          </p:nvGrpSpPr>
          <p:grpSpPr>
            <a:xfrm>
              <a:off x="10881" y="6719"/>
              <a:ext cx="7530" cy="1469"/>
              <a:chOff x="10770" y="6660"/>
              <a:chExt cx="7530" cy="1469"/>
            </a:xfrm>
          </p:grpSpPr>
          <p:sp>
            <p:nvSpPr>
              <p:cNvPr id="185" name="圆角矩形 184"/>
              <p:cNvSpPr/>
              <p:nvPr/>
            </p:nvSpPr>
            <p:spPr>
              <a:xfrm>
                <a:off x="10770" y="6660"/>
                <a:ext cx="7530" cy="1469"/>
              </a:xfrm>
              <a:prstGeom prst="roundRect">
                <a:avLst>
                  <a:gd name="adj" fmla="val 15385"/>
                </a:avLst>
              </a:prstGeom>
              <a:solidFill>
                <a:srgbClr val="F8FAFC"/>
              </a:solidFill>
              <a:ln w="12700">
                <a:solidFill>
                  <a:srgbClr val="E2E8F0"/>
                </a:solidFill>
                <a:prstDash val="solid"/>
              </a:ln>
            </p:spPr>
            <p:txBody>
              <a:bodyPr/>
              <a:lstStyle/>
              <a:p>
                <a:endParaRPr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endParaRPr>
              </a:p>
            </p:txBody>
          </p:sp>
          <p:grpSp>
            <p:nvGrpSpPr>
              <p:cNvPr id="16" name="组合 15"/>
              <p:cNvGrpSpPr/>
              <p:nvPr/>
            </p:nvGrpSpPr>
            <p:grpSpPr>
              <a:xfrm>
                <a:off x="10959" y="6753"/>
                <a:ext cx="7131" cy="1252"/>
                <a:chOff x="10749" y="6658"/>
                <a:chExt cx="7131" cy="1252"/>
              </a:xfrm>
            </p:grpSpPr>
            <p:sp>
              <p:nvSpPr>
                <p:cNvPr id="187" name="文本框 186" descr="{&quot;isTemplate&quot;:true,&quot;type&quot;:&quot;text&quot;}"/>
                <p:cNvSpPr txBox="1"/>
                <p:nvPr/>
              </p:nvSpPr>
              <p:spPr>
                <a:xfrm>
                  <a:off x="10749" y="6658"/>
                  <a:ext cx="3118" cy="397"/>
                </a:xfrm>
                <a:prstGeom prst="rect">
                  <a:avLst/>
                </a:prstGeom>
              </p:spPr>
              <p:txBody>
                <a:bodyPr wrap="none" lIns="0" tIns="0" rIns="0" bIns="0"/>
                <a:lstStyle/>
                <a:p>
                  <a:pPr>
                    <a:lnSpc>
                      <a:spcPct val="100000"/>
                    </a:lnSpc>
                  </a:pPr>
                  <a:r>
                    <a:rPr lang="en-US" sz="1600" b="1" dirty="0">
                      <a:solidFill>
                        <a:srgbClr val="1E3A8A"/>
                      </a:solidFill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</a:rPr>
                    <a:t>Barge-in </a:t>
                  </a:r>
                  <a:r>
                    <a:rPr lang="zh-CN" sz="1600" b="1" dirty="0">
                      <a:solidFill>
                        <a:srgbClr val="1E3A8A"/>
                      </a:solidFill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</a:rPr>
                    <a:t>打断</a:t>
                  </a:r>
                </a:p>
              </p:txBody>
            </p:sp>
            <p:sp>
              <p:nvSpPr>
                <p:cNvPr id="15" name="文本框 14" descr="{&quot;isTemplate&quot;:true,&quot;type&quot;:&quot;text&quot;}"/>
                <p:cNvSpPr txBox="1"/>
                <p:nvPr/>
              </p:nvSpPr>
              <p:spPr>
                <a:xfrm>
                  <a:off x="10770" y="7116"/>
                  <a:ext cx="7110" cy="794"/>
                </a:xfrm>
                <a:prstGeom prst="rect">
                  <a:avLst/>
                </a:prstGeom>
              </p:spPr>
              <p:txBody>
                <a:bodyPr wrap="square" lIns="0" tIns="0" rIns="0" bIns="0">
                  <a:noAutofit/>
                </a:bodyPr>
                <a:lstStyle/>
                <a:p>
                  <a:pPr algn="l">
                    <a:lnSpc>
                      <a:spcPct val="140000"/>
                    </a:lnSpc>
                  </a:pPr>
                  <a:r>
                    <a:rPr lang="zh-CN" sz="1200" dirty="0">
                      <a:solidFill>
                        <a:srgbClr val="64748B"/>
                      </a:solidFill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  <a:sym typeface="+mn-ea"/>
                    </a:rPr>
                    <a:t>用户说话时自动停止</a:t>
                  </a:r>
                  <a:r>
                    <a:rPr lang="en-US" sz="1200" dirty="0">
                      <a:solidFill>
                        <a:srgbClr val="64748B"/>
                      </a:solidFill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  <a:sym typeface="+mn-ea"/>
                    </a:rPr>
                    <a:t>TTS</a:t>
                  </a:r>
                  <a:r>
                    <a:rPr lang="zh-CN" sz="1200" dirty="0">
                      <a:solidFill>
                        <a:srgbClr val="64748B"/>
                      </a:solidFill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  <a:sym typeface="+mn-ea"/>
                    </a:rPr>
                    <a:t>播放，取消</a:t>
                  </a:r>
                  <a:r>
                    <a:rPr lang="en-US" sz="1200" dirty="0">
                      <a:solidFill>
                        <a:srgbClr val="64748B"/>
                      </a:solidFill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  <a:sym typeface="+mn-ea"/>
                    </a:rPr>
                    <a:t>LLM</a:t>
                  </a:r>
                  <a:r>
                    <a:rPr lang="zh-CN" sz="1200" dirty="0">
                      <a:solidFill>
                        <a:srgbClr val="64748B"/>
                      </a:solidFill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  <a:sym typeface="+mn-ea"/>
                    </a:rPr>
                    <a:t>生成，重新开始</a:t>
                  </a:r>
                  <a:r>
                    <a:rPr lang="en-US" sz="1200" dirty="0">
                      <a:solidFill>
                        <a:srgbClr val="64748B"/>
                      </a:solidFill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  <a:sym typeface="+mn-ea"/>
                    </a:rPr>
                    <a:t>STT</a:t>
                  </a:r>
                  <a:r>
                    <a:rPr lang="zh-CN" sz="1200" dirty="0">
                      <a:solidFill>
                        <a:srgbClr val="64748B"/>
                      </a:solidFill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  <a:sym typeface="+mn-ea"/>
                    </a:rPr>
                    <a:t>接收新指令</a:t>
                  </a:r>
                  <a:endParaRPr lang="en-US" sz="1200" dirty="0">
                    <a:solidFill>
                      <a:srgbClr val="64748B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10&quot;:[50059501,50059181],&quot;70&quot;:[3312213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50059501&quot;,&quot;origin&quot;:0,&quot;type&quot;:&quot;icons&quot;,&quot;user&quot;:&quot;1667386406&quot;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3.1,&quot;left&quot;:-0.6,&quot;top&quot;:117.35,&quot;width&quot;:451.8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3.1,&quot;left&quot;:-0.6,&quot;top&quot;:117.35,&quot;width&quot;:451.8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3.1,&quot;left&quot;:-0.6,&quot;top&quot;:117.35,&quot;width&quot;:451.8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3.1,&quot;left&quot;:-0.6,&quot;top&quot;:117.35,&quot;width&quot;:451.8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3.1,&quot;left&quot;:-0.6,&quot;top&quot;:117.35,&quot;width&quot;:451.8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3.1,&quot;left&quot;:-0.6,&quot;top&quot;:117.35,&quot;width&quot;:451.8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3.1,&quot;left&quot;:-0.6,&quot;top&quot;:117.35,&quot;width&quot;:451.8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3.1,&quot;left&quot;:-0.6,&quot;top&quot;:117.35,&quot;width&quot;:451.8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3.1,&quot;left&quot;:-0.6,&quot;top&quot;:117.35,&quot;width&quot;:451.85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3.1,&quot;left&quot;:-0.6,&quot;top&quot;:117.35,&quot;width&quot;:451.8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3.1,&quot;left&quot;:-0.6,&quot;top&quot;:117.35,&quot;width&quot;:451.85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3.1,&quot;left&quot;:-0.6,&quot;top&quot;:117.35,&quot;width&quot;:451.8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3.1,&quot;left&quot;:-0.6,&quot;top&quot;:117.35,&quot;width&quot;:451.85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3.1,&quot;left&quot;:-0.6,&quot;top&quot;:117.35,&quot;width&quot;:451.8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3.1,&quot;left&quot;:-0.6,&quot;top&quot;:117.35,&quot;width&quot;:451.85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3.1,&quot;left&quot;:-0.6,&quot;top&quot;:117.35,&quot;width&quot;:451.85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3.1,&quot;left&quot;:-0.6,&quot;top&quot;:117.35,&quot;width&quot;:451.85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3.1,&quot;left&quot;:-0.6,&quot;top&quot;:117.35,&quot;width&quot;:451.85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3.1,&quot;left&quot;:-0.6,&quot;top&quot;:117.35,&quot;width&quot;:451.85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3.1,&quot;left&quot;:-0.6,&quot;top&quot;:117.35,&quot;width&quot;:451.85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3.1,&quot;left&quot;:-0.6,&quot;top&quot;:117.35,&quot;width&quot;:451.85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3.1,&quot;left&quot;:-0.6,&quot;top&quot;:117.35,&quot;width&quot;:451.85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3.1,&quot;left&quot;:-0.6,&quot;top&quot;:117.35,&quot;width&quot;:451.85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2.6273559570312,&quot;left&quot;:69.95,&quot;top&quot;:98.75,&quot;width&quot;:818.8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2.6273559570312,&quot;left&quot;:69.95,&quot;top&quot;:98.75,&quot;width&quot;:818.8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2.6273559570312,&quot;left&quot;:69.95,&quot;top&quot;:98.75,&quot;width&quot;:818.8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2.6273559570312,&quot;left&quot;:69.95,&quot;top&quot;:98.75,&quot;width&quot;:818.8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2.6273559570312,&quot;left&quot;:69.95,&quot;top&quot;:98.75,&quot;width&quot;:818.8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2.6273559570312,&quot;left&quot;:69.95,&quot;top&quot;:98.75,&quot;width&quot;:818.8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2.6273559570312,&quot;left&quot;:69.95,&quot;top&quot;:98.75,&quot;width&quot;:818.8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2.6273559570312,&quot;left&quot;:69.95,&quot;top&quot;:98.75,&quot;width&quot;:818.8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2.6273559570312,&quot;left&quot;:69.95,&quot;top&quot;:98.75,&quot;width&quot;:818.8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0924_5*l_h_x*1_6_1"/>
  <p:tag name="KSO_WM_TEMPLATE_CATEGORY" val="diagram"/>
  <p:tag name="KSO_WM_TEMPLATE_INDEX" val="20230924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UNIT_VALUE" val="87*87"/>
  <p:tag name="KSO_WM_UNIT_TYPE" val="l_h_x"/>
  <p:tag name="KSO_WM_UNIT_INDEX" val="1_6_1"/>
  <p:tag name="KSO_WM_DIAGRAM_MAX_ITEMCNT" val="6"/>
  <p:tag name="KSO_WM_DIAGRAM_MIN_ITEMCNT" val="2"/>
  <p:tag name="KSO_WM_DIAGRAM_VIRTUALLY_FRAME" val="{&quot;height&quot;:246.85000610351562,&quot;left&quot;:32.741943359375,&quot;top&quot;:205.2249969482422,&quot;width&quot;:894.5161132812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0924_5*l_h_x*1_3_1"/>
  <p:tag name="KSO_WM_TEMPLATE_CATEGORY" val="diagram"/>
  <p:tag name="KSO_WM_TEMPLATE_INDEX" val="20230924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UNIT_VALUE" val="87*87"/>
  <p:tag name="KSO_WM_UNIT_TYPE" val="l_h_x"/>
  <p:tag name="KSO_WM_UNIT_INDEX" val="1_3_1"/>
  <p:tag name="KSO_WM_DIAGRAM_MAX_ITEMCNT" val="6"/>
  <p:tag name="KSO_WM_DIAGRAM_MIN_ITEMCNT" val="2"/>
  <p:tag name="KSO_WM_DIAGRAM_VIRTUALLY_FRAME" val="{&quot;height&quot;:246.85000610351562,&quot;left&quot;:32.741943359375,&quot;top&quot;:205.2249969482422,&quot;width&quot;:894.5161132812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0924_5*l_h_x*1_5_1"/>
  <p:tag name="KSO_WM_TEMPLATE_CATEGORY" val="diagram"/>
  <p:tag name="KSO_WM_TEMPLATE_INDEX" val="20230924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UNIT_VALUE" val="59*87"/>
  <p:tag name="KSO_WM_UNIT_TYPE" val="l_h_x"/>
  <p:tag name="KSO_WM_UNIT_INDEX" val="1_5_1"/>
  <p:tag name="KSO_WM_DIAGRAM_MAX_ITEMCNT" val="6"/>
  <p:tag name="KSO_WM_DIAGRAM_MIN_ITEMCNT" val="2"/>
  <p:tag name="KSO_WM_DIAGRAM_VIRTUALLY_FRAME" val="{&quot;height&quot;:246.85000610351562,&quot;left&quot;:32.741943359375,&quot;top&quot;:205.2249969482422,&quot;width&quot;:894.5161132812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0924_5*l_h_x*1_1_1"/>
  <p:tag name="KSO_WM_TEMPLATE_CATEGORY" val="diagram"/>
  <p:tag name="KSO_WM_TEMPLATE_INDEX" val="20230924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UNIT_VALUE" val="86*87"/>
  <p:tag name="KSO_WM_UNIT_TYPE" val="l_h_x"/>
  <p:tag name="KSO_WM_UNIT_INDEX" val="1_1_1"/>
  <p:tag name="KSO_WM_DIAGRAM_MAX_ITEMCNT" val="6"/>
  <p:tag name="KSO_WM_DIAGRAM_MIN_ITEMCNT" val="2"/>
  <p:tag name="KSO_WM_DIAGRAM_VIRTUALLY_FRAME" val="{&quot;height&quot;:246.85000610351562,&quot;left&quot;:32.741943359375,&quot;top&quot;:205.2249969482422,&quot;width&quot;:894.5161132812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0924_5*l_h_x*1_2_1"/>
  <p:tag name="KSO_WM_TEMPLATE_CATEGORY" val="diagram"/>
  <p:tag name="KSO_WM_TEMPLATE_INDEX" val="20230924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UNIT_VALUE" val="80*87"/>
  <p:tag name="KSO_WM_UNIT_TYPE" val="l_h_x"/>
  <p:tag name="KSO_WM_UNIT_INDEX" val="1_2_1"/>
  <p:tag name="KSO_WM_DIAGRAM_MAX_ITEMCNT" val="6"/>
  <p:tag name="KSO_WM_DIAGRAM_MIN_ITEMCNT" val="2"/>
  <p:tag name="KSO_WM_DIAGRAM_VIRTUALLY_FRAME" val="{&quot;height&quot;:246.85000610351562,&quot;left&quot;:32.741943359375,&quot;top&quot;:205.2249969482422,&quot;width&quot;:894.5161132812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0924_5*l_h_x*1_4_1"/>
  <p:tag name="KSO_WM_TEMPLATE_CATEGORY" val="diagram"/>
  <p:tag name="KSO_WM_TEMPLATE_INDEX" val="20230924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UNIT_VALUE" val="83*87"/>
  <p:tag name="KSO_WM_UNIT_TYPE" val="l_h_x"/>
  <p:tag name="KSO_WM_UNIT_INDEX" val="1_4_1"/>
  <p:tag name="KSO_WM_DIAGRAM_MAX_ITEMCNT" val="6"/>
  <p:tag name="KSO_WM_DIAGRAM_MIN_ITEMCNT" val="2"/>
  <p:tag name="KSO_WM_DIAGRAM_VIRTUALLY_FRAME" val="{&quot;height&quot;:246.85000610351562,&quot;left&quot;:32.741943359375,&quot;top&quot;:205.2249969482422,&quot;width&quot;:894.5161132812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8,&quot;left&quot;:46.8,&quot;top&quot;:183.3,&quot;width&quot;:469.2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8,&quot;left&quot;:46.8,&quot;top&quot;:183.3,&quot;width&quot;:469.2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8,&quot;left&quot;:46.8,&quot;top&quot;:183.3,&quot;width&quot;:469.2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8,&quot;left&quot;:46.8,&quot;top&quot;:183.3,&quot;width&quot;:469.2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8,&quot;left&quot;:46.8,&quot;top&quot;:183.3,&quot;width&quot;:469.2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8,&quot;left&quot;:46.8,&quot;top&quot;:183.3,&quot;width&quot;:469.2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8,&quot;left&quot;:46.8,&quot;top&quot;:183.3,&quot;width&quot;:469.2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8,&quot;left&quot;:46.8,&quot;top&quot;:183.3,&quot;width&quot;:469.2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8,&quot;left&quot;:46.8,&quot;top&quot;:183.3,&quot;width&quot;:469.2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8,&quot;left&quot;:46.8,&quot;top&quot;:183.3,&quot;width&quot;:469.2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8,&quot;left&quot;:46.8,&quot;top&quot;:183.3,&quot;width&quot;:469.2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8,&quot;left&quot;:46.8,&quot;top&quot;:183.3,&quot;width&quot;:469.2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8,&quot;left&quot;:46.8,&quot;top&quot;:183.3,&quot;width&quot;:469.2}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8,&quot;left&quot;:46.8,&quot;top&quot;:183.3,&quot;width&quot;:469.2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8,&quot;left&quot;:46.8,&quot;top&quot;:183.3,&quot;width&quot;:469.2}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8,&quot;left&quot;:46.8,&quot;top&quot;:183.3,&quot;width&quot;:469.2}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8,&quot;left&quot;:46.8,&quot;top&quot;:183.3,&quot;width&quot;:469.2}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8,&quot;left&quot;:46.8,&quot;top&quot;:183.3,&quot;width&quot;:469.2}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8,&quot;left&quot;:46.8,&quot;top&quot;:183.3,&quot;width&quot;:469.2}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8,&quot;left&quot;:46.8,&quot;top&quot;:183.3,&quot;width&quot;:469.2}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8,&quot;left&quot;:46.8,&quot;top&quot;:183.3,&quot;width&quot;:469.2}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8,&quot;left&quot;:46.8,&quot;top&quot;:183.3,&quot;width&quot;:469.2}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8,&quot;left&quot;:46.8,&quot;top&quot;:183.3,&quot;width&quot;:469.2}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8,&quot;left&quot;:46.8,&quot;top&quot;:183.3,&quot;width&quot;:469.2}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8,&quot;left&quot;:46.8,&quot;top&quot;:183.3,&quot;width&quot;:469.2}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8,&quot;left&quot;:46.8,&quot;top&quot;:183.3,&quot;width&quot;:469.2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8,&quot;left&quot;:46.8,&quot;top&quot;:183.3,&quot;width&quot;:469.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2077</Words>
  <Application>Microsoft Office PowerPoint</Application>
  <PresentationFormat>宽屏</PresentationFormat>
  <Paragraphs>400</Paragraphs>
  <Slides>9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19" baseType="lpstr">
      <vt:lpstr>Noto Sans CJK SC</vt:lpstr>
      <vt:lpstr>等线</vt:lpstr>
      <vt:lpstr>微软雅黑</vt:lpstr>
      <vt:lpstr>微软雅黑</vt:lpstr>
      <vt:lpstr>Arial</vt:lpstr>
      <vt:lpstr>Calibri</vt:lpstr>
      <vt:lpstr>Times New Roman</vt:lpstr>
      <vt:lpstr>Wingdings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miao</cp:lastModifiedBy>
  <cp:revision>42</cp:revision>
  <dcterms:created xsi:type="dcterms:W3CDTF">2026-08-02T12:28:00Z</dcterms:created>
  <dcterms:modified xsi:type="dcterms:W3CDTF">2026-08-14T06:20:56Z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90CDDC5B4630479FAB7E1D17A23217AB_13</vt:lpwstr>
  </property>
</Properties>
</file>